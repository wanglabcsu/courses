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handoutMasterIdLst>
    <p:handoutMasterId r:id="rId33"/>
  </p:handoutMasterIdLst>
  <p:sldIdLst>
    <p:sldId id="4875" r:id="rId2"/>
    <p:sldId id="4889" r:id="rId3"/>
    <p:sldId id="4912" r:id="rId4"/>
    <p:sldId id="4914" r:id="rId5"/>
    <p:sldId id="4915" r:id="rId6"/>
    <p:sldId id="4916" r:id="rId7"/>
    <p:sldId id="4913" r:id="rId8"/>
    <p:sldId id="4917" r:id="rId9"/>
    <p:sldId id="4973" r:id="rId10"/>
    <p:sldId id="4974" r:id="rId11"/>
    <p:sldId id="4977" r:id="rId12"/>
    <p:sldId id="4976" r:id="rId13"/>
    <p:sldId id="4918" r:id="rId14"/>
    <p:sldId id="4919" r:id="rId15"/>
    <p:sldId id="4921" r:id="rId16"/>
    <p:sldId id="4933" r:id="rId17"/>
    <p:sldId id="4920" r:id="rId18"/>
    <p:sldId id="4922" r:id="rId19"/>
    <p:sldId id="4971" r:id="rId20"/>
    <p:sldId id="4972" r:id="rId21"/>
    <p:sldId id="4924" r:id="rId22"/>
    <p:sldId id="4934" r:id="rId23"/>
    <p:sldId id="4926" r:id="rId24"/>
    <p:sldId id="4927" r:id="rId25"/>
    <p:sldId id="4928" r:id="rId26"/>
    <p:sldId id="4929" r:id="rId27"/>
    <p:sldId id="4932" r:id="rId28"/>
    <p:sldId id="4930" r:id="rId29"/>
    <p:sldId id="4931" r:id="rId30"/>
    <p:sldId id="4911" r:id="rId31"/>
  </p:sldIdLst>
  <p:sldSz cx="9144000" cy="5143500" type="screen16x9"/>
  <p:notesSz cx="9144000" cy="6858000"/>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C3300"/>
    <a:srgbClr val="FF3300"/>
    <a:srgbClr val="FF7C80"/>
    <a:srgbClr val="FFFFFF"/>
    <a:srgbClr val="EADF36"/>
    <a:srgbClr val="FF9966"/>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0" autoAdjust="0"/>
    <p:restoredTop sz="77960" autoAdjust="0"/>
  </p:normalViewPr>
  <p:slideViewPr>
    <p:cSldViewPr showGuides="1">
      <p:cViewPr>
        <p:scale>
          <a:sx n="66" d="100"/>
          <a:sy n="66" d="100"/>
        </p:scale>
        <p:origin x="720" y="264"/>
      </p:cViewPr>
      <p:guideLst>
        <p:guide orient="horz" pos="2160"/>
        <p:guide pos="2880"/>
        <p:guide orient="horz" pos="1620"/>
      </p:guideLst>
    </p:cSldViewPr>
  </p:slideViewPr>
  <p:outlineViewPr>
    <p:cViewPr>
      <p:scale>
        <a:sx n="33" d="100"/>
        <a:sy n="33" d="100"/>
      </p:scale>
      <p:origin x="0" y="156"/>
    </p:cViewPr>
  </p:outlineViewPr>
  <p:notesTextViewPr>
    <p:cViewPr>
      <p:scale>
        <a:sx n="100" d="100"/>
        <a:sy n="100" d="100"/>
      </p:scale>
      <p:origin x="0" y="0"/>
    </p:cViewPr>
  </p:notesTextViewPr>
  <p:sorterViewPr showFormatting="0">
    <p:cViewPr>
      <p:scale>
        <a:sx n="66" d="100"/>
        <a:sy n="66" d="100"/>
      </p:scale>
      <p:origin x="0" y="4680"/>
    </p:cViewPr>
  </p:sorterViewPr>
  <p:notesViewPr>
    <p:cSldViewPr>
      <p:cViewPr varScale="1">
        <p:scale>
          <a:sx n="68" d="100"/>
          <a:sy n="68" d="100"/>
        </p:scale>
        <p:origin x="-1880" y="-76"/>
      </p:cViewPr>
      <p:guideLst>
        <p:guide orient="horz" pos="2160"/>
        <p:guide pos="2880"/>
      </p:guideLst>
    </p:cSldViewPr>
  </p:notesViewPr>
  <p:gridSpacing cx="72005" cy="72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GB"/>
          </a:p>
        </p:txBody>
      </p:sp>
      <p:sp>
        <p:nvSpPr>
          <p:cNvPr id="3" name="日期占位符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fld id="{F02E1F2B-2569-4FE2-A50D-BB468A19F1DD}" type="datetimeFigureOut">
              <a:rPr lang="en-GB" smtClean="0"/>
              <a:t>05/05/2025</a:t>
            </a:fld>
            <a:endParaRPr lang="en-GB"/>
          </a:p>
        </p:txBody>
      </p:sp>
      <p:sp>
        <p:nvSpPr>
          <p:cNvPr id="4" name="页脚占位符 3"/>
          <p:cNvSpPr>
            <a:spLocks noGrp="1"/>
          </p:cNvSpPr>
          <p:nvPr>
            <p:ph type="ftr" sz="quarter" idx="2"/>
          </p:nvPr>
        </p:nvSpPr>
        <p:spPr>
          <a:xfrm>
            <a:off x="0" y="6513513"/>
            <a:ext cx="3962400" cy="342900"/>
          </a:xfrm>
          <a:prstGeom prst="rect">
            <a:avLst/>
          </a:prstGeom>
        </p:spPr>
        <p:txBody>
          <a:bodyPr vert="horz" lIns="91440" tIns="45720" rIns="91440" bIns="45720" rtlCol="0" anchor="b"/>
          <a:lstStyle>
            <a:lvl1pPr algn="l">
              <a:defRPr sz="1200"/>
            </a:lvl1pPr>
          </a:lstStyle>
          <a:p>
            <a:endParaRPr lang="en-GB"/>
          </a:p>
        </p:txBody>
      </p:sp>
      <p:sp>
        <p:nvSpPr>
          <p:cNvPr id="5" name="灯片编号占位符 4"/>
          <p:cNvSpPr>
            <a:spLocks noGrp="1"/>
          </p:cNvSpPr>
          <p:nvPr>
            <p:ph type="sldNum" sz="quarter" idx="3"/>
          </p:nvPr>
        </p:nvSpPr>
        <p:spPr>
          <a:xfrm>
            <a:off x="5180013" y="6513513"/>
            <a:ext cx="3962400" cy="342900"/>
          </a:xfrm>
          <a:prstGeom prst="rect">
            <a:avLst/>
          </a:prstGeom>
        </p:spPr>
        <p:txBody>
          <a:bodyPr vert="horz" lIns="91440" tIns="45720" rIns="91440" bIns="45720" rtlCol="0" anchor="b"/>
          <a:lstStyle>
            <a:lvl1pPr algn="r">
              <a:defRPr sz="1200"/>
            </a:lvl1pPr>
          </a:lstStyle>
          <a:p>
            <a:fld id="{7ECA56CF-A436-41B8-9131-DE10AEAC91D4}" type="slidenum">
              <a:rPr lang="en-GB" smtClean="0"/>
              <a:t>‹#›</a:t>
            </a:fld>
            <a:endParaRPr lang="en-GB"/>
          </a:p>
        </p:txBody>
      </p:sp>
    </p:spTree>
    <p:extLst>
      <p:ext uri="{BB962C8B-B14F-4D97-AF65-F5344CB8AC3E}">
        <p14:creationId xmlns:p14="http://schemas.microsoft.com/office/powerpoint/2010/main" val="31814853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页眉占位符 1"/>
          <p:cNvSpPr>
            <a:spLocks noGrp="1"/>
          </p:cNvSpPr>
          <p:nvPr>
            <p:ph type="hdr" sz="quarter"/>
          </p:nvPr>
        </p:nvSpPr>
        <p:spPr>
          <a:xfrm>
            <a:off x="0" y="0"/>
            <a:ext cx="3959225" cy="339725"/>
          </a:xfrm>
          <a:prstGeom prst="rect">
            <a:avLst/>
          </a:prstGeom>
          <a:noFill/>
          <a:ln w="9525">
            <a:noFill/>
          </a:ln>
        </p:spPr>
        <p:txBody>
          <a:bodyPr/>
          <a:lstStyle>
            <a:lvl1pPr>
              <a:defRPr sz="1200" noProof="1"/>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en-US" sz="1200" b="0"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6147" name="日期占位符 2"/>
          <p:cNvSpPr>
            <a:spLocks noGrp="1"/>
          </p:cNvSpPr>
          <p:nvPr>
            <p:ph type="dt" idx="1"/>
          </p:nvPr>
        </p:nvSpPr>
        <p:spPr>
          <a:xfrm>
            <a:off x="5176838" y="0"/>
            <a:ext cx="3962400" cy="339725"/>
          </a:xfrm>
          <a:prstGeom prst="rect">
            <a:avLst/>
          </a:prstGeom>
          <a:noFill/>
          <a:ln w="9525">
            <a:noFill/>
          </a:ln>
        </p:spPr>
        <p:txBody>
          <a:bodyPr/>
          <a:lstStyle>
            <a:lvl1pPr algn="r">
              <a:defRPr sz="1200" noProof="1"/>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13316" name="幻灯片图像占位符 3"/>
          <p:cNvSpPr>
            <a:spLocks noGrp="1" noRot="1" noChangeAspect="1"/>
          </p:cNvSpPr>
          <p:nvPr>
            <p:ph type="sldImg"/>
          </p:nvPr>
        </p:nvSpPr>
        <p:spPr>
          <a:xfrm>
            <a:off x="2278063" y="511175"/>
            <a:ext cx="4578350" cy="2574925"/>
          </a:xfrm>
          <a:prstGeom prst="rect">
            <a:avLst/>
          </a:prstGeom>
          <a:noFill/>
          <a:ln w="9525">
            <a:noFill/>
          </a:ln>
        </p:spPr>
      </p:sp>
      <p:sp>
        <p:nvSpPr>
          <p:cNvPr id="2053" name="备注占位符 4"/>
          <p:cNvSpPr>
            <a:spLocks noGrp="1" noChangeArrowheads="1"/>
          </p:cNvSpPr>
          <p:nvPr>
            <p:ph type="body" sz="quarter" idx="4294967295"/>
          </p:nvPr>
        </p:nvSpPr>
        <p:spPr bwMode="auto">
          <a:xfrm>
            <a:off x="914400" y="3254375"/>
            <a:ext cx="7315200" cy="3089275"/>
          </a:xfrm>
          <a:prstGeom prst="rect">
            <a:avLst/>
          </a:prstGeom>
          <a:noFill/>
          <a:ln w="9525">
            <a:noFill/>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 typeface="Arial" panose="020B0604020202020204" pitchFamily="34" charset="0"/>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rPr>
              <a:t>第二级</a:t>
            </a:r>
          </a:p>
          <a:p>
            <a:pPr marL="914400" marR="0" lvl="2" indent="0" algn="l" defTabSz="914400" rtl="0" eaLnBrk="0" fontAlgn="base" latinLnBrk="0" hangingPunct="0">
              <a:lnSpc>
                <a:spcPct val="100000"/>
              </a:lnSpc>
              <a:spcBef>
                <a:spcPct val="30000"/>
              </a:spcBef>
              <a:spcAft>
                <a:spcPct val="0"/>
              </a:spcAft>
              <a:buClrTx/>
              <a:buSzTx/>
              <a:buFont typeface="Arial" panose="020B0604020202020204" pitchFamily="34" charset="0"/>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rPr>
              <a:t>第三级</a:t>
            </a:r>
          </a:p>
          <a:p>
            <a:pPr marL="1371600" marR="0" lvl="3" indent="0" algn="l" defTabSz="914400" rtl="0" eaLnBrk="0" fontAlgn="base" latinLnBrk="0" hangingPunct="0">
              <a:lnSpc>
                <a:spcPct val="100000"/>
              </a:lnSpc>
              <a:spcBef>
                <a:spcPct val="30000"/>
              </a:spcBef>
              <a:spcAft>
                <a:spcPct val="0"/>
              </a:spcAft>
              <a:buClrTx/>
              <a:buSzTx/>
              <a:buFont typeface="Arial" panose="020B0604020202020204" pitchFamily="34" charset="0"/>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rPr>
              <a:t>第四级</a:t>
            </a:r>
          </a:p>
          <a:p>
            <a:pPr marL="1828800" marR="0" lvl="4" indent="0" algn="l" defTabSz="914400" rtl="0" eaLnBrk="0" fontAlgn="base" latinLnBrk="0" hangingPunct="0">
              <a:lnSpc>
                <a:spcPct val="100000"/>
              </a:lnSpc>
              <a:spcBef>
                <a:spcPct val="30000"/>
              </a:spcBef>
              <a:spcAft>
                <a:spcPct val="0"/>
              </a:spcAft>
              <a:buClrTx/>
              <a:buSzTx/>
              <a:buFont typeface="Arial" panose="020B0604020202020204" pitchFamily="34" charset="0"/>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rPr>
              <a:t>第五级</a:t>
            </a:r>
          </a:p>
        </p:txBody>
      </p:sp>
      <p:sp>
        <p:nvSpPr>
          <p:cNvPr id="6150" name="页脚占位符 5"/>
          <p:cNvSpPr>
            <a:spLocks noGrp="1"/>
          </p:cNvSpPr>
          <p:nvPr>
            <p:ph type="ftr" sz="quarter" idx="4"/>
          </p:nvPr>
        </p:nvSpPr>
        <p:spPr>
          <a:xfrm>
            <a:off x="0" y="6511925"/>
            <a:ext cx="3959225" cy="342900"/>
          </a:xfrm>
          <a:prstGeom prst="rect">
            <a:avLst/>
          </a:prstGeom>
          <a:noFill/>
          <a:ln w="9525">
            <a:noFill/>
          </a:ln>
        </p:spPr>
        <p:txBody>
          <a:bodyPr anchor="b"/>
          <a:lstStyle>
            <a:lvl1pPr>
              <a:defRPr sz="1200" noProof="1"/>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en-US" sz="1200" b="0"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6151" name="灯片编号占位符 6"/>
          <p:cNvSpPr>
            <a:spLocks noGrp="1"/>
          </p:cNvSpPr>
          <p:nvPr>
            <p:ph type="sldNum" sz="quarter" idx="5"/>
          </p:nvPr>
        </p:nvSpPr>
        <p:spPr>
          <a:xfrm>
            <a:off x="5176838" y="6511925"/>
            <a:ext cx="3962400" cy="342900"/>
          </a:xfrm>
          <a:prstGeom prst="rect">
            <a:avLst/>
          </a:prstGeom>
          <a:noFill/>
          <a:ln w="9525">
            <a:noFill/>
          </a:ln>
        </p:spPr>
        <p:txBody>
          <a:bodyPr vert="horz" wrap="square" lIns="91440" tIns="45720" rIns="91440" bIns="45720" numCol="1" anchor="b" anchorCtr="0" compatLnSpc="1"/>
          <a:lstStyle/>
          <a:p>
            <a:pPr lvl="0" algn="r" eaLnBrk="1" fontAlgn="base" hangingPunct="1">
              <a:buNone/>
            </a:pPr>
            <a:fld id="{9A0DB2DC-4C9A-4742-B13C-FB6460FD3503}" type="slidenum">
              <a:rPr lang="zh-CN" altLang="en-US" sz="1200" strike="noStrike" noProof="1" dirty="0">
                <a:latin typeface="Calibri" panose="020F0502020204030204" pitchFamily="34" charset="0"/>
                <a:ea typeface="宋体" panose="02010600030101010101" pitchFamily="2" charset="-122"/>
                <a:cs typeface="+mn-cs"/>
              </a:rPr>
              <a:t>‹#›</a:t>
            </a:fld>
            <a:endParaRPr lang="zh-CN" altLang="en-US" sz="1200" strike="noStrike" noProof="1"/>
          </a:p>
        </p:txBody>
      </p:sp>
    </p:spTree>
    <p:extLst>
      <p:ext uri="{BB962C8B-B14F-4D97-AF65-F5344CB8AC3E}">
        <p14:creationId xmlns:p14="http://schemas.microsoft.com/office/powerpoint/2010/main" val="4045638902"/>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buFont typeface="Arial" panose="020B0604020202020204" pitchFamily="34" charset="0"/>
      <a:defRPr sz="1200" kern="1200">
        <a:solidFill>
          <a:schemeClr val="tx1"/>
        </a:solidFill>
        <a:latin typeface="Arial" panose="020B0604020202020204" pitchFamily="34" charset="0"/>
        <a:ea typeface="宋体" panose="02010600030101010101" pitchFamily="2" charset="-122"/>
      </a:defRPr>
    </a:lvl1pPr>
    <a:lvl2pPr marL="457200" lvl="1" algn="l" rtl="0" eaLnBrk="0" fontAlgn="base" hangingPunct="0">
      <a:spcBef>
        <a:spcPct val="30000"/>
      </a:spcBef>
      <a:spcAft>
        <a:spcPct val="0"/>
      </a:spcAft>
      <a:buFont typeface="Arial" panose="020B0604020202020204" pitchFamily="34" charset="0"/>
      <a:defRPr sz="1200" kern="1200">
        <a:solidFill>
          <a:schemeClr val="tx1"/>
        </a:solidFill>
        <a:latin typeface="Arial" panose="020B0604020202020204" pitchFamily="34" charset="0"/>
        <a:ea typeface="宋体" panose="02010600030101010101" pitchFamily="2" charset="-122"/>
      </a:defRPr>
    </a:lvl2pPr>
    <a:lvl3pPr marL="914400" lvl="2" algn="l" rtl="0" eaLnBrk="0" fontAlgn="base" hangingPunct="0">
      <a:spcBef>
        <a:spcPct val="30000"/>
      </a:spcBef>
      <a:spcAft>
        <a:spcPct val="0"/>
      </a:spcAft>
      <a:buFont typeface="Arial" panose="020B0604020202020204" pitchFamily="34" charset="0"/>
      <a:defRPr sz="1200" kern="1200">
        <a:solidFill>
          <a:schemeClr val="tx1"/>
        </a:solidFill>
        <a:latin typeface="Arial" panose="020B0604020202020204" pitchFamily="34" charset="0"/>
        <a:ea typeface="宋体" panose="02010600030101010101" pitchFamily="2" charset="-122"/>
      </a:defRPr>
    </a:lvl3pPr>
    <a:lvl4pPr marL="1371600" lvl="3" algn="l" rtl="0" eaLnBrk="0" fontAlgn="base" hangingPunct="0">
      <a:spcBef>
        <a:spcPct val="30000"/>
      </a:spcBef>
      <a:spcAft>
        <a:spcPct val="0"/>
      </a:spcAft>
      <a:buFont typeface="Arial" panose="020B0604020202020204" pitchFamily="34" charset="0"/>
      <a:defRPr sz="1200" kern="1200">
        <a:solidFill>
          <a:schemeClr val="tx1"/>
        </a:solidFill>
        <a:latin typeface="Arial" panose="020B0604020202020204" pitchFamily="34" charset="0"/>
        <a:ea typeface="宋体" panose="02010600030101010101" pitchFamily="2" charset="-122"/>
      </a:defRPr>
    </a:lvl4pPr>
    <a:lvl5pPr marL="1828800" lvl="4" algn="l" rtl="0" eaLnBrk="0" fontAlgn="base" hangingPunct="0">
      <a:spcBef>
        <a:spcPct val="30000"/>
      </a:spcBef>
      <a:spcAft>
        <a:spcPct val="0"/>
      </a:spcAft>
      <a:buFont typeface="Arial" panose="020B0604020202020204" pitchFamily="34" charset="0"/>
      <a:defRPr sz="1200" kern="1200">
        <a:solidFill>
          <a:schemeClr val="tx1"/>
        </a:solidFill>
        <a:latin typeface="Arial" panose="020B0604020202020204" pitchFamily="34" charset="0"/>
        <a:ea typeface="宋体" panose="02010600030101010101" pitchFamily="2" charset="-122"/>
      </a:defRPr>
    </a:lvl5pPr>
    <a:lvl6pPr marL="2286000" lvl="5" indent="0" algn="l" defTabSz="914400" eaLnBrk="0" fontAlgn="base" latinLnBrk="0" hangingPunct="0">
      <a:lnSpc>
        <a:spcPct val="100000"/>
      </a:lnSpc>
      <a:spcBef>
        <a:spcPct val="30000"/>
      </a:spcBef>
      <a:spcAft>
        <a:spcPct val="0"/>
      </a:spcAft>
      <a:buFont typeface="Arial" panose="020B0604020202020204" pitchFamily="34" charset="0"/>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0" fontAlgn="base" latinLnBrk="0" hangingPunct="0">
      <a:lnSpc>
        <a:spcPct val="100000"/>
      </a:lnSpc>
      <a:spcBef>
        <a:spcPct val="30000"/>
      </a:spcBef>
      <a:spcAft>
        <a:spcPct val="0"/>
      </a:spcAft>
      <a:buFont typeface="Arial" panose="020B0604020202020204" pitchFamily="34" charset="0"/>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0" fontAlgn="base" latinLnBrk="0" hangingPunct="0">
      <a:lnSpc>
        <a:spcPct val="100000"/>
      </a:lnSpc>
      <a:spcBef>
        <a:spcPct val="30000"/>
      </a:spcBef>
      <a:spcAft>
        <a:spcPct val="0"/>
      </a:spcAft>
      <a:buFont typeface="Arial" panose="020B0604020202020204" pitchFamily="34" charset="0"/>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0" fontAlgn="base" latinLnBrk="0" hangingPunct="0">
      <a:lnSpc>
        <a:spcPct val="100000"/>
      </a:lnSpc>
      <a:spcBef>
        <a:spcPct val="30000"/>
      </a:spcBef>
      <a:spcAft>
        <a:spcPct val="0"/>
      </a:spcAft>
      <a:buFont typeface="Arial" panose="020B0604020202020204" pitchFamily="34" charset="0"/>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3</a:t>
            </a:r>
            <a:r>
              <a:rPr lang="zh-CN" altLang="en-US" dirty="0"/>
              <a:t>‘端测序</a:t>
            </a:r>
          </a:p>
        </p:txBody>
      </p:sp>
    </p:spTree>
    <p:extLst>
      <p:ext uri="{BB962C8B-B14F-4D97-AF65-F5344CB8AC3E}">
        <p14:creationId xmlns:p14="http://schemas.microsoft.com/office/powerpoint/2010/main" val="3884134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dirty="0"/>
              <a:t>https://zhuanlan.zhihu.com/p/46017763</a:t>
            </a:r>
          </a:p>
        </p:txBody>
      </p:sp>
    </p:spTree>
    <p:extLst>
      <p:ext uri="{BB962C8B-B14F-4D97-AF65-F5344CB8AC3E}">
        <p14:creationId xmlns:p14="http://schemas.microsoft.com/office/powerpoint/2010/main" val="3457136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dirty="0"/>
              <a:t>https://zhuanlan.zhihu.com/p/46017763</a:t>
            </a:r>
          </a:p>
        </p:txBody>
      </p:sp>
    </p:spTree>
    <p:extLst>
      <p:ext uri="{BB962C8B-B14F-4D97-AF65-F5344CB8AC3E}">
        <p14:creationId xmlns:p14="http://schemas.microsoft.com/office/powerpoint/2010/main" val="3457136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a:t>
            </a:r>
            <a:r>
              <a:rPr lang="zh-CN" altLang="en-US" dirty="0"/>
              <a:t>足够大  二项分布近似正态分布</a:t>
            </a:r>
            <a:endParaRPr lang="en-US" altLang="zh-CN" dirty="0"/>
          </a:p>
          <a:p>
            <a:r>
              <a:rPr lang="en-US" altLang="zh-CN" dirty="0"/>
              <a:t>N</a:t>
            </a:r>
            <a:r>
              <a:rPr lang="zh-CN" altLang="en-US" dirty="0"/>
              <a:t>足够大，</a:t>
            </a:r>
            <a:r>
              <a:rPr lang="en-US" altLang="zh-CN" dirty="0"/>
              <a:t>p</a:t>
            </a:r>
            <a:r>
              <a:rPr lang="zh-CN" altLang="en-US" dirty="0"/>
              <a:t>足够小，二项分布近似泊松分布</a:t>
            </a:r>
          </a:p>
        </p:txBody>
      </p:sp>
    </p:spTree>
    <p:extLst>
      <p:ext uri="{BB962C8B-B14F-4D97-AF65-F5344CB8AC3E}">
        <p14:creationId xmlns:p14="http://schemas.microsoft.com/office/powerpoint/2010/main" val="2004704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https://zhuanlan.zhihu.com/p/709837962</a:t>
            </a:r>
          </a:p>
          <a:p>
            <a:r>
              <a:rPr lang="en-US" altLang="zh-CN" dirty="0"/>
              <a:t>1-p</a:t>
            </a:r>
            <a:r>
              <a:rPr lang="zh-CN" altLang="en-US" dirty="0"/>
              <a:t>近似为</a:t>
            </a:r>
            <a:r>
              <a:rPr lang="en-US" altLang="zh-CN" dirty="0"/>
              <a:t>1</a:t>
            </a:r>
            <a:endParaRPr lang="zh-CN" altLang="en-US" dirty="0"/>
          </a:p>
        </p:txBody>
      </p:sp>
    </p:spTree>
    <p:extLst>
      <p:ext uri="{BB962C8B-B14F-4D97-AF65-F5344CB8AC3E}">
        <p14:creationId xmlns:p14="http://schemas.microsoft.com/office/powerpoint/2010/main" val="1977279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6700F-3BEF-4226-EEA2-831D476002C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E8CE92B-5927-3020-9E74-354A871EA68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B4B6C4F-C2D7-9012-1BA4-B1A4A0B4B5E5}"/>
              </a:ext>
            </a:extLst>
          </p:cNvPr>
          <p:cNvSpPr>
            <a:spLocks noGrp="1"/>
          </p:cNvSpPr>
          <p:nvPr>
            <p:ph type="body" idx="1"/>
          </p:nvPr>
        </p:nvSpPr>
        <p:spPr/>
        <p:txBody>
          <a:bodyPr/>
          <a:lstStyle/>
          <a:p>
            <a:r>
              <a:rPr lang="zh-CN" altLang="en-US" dirty="0"/>
              <a:t>实验</a:t>
            </a:r>
            <a:r>
              <a:rPr lang="en-US" altLang="zh-CN" dirty="0"/>
              <a:t>n</a:t>
            </a:r>
            <a:r>
              <a:rPr lang="zh-CN" altLang="en-US" dirty="0"/>
              <a:t>次，成功</a:t>
            </a:r>
            <a:r>
              <a:rPr lang="en-US" altLang="zh-CN" dirty="0"/>
              <a:t>1</a:t>
            </a:r>
            <a:r>
              <a:rPr lang="zh-CN" altLang="en-US" dirty="0"/>
              <a:t>次是几何分布</a:t>
            </a:r>
            <a:endParaRPr lang="en-US" altLang="zh-CN" dirty="0"/>
          </a:p>
          <a:p>
            <a:r>
              <a:rPr lang="zh-CN" altLang="en-US" dirty="0"/>
              <a:t>成功</a:t>
            </a:r>
            <a:r>
              <a:rPr lang="en-US" altLang="zh-CN" dirty="0"/>
              <a:t>n</a:t>
            </a:r>
            <a:r>
              <a:rPr lang="zh-CN" altLang="en-US" dirty="0"/>
              <a:t>次，失败</a:t>
            </a:r>
            <a:r>
              <a:rPr lang="en-US" altLang="zh-CN" dirty="0"/>
              <a:t>x</a:t>
            </a:r>
            <a:r>
              <a:rPr lang="zh-CN" altLang="en-US" dirty="0"/>
              <a:t>次，负二项分布</a:t>
            </a:r>
            <a:endParaRPr lang="en-US" altLang="zh-CN" dirty="0"/>
          </a:p>
          <a:p>
            <a:r>
              <a:rPr lang="zh-CN" altLang="en-US" dirty="0"/>
              <a:t>实验</a:t>
            </a:r>
            <a:r>
              <a:rPr lang="en-US" altLang="zh-CN" dirty="0"/>
              <a:t>n</a:t>
            </a:r>
            <a:r>
              <a:rPr lang="zh-CN" altLang="en-US" dirty="0"/>
              <a:t>次，成功</a:t>
            </a:r>
            <a:r>
              <a:rPr lang="en-US" altLang="zh-CN" dirty="0"/>
              <a:t>x</a:t>
            </a:r>
            <a:r>
              <a:rPr lang="zh-CN" altLang="en-US" dirty="0"/>
              <a:t>次，二项分布</a:t>
            </a:r>
            <a:endParaRPr lang="en-US" altLang="zh-CN" dirty="0"/>
          </a:p>
          <a:p>
            <a:endParaRPr lang="en-US" altLang="zh-CN" dirty="0"/>
          </a:p>
          <a:p>
            <a:r>
              <a:rPr lang="en-US" altLang="zh-CN" dirty="0"/>
              <a:t>https://zhuanlan.zhihu.com/p/111632687</a:t>
            </a:r>
          </a:p>
          <a:p>
            <a:r>
              <a:rPr lang="en-US" altLang="zh-CN" dirty="0"/>
              <a:t>https://zhuanlan.zhihu.com/p/536916347</a:t>
            </a:r>
            <a:endParaRPr lang="zh-CN" altLang="en-US" dirty="0"/>
          </a:p>
        </p:txBody>
      </p:sp>
    </p:spTree>
    <p:extLst>
      <p:ext uri="{BB962C8B-B14F-4D97-AF65-F5344CB8AC3E}">
        <p14:creationId xmlns:p14="http://schemas.microsoft.com/office/powerpoint/2010/main" val="2123130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https://www.zhihu.com/question/26441147/answer/3516101700</a:t>
            </a:r>
            <a:endParaRPr lang="zh-CN" altLang="en-US" dirty="0"/>
          </a:p>
        </p:txBody>
      </p:sp>
    </p:spTree>
    <p:extLst>
      <p:ext uri="{BB962C8B-B14F-4D97-AF65-F5344CB8AC3E}">
        <p14:creationId xmlns:p14="http://schemas.microsoft.com/office/powerpoint/2010/main" val="10743052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pic>
        <p:nvPicPr>
          <p:cNvPr id="5" name="Picture 4" descr="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802" y="4638447"/>
            <a:ext cx="605817" cy="4695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pic>
        <p:nvPicPr>
          <p:cNvPr id="5" name="Picture 4" descr="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802" y="4659895"/>
            <a:ext cx="605817" cy="4695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4"/>
            <a:ext cx="7886700" cy="2139553"/>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pic>
        <p:nvPicPr>
          <p:cNvPr id="5" name="Picture 4" descr="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802" y="4638447"/>
            <a:ext cx="605817" cy="4695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250825" y="844154"/>
            <a:ext cx="4234752" cy="3942159"/>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8424" y="844154"/>
            <a:ext cx="4234752" cy="3942159"/>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pic>
        <p:nvPicPr>
          <p:cNvPr id="6" name="Picture 4" descr="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802" y="4638447"/>
            <a:ext cx="605817" cy="4695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2" y="1333829"/>
            <a:ext cx="3655181" cy="617934"/>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2" y="1999034"/>
            <a:ext cx="3655181" cy="264321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333829"/>
            <a:ext cx="3673182" cy="617934"/>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1999034"/>
            <a:ext cx="3673182" cy="264321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pic>
        <p:nvPicPr>
          <p:cNvPr id="8" name="Picture 4" descr="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802" y="4638447"/>
            <a:ext cx="605817" cy="4695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pic>
        <p:nvPicPr>
          <p:cNvPr id="4" name="Picture 4" descr="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802" y="4638447"/>
            <a:ext cx="605817" cy="4695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3" name="Picture 4" descr="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802" y="4638447"/>
            <a:ext cx="605817" cy="4695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body"/>
          </p:nvPr>
        </p:nvSpPr>
        <p:spPr>
          <a:xfrm>
            <a:off x="250825" y="844154"/>
            <a:ext cx="8642350" cy="3942159"/>
          </a:xfrm>
          <a:prstGeom prst="rect">
            <a:avLst/>
          </a:prstGeom>
          <a:noFill/>
          <a:ln w="9525">
            <a:noFill/>
          </a:ln>
        </p:spPr>
        <p:txBody>
          <a:bodyPr lIns="91422" tIns="45711" rIns="91422" bIns="45711" anchor="t"/>
          <a:lstStyle/>
          <a:p>
            <a:pPr lvl="0"/>
            <a:r>
              <a:rPr lang="zh-CN" altLang="en-US" dirty="0"/>
              <a:t>单击此处编辑母版文本样式</a:t>
            </a:r>
          </a:p>
          <a:p>
            <a:pPr lvl="1" indent="-287655"/>
            <a:r>
              <a:rPr lang="zh-CN" altLang="en-US" dirty="0"/>
              <a:t>第二级</a:t>
            </a:r>
          </a:p>
          <a:p>
            <a:pPr lvl="2" indent="-227330"/>
            <a:r>
              <a:rPr lang="zh-CN" altLang="en-US" dirty="0"/>
              <a:t>第三级</a:t>
            </a:r>
          </a:p>
          <a:p>
            <a:pPr lvl="1" indent="-287655"/>
            <a:endParaRPr lang="zh-CN" altLang="en-US" dirty="0"/>
          </a:p>
          <a:p>
            <a:pPr lvl="0"/>
            <a:r>
              <a:rPr lang="zh-CN" altLang="en-US" dirty="0"/>
              <a:t>单击此处编辑母版文本样式</a:t>
            </a:r>
          </a:p>
          <a:p>
            <a:pPr lvl="1" indent="-287655"/>
            <a:r>
              <a:rPr lang="zh-CN" altLang="en-US" dirty="0"/>
              <a:t>第二级</a:t>
            </a:r>
          </a:p>
          <a:p>
            <a:pPr lvl="2" indent="-227330"/>
            <a:r>
              <a:rPr lang="zh-CN" altLang="en-US" dirty="0"/>
              <a:t>第三级</a:t>
            </a:r>
          </a:p>
          <a:p>
            <a:pPr lvl="0"/>
            <a:endParaRPr lang="zh-CN" altLang="en-US" dirty="0"/>
          </a:p>
        </p:txBody>
      </p:sp>
      <p:sp>
        <p:nvSpPr>
          <p:cNvPr id="1027" name="Rectangle 4"/>
          <p:cNvSpPr>
            <a:spLocks noGrp="1"/>
          </p:cNvSpPr>
          <p:nvPr>
            <p:ph type="title"/>
          </p:nvPr>
        </p:nvSpPr>
        <p:spPr>
          <a:xfrm>
            <a:off x="971550" y="144067"/>
            <a:ext cx="7848600" cy="421481"/>
          </a:xfrm>
          <a:prstGeom prst="rect">
            <a:avLst/>
          </a:prstGeom>
          <a:noFill/>
          <a:ln w="9525">
            <a:noFill/>
          </a:ln>
        </p:spPr>
        <p:txBody>
          <a:bodyPr anchor="ctr"/>
          <a:lstStyle/>
          <a:p>
            <a:pPr lvl="0"/>
            <a:r>
              <a:rPr lang="zh-CN" altLang="en-US" dirty="0"/>
              <a:t>单击此处编辑母版标题样式</a:t>
            </a:r>
          </a:p>
        </p:txBody>
      </p:sp>
      <p:pic>
        <p:nvPicPr>
          <p:cNvPr id="5" name="Picture 5" descr="01300000321748122881173749802"/>
          <p:cNvPicPr>
            <a:picLocks noChangeAspect="1"/>
          </p:cNvPicPr>
          <p:nvPr userDrawn="1"/>
        </p:nvPicPr>
        <p:blipFill>
          <a:blip r:embed="rId9"/>
          <a:stretch>
            <a:fillRect/>
          </a:stretch>
        </p:blipFill>
        <p:spPr>
          <a:xfrm>
            <a:off x="179695" y="123580"/>
            <a:ext cx="576262" cy="576262"/>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p:wipe/>
  </p:transition>
  <p:hf sldNum="0" hdr="0" ftr="0" dt="0"/>
  <p:txStyles>
    <p:titleStyle>
      <a:lvl1pPr algn="r" rtl="0" eaLnBrk="0" fontAlgn="base" hangingPunct="0">
        <a:spcBef>
          <a:spcPct val="0"/>
        </a:spcBef>
        <a:spcAft>
          <a:spcPct val="0"/>
        </a:spcAft>
        <a:buClr>
          <a:srgbClr val="CC3300"/>
        </a:buClr>
        <a:buSzPct val="100000"/>
        <a:buFont typeface="Wingdings" panose="05000000000000000000" pitchFamily="2" charset="2"/>
        <a:defRPr sz="3200" b="1" kern="1200">
          <a:solidFill>
            <a:srgbClr val="CC0000"/>
          </a:solidFill>
          <a:latin typeface="+mj-lt"/>
          <a:ea typeface="+mj-ea"/>
          <a:cs typeface="+mj-cs"/>
        </a:defRPr>
      </a:lvl1pPr>
      <a:lvl2pPr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2pPr>
      <a:lvl3pPr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3pPr>
      <a:lvl4pPr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4pPr>
      <a:lvl5pPr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5pPr>
      <a:lvl6pPr marL="457200"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6pPr>
      <a:lvl7pPr marL="914400"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7pPr>
      <a:lvl8pPr marL="1371600"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8pPr>
      <a:lvl9pPr marL="1828800"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9pPr>
    </p:titleStyle>
    <p:bodyStyle>
      <a:lvl1pPr marL="342900" indent="-342900" algn="l" rtl="0" eaLnBrk="0" fontAlgn="base" hangingPunct="0">
        <a:lnSpc>
          <a:spcPct val="120000"/>
        </a:lnSpc>
        <a:spcBef>
          <a:spcPct val="50000"/>
        </a:spcBef>
        <a:spcAft>
          <a:spcPct val="0"/>
        </a:spcAft>
        <a:buClr>
          <a:srgbClr val="CC3300"/>
        </a:buClr>
        <a:buSzPct val="100000"/>
        <a:buFont typeface="Wingdings" panose="05000000000000000000" pitchFamily="2" charset="2"/>
        <a:buChar char="n"/>
        <a:defRPr sz="2800" kern="1200">
          <a:solidFill>
            <a:schemeClr val="tx1"/>
          </a:solidFill>
          <a:latin typeface="+mn-lt"/>
          <a:ea typeface="+mn-ea"/>
          <a:cs typeface="+mn-cs"/>
        </a:defRPr>
      </a:lvl1pPr>
      <a:lvl2pPr marL="744855" lvl="1" indent="-287655" algn="l" rtl="0" eaLnBrk="0" fontAlgn="base" hangingPunct="0">
        <a:lnSpc>
          <a:spcPct val="120000"/>
        </a:lnSpc>
        <a:spcBef>
          <a:spcPct val="50000"/>
        </a:spcBef>
        <a:spcAft>
          <a:spcPct val="0"/>
        </a:spcAft>
        <a:buClr>
          <a:srgbClr val="9999FF"/>
        </a:buClr>
        <a:buSzPct val="100000"/>
        <a:buFont typeface="Wingdings" panose="05000000000000000000" pitchFamily="2" charset="2"/>
        <a:buChar char="Ø"/>
        <a:defRPr sz="2400" kern="1200">
          <a:solidFill>
            <a:schemeClr val="tx1"/>
          </a:solidFill>
          <a:latin typeface="+mn-lt"/>
          <a:ea typeface="+mn-ea"/>
          <a:cs typeface="+mn-cs"/>
        </a:defRPr>
      </a:lvl2pPr>
      <a:lvl3pPr marL="1141730" lvl="2" indent="-227330" algn="l" rtl="0" eaLnBrk="0" fontAlgn="base" hangingPunct="0">
        <a:lnSpc>
          <a:spcPct val="120000"/>
        </a:lnSpc>
        <a:spcBef>
          <a:spcPct val="20000"/>
        </a:spcBef>
        <a:spcAft>
          <a:spcPct val="0"/>
        </a:spcAft>
        <a:buClr>
          <a:srgbClr val="FFCC66"/>
        </a:buClr>
        <a:buSzPct val="100000"/>
        <a:buFont typeface="Wingdings" panose="05000000000000000000" pitchFamily="2" charset="2"/>
        <a:buChar char="p"/>
        <a:defRPr sz="2000" kern="1200">
          <a:solidFill>
            <a:schemeClr val="tx1"/>
          </a:solidFill>
          <a:latin typeface="+mn-lt"/>
          <a:ea typeface="+mn-ea"/>
          <a:cs typeface="+mn-cs"/>
        </a:defRPr>
      </a:lvl3pPr>
      <a:lvl4pPr marL="1598930" lvl="3" indent="-228600" algn="l" rtl="0" eaLnBrk="0" fontAlgn="base" hangingPunct="0">
        <a:lnSpc>
          <a:spcPct val="120000"/>
        </a:lnSpc>
        <a:spcBef>
          <a:spcPct val="20000"/>
        </a:spcBef>
        <a:spcAft>
          <a:spcPct val="0"/>
        </a:spcAft>
        <a:buFont typeface="Wingdings" panose="05000000000000000000" pitchFamily="2" charset="2"/>
        <a:buChar char="–"/>
        <a:defRPr sz="1900" kern="1200">
          <a:solidFill>
            <a:schemeClr val="tx1"/>
          </a:solidFill>
          <a:latin typeface="+mn-lt"/>
          <a:ea typeface="+mn-ea"/>
          <a:cs typeface="+mn-cs"/>
        </a:defRPr>
      </a:lvl4pPr>
      <a:lvl5pPr marL="2056130" lvl="4" indent="-228600" algn="l" rtl="0" eaLnBrk="0" fontAlgn="base" hangingPunct="0">
        <a:lnSpc>
          <a:spcPct val="120000"/>
        </a:lnSpc>
        <a:spcBef>
          <a:spcPct val="20000"/>
        </a:spcBef>
        <a:spcAft>
          <a:spcPct val="0"/>
        </a:spcAft>
        <a:buFont typeface="Wingdings" panose="05000000000000000000" pitchFamily="2" charset="2"/>
        <a:buChar char="»"/>
        <a:defRPr sz="1900" kern="120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900" b="0"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900" b="0"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900" b="0"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900" b="0"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29.xml"/><Relationship Id="rId7" Type="http://schemas.openxmlformats.org/officeDocument/2006/relationships/image" Target="../media/image27.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tif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矩形 2"/>
          <p:cNvSpPr/>
          <p:nvPr/>
        </p:nvSpPr>
        <p:spPr>
          <a:xfrm>
            <a:off x="1044576" y="1210866"/>
            <a:ext cx="511175" cy="511969"/>
          </a:xfrm>
          <a:prstGeom prst="rect">
            <a:avLst/>
          </a:prstGeom>
          <a:solidFill>
            <a:srgbClr val="7FBB00"/>
          </a:solidFill>
          <a:ln w="9525">
            <a:noFill/>
          </a:ln>
        </p:spPr>
        <p:txBody>
          <a:bodyPr anchor="ctr"/>
          <a:lstStyle/>
          <a:p>
            <a:pPr algn="ctr"/>
            <a:endParaRPr lang="" altLang="en-US" dirty="0">
              <a:solidFill>
                <a:srgbClr val="FFFFFF"/>
              </a:solidFill>
              <a:latin typeface="Calibri" panose="020F0502020204030204" pitchFamily="34" charset="0"/>
              <a:ea typeface="宋体" panose="02010600030101010101" pitchFamily="2" charset="-122"/>
            </a:endParaRPr>
          </a:p>
        </p:txBody>
      </p:sp>
      <p:sp>
        <p:nvSpPr>
          <p:cNvPr id="14338" name="矩形 3"/>
          <p:cNvSpPr/>
          <p:nvPr/>
        </p:nvSpPr>
        <p:spPr>
          <a:xfrm>
            <a:off x="1555751" y="1210866"/>
            <a:ext cx="511175" cy="511969"/>
          </a:xfrm>
          <a:prstGeom prst="rect">
            <a:avLst/>
          </a:prstGeom>
          <a:solidFill>
            <a:srgbClr val="1783C3"/>
          </a:solidFill>
          <a:ln w="9525">
            <a:noFill/>
          </a:ln>
        </p:spPr>
        <p:txBody>
          <a:bodyPr anchor="ctr"/>
          <a:lstStyle/>
          <a:p>
            <a:pPr algn="ctr"/>
            <a:endParaRPr lang="" altLang="en-US" dirty="0">
              <a:solidFill>
                <a:srgbClr val="FFFFFF"/>
              </a:solidFill>
              <a:latin typeface="Calibri" panose="020F0502020204030204" pitchFamily="34" charset="0"/>
              <a:ea typeface="宋体" panose="02010600030101010101" pitchFamily="2" charset="-122"/>
            </a:endParaRPr>
          </a:p>
        </p:txBody>
      </p:sp>
      <p:sp>
        <p:nvSpPr>
          <p:cNvPr id="14339" name="矩形 4"/>
          <p:cNvSpPr/>
          <p:nvPr/>
        </p:nvSpPr>
        <p:spPr>
          <a:xfrm>
            <a:off x="550864" y="1722835"/>
            <a:ext cx="511175" cy="510778"/>
          </a:xfrm>
          <a:prstGeom prst="rect">
            <a:avLst/>
          </a:prstGeom>
          <a:solidFill>
            <a:srgbClr val="7FBB00"/>
          </a:solidFill>
          <a:ln w="9525">
            <a:noFill/>
          </a:ln>
        </p:spPr>
        <p:txBody>
          <a:bodyPr anchor="ctr"/>
          <a:lstStyle/>
          <a:p>
            <a:pPr algn="ctr"/>
            <a:endParaRPr lang="" altLang="en-US" dirty="0">
              <a:solidFill>
                <a:srgbClr val="FFFFFF"/>
              </a:solidFill>
              <a:latin typeface="Calibri" panose="020F0502020204030204" pitchFamily="34" charset="0"/>
              <a:ea typeface="宋体" panose="02010600030101010101" pitchFamily="2" charset="-122"/>
            </a:endParaRPr>
          </a:p>
        </p:txBody>
      </p:sp>
      <p:sp>
        <p:nvSpPr>
          <p:cNvPr id="14340" name="矩形 5"/>
          <p:cNvSpPr/>
          <p:nvPr/>
        </p:nvSpPr>
        <p:spPr>
          <a:xfrm>
            <a:off x="1062038" y="1722835"/>
            <a:ext cx="512762" cy="510778"/>
          </a:xfrm>
          <a:prstGeom prst="rect">
            <a:avLst/>
          </a:prstGeom>
          <a:solidFill>
            <a:srgbClr val="1783C3"/>
          </a:solidFill>
          <a:ln w="9525">
            <a:noFill/>
          </a:ln>
        </p:spPr>
        <p:txBody>
          <a:bodyPr anchor="ctr"/>
          <a:lstStyle/>
          <a:p>
            <a:pPr algn="ctr"/>
            <a:endParaRPr lang="" altLang="en-US" dirty="0">
              <a:solidFill>
                <a:srgbClr val="FFFFFF"/>
              </a:solidFill>
              <a:latin typeface="Calibri" panose="020F0502020204030204" pitchFamily="34" charset="0"/>
              <a:ea typeface="宋体" panose="02010600030101010101" pitchFamily="2" charset="-122"/>
            </a:endParaRPr>
          </a:p>
        </p:txBody>
      </p:sp>
      <p:cxnSp>
        <p:nvCxnSpPr>
          <p:cNvPr id="14341" name="直接连接符 6"/>
          <p:cNvCxnSpPr/>
          <p:nvPr/>
        </p:nvCxnSpPr>
        <p:spPr>
          <a:xfrm flipH="1">
            <a:off x="2298701" y="1150144"/>
            <a:ext cx="4763" cy="1214438"/>
          </a:xfrm>
          <a:prstGeom prst="line">
            <a:avLst/>
          </a:prstGeom>
          <a:ln w="127000" cap="flat" cmpd="thickThin">
            <a:solidFill>
              <a:srgbClr val="969696"/>
            </a:solidFill>
            <a:prstDash val="solid"/>
            <a:round/>
            <a:headEnd type="none" w="med" len="med"/>
            <a:tailEnd type="none" w="med" len="med"/>
          </a:ln>
        </p:spPr>
      </p:cxnSp>
      <p:pic>
        <p:nvPicPr>
          <p:cNvPr id="14343" name="直接连接符 8"/>
          <p:cNvPicPr/>
          <p:nvPr/>
        </p:nvPicPr>
        <p:blipFill>
          <a:blip r:embed="rId2"/>
          <a:stretch>
            <a:fillRect/>
          </a:stretch>
        </p:blipFill>
        <p:spPr>
          <a:xfrm>
            <a:off x="2395538" y="4659895"/>
            <a:ext cx="4273550" cy="27385"/>
          </a:xfrm>
          <a:prstGeom prst="rect">
            <a:avLst/>
          </a:prstGeom>
          <a:noFill/>
          <a:ln w="9525">
            <a:noFill/>
          </a:ln>
        </p:spPr>
      </p:pic>
      <p:sp>
        <p:nvSpPr>
          <p:cNvPr id="14344" name="矩形 11"/>
          <p:cNvSpPr/>
          <p:nvPr/>
        </p:nvSpPr>
        <p:spPr>
          <a:xfrm>
            <a:off x="2500313" y="1275160"/>
            <a:ext cx="6000750" cy="964406"/>
          </a:xfrm>
          <a:prstGeom prst="rect">
            <a:avLst/>
          </a:prstGeom>
          <a:solidFill>
            <a:srgbClr val="3366CC"/>
          </a:solidFill>
          <a:ln w="25400" cap="flat" cmpd="sng">
            <a:solidFill>
              <a:schemeClr val="bg1"/>
            </a:solidFill>
            <a:prstDash val="solid"/>
            <a:miter/>
            <a:headEnd type="none" w="med" len="med"/>
            <a:tailEnd type="none" w="med" len="med"/>
          </a:ln>
        </p:spPr>
        <p:txBody>
          <a:bodyPr anchor="ctr"/>
          <a:lstStyle/>
          <a:p>
            <a:pPr algn="ctr"/>
            <a:r>
              <a:rPr lang="en-US" altLang="zh-CN" sz="4000" b="1" dirty="0">
                <a:solidFill>
                  <a:srgbClr val="FFFFFF"/>
                </a:solidFill>
                <a:latin typeface="黑体" panose="02010609060101010101" pitchFamily="49" charset="-122"/>
                <a:ea typeface="黑体" panose="02010609060101010101" pitchFamily="49" charset="-122"/>
              </a:rPr>
              <a:t>R</a:t>
            </a:r>
            <a:r>
              <a:rPr lang="zh-CN" altLang="en-US" sz="4000" b="1" dirty="0">
                <a:solidFill>
                  <a:srgbClr val="FFFFFF"/>
                </a:solidFill>
                <a:latin typeface="黑体" panose="02010609060101010101" pitchFamily="49" charset="-122"/>
                <a:ea typeface="黑体" panose="02010609060101010101" pitchFamily="49" charset="-122"/>
              </a:rPr>
              <a:t>的转录组分析</a:t>
            </a:r>
          </a:p>
        </p:txBody>
      </p:sp>
      <p:grpSp>
        <p:nvGrpSpPr>
          <p:cNvPr id="14345" name="组合 7178"/>
          <p:cNvGrpSpPr/>
          <p:nvPr/>
        </p:nvGrpSpPr>
        <p:grpSpPr>
          <a:xfrm>
            <a:off x="755654" y="267590"/>
            <a:ext cx="2874505" cy="344173"/>
            <a:chOff x="503237" y="19828"/>
            <a:chExt cx="2874490" cy="458896"/>
          </a:xfrm>
        </p:grpSpPr>
        <p:sp>
          <p:nvSpPr>
            <p:cNvPr id="14347" name="TextBox 13"/>
            <p:cNvSpPr/>
            <p:nvPr/>
          </p:nvSpPr>
          <p:spPr>
            <a:xfrm>
              <a:off x="503237" y="19828"/>
              <a:ext cx="2874490" cy="451404"/>
            </a:xfrm>
            <a:prstGeom prst="rect">
              <a:avLst/>
            </a:prstGeom>
            <a:noFill/>
            <a:ln w="9525">
              <a:noFill/>
            </a:ln>
          </p:spPr>
          <p:txBody>
            <a:bodyPr wrap="none" anchor="t">
              <a:spAutoFit/>
            </a:bodyPr>
            <a:lstStyle/>
            <a:p>
              <a:pPr eaLnBrk="0" hangingPunct="0"/>
              <a:r>
                <a:rPr lang="en-US" altLang="zh-CN" sz="1600" dirty="0">
                  <a:latin typeface="Arial" panose="020B0604020202020204" pitchFamily="34" charset="0"/>
                  <a:ea typeface="黑体" panose="02010609060101010101" pitchFamily="49" charset="-122"/>
                </a:rPr>
                <a:t>  </a:t>
              </a:r>
              <a:r>
                <a:rPr lang="en-US" altLang="zh-CN" sz="1600" dirty="0">
                  <a:ea typeface="黑体" panose="02010609060101010101" pitchFamily="49" charset="-122"/>
                </a:rPr>
                <a:t>R</a:t>
              </a:r>
              <a:r>
                <a:rPr lang="zh-CN" altLang="en-US" sz="1600" dirty="0">
                  <a:ea typeface="黑体" panose="02010609060101010101" pitchFamily="49" charset="-122"/>
                </a:rPr>
                <a:t>语言在生物信息学中的应用</a:t>
              </a:r>
              <a:endParaRPr lang="zh-CN" altLang="en-US" sz="2000" dirty="0">
                <a:latin typeface="Calibri" panose="020F0502020204030204" pitchFamily="34" charset="0"/>
                <a:ea typeface="宋体" panose="02010600030101010101" pitchFamily="2" charset="-122"/>
              </a:endParaRPr>
            </a:p>
          </p:txBody>
        </p:sp>
        <p:pic>
          <p:nvPicPr>
            <p:cNvPr id="14348" name="直接连接符 13"/>
            <p:cNvPicPr/>
            <p:nvPr/>
          </p:nvPicPr>
          <p:blipFill>
            <a:blip r:embed="rId3"/>
            <a:stretch>
              <a:fillRect/>
            </a:stretch>
          </p:blipFill>
          <p:spPr>
            <a:xfrm>
              <a:off x="668083" y="433005"/>
              <a:ext cx="2571412" cy="45719"/>
            </a:xfrm>
            <a:prstGeom prst="rect">
              <a:avLst/>
            </a:prstGeom>
            <a:noFill/>
            <a:ln w="9525">
              <a:noFill/>
            </a:ln>
          </p:spPr>
        </p:pic>
      </p:grpSp>
      <p:sp>
        <p:nvSpPr>
          <p:cNvPr id="14" name="TextBox 10"/>
          <p:cNvSpPr txBox="1"/>
          <p:nvPr/>
        </p:nvSpPr>
        <p:spPr>
          <a:xfrm>
            <a:off x="2279626" y="3219795"/>
            <a:ext cx="5000625" cy="1308884"/>
          </a:xfrm>
          <a:prstGeom prst="rect">
            <a:avLst/>
          </a:prstGeom>
          <a:noFill/>
          <a:ln w="9525">
            <a:noFill/>
          </a:ln>
        </p:spPr>
        <p:txBody>
          <a:bodyPr anchor="t">
            <a:spAutoFit/>
          </a:bodyPr>
          <a:lstStyle/>
          <a:p>
            <a:pPr algn="ctr">
              <a:lnSpc>
                <a:spcPct val="150000"/>
              </a:lnSpc>
            </a:pPr>
            <a:r>
              <a:rPr lang="zh-CN" altLang="en-US" sz="2800" b="1" dirty="0">
                <a:latin typeface="微软雅黑" panose="020B0503020204020204" pitchFamily="34" charset="-122"/>
                <a:ea typeface="微软雅黑" panose="020B0503020204020204" pitchFamily="34" charset="-122"/>
              </a:rPr>
              <a:t>中南大学     刘可夫</a:t>
            </a:r>
            <a:endParaRPr lang="en-US" altLang="zh-CN" sz="2800" b="1" dirty="0">
              <a:latin typeface="微软雅黑" panose="020B0503020204020204" pitchFamily="34" charset="-122"/>
              <a:ea typeface="宋体" panose="02010600030101010101" pitchFamily="2" charset="-122"/>
            </a:endParaRPr>
          </a:p>
          <a:p>
            <a:pPr algn="ctr">
              <a:lnSpc>
                <a:spcPct val="150000"/>
              </a:lnSpc>
            </a:pPr>
            <a:r>
              <a:rPr lang="en-US" altLang="zh-CN" sz="2800" b="1" dirty="0">
                <a:latin typeface="微软雅黑" panose="020B0503020204020204" pitchFamily="34" charset="-122"/>
                <a:ea typeface="宋体" panose="02010600030101010101" pitchFamily="2" charset="-122"/>
              </a:rPr>
              <a:t>2025</a:t>
            </a:r>
            <a:r>
              <a:rPr lang="zh-CN" altLang="en-US" sz="2800" b="1" dirty="0">
                <a:latin typeface="微软雅黑" panose="020B0503020204020204" pitchFamily="34" charset="-122"/>
                <a:ea typeface="微软雅黑" panose="020B0503020204020204" pitchFamily="34" charset="-122"/>
              </a:rPr>
              <a:t>年</a:t>
            </a:r>
          </a:p>
        </p:txBody>
      </p:sp>
    </p:spTree>
    <p:extLst>
      <p:ext uri="{BB962C8B-B14F-4D97-AF65-F5344CB8AC3E}">
        <p14:creationId xmlns:p14="http://schemas.microsoft.com/office/powerpoint/2010/main" val="39482359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endParaRPr lang="en-GB" dirty="0"/>
          </a:p>
        </p:txBody>
      </p:sp>
      <p:sp>
        <p:nvSpPr>
          <p:cNvPr id="3" name="TextBox 1">
            <a:extLst>
              <a:ext uri="{FF2B5EF4-FFF2-40B4-BE49-F238E27FC236}">
                <a16:creationId xmlns:a16="http://schemas.microsoft.com/office/drawing/2014/main" id="{27C7A6C1-B19E-9320-B5D3-667EC52C864A}"/>
              </a:ext>
            </a:extLst>
          </p:cNvPr>
          <p:cNvSpPr txBox="1"/>
          <p:nvPr/>
        </p:nvSpPr>
        <p:spPr>
          <a:xfrm>
            <a:off x="2771875" y="1232922"/>
            <a:ext cx="3857778" cy="2308324"/>
          </a:xfrm>
          <a:prstGeom prst="rect">
            <a:avLst/>
          </a:prstGeom>
          <a:noFill/>
        </p:spPr>
        <p:txBody>
          <a:bodyPr wrap="square" rtlCol="0">
            <a:spAutoFit/>
          </a:bodyPr>
          <a:lstStyle/>
          <a:p>
            <a:r>
              <a:rPr lang="zh-CN" altLang="en-US" sz="2400" b="1" dirty="0"/>
              <a:t>一、转录组简介</a:t>
            </a:r>
            <a:endParaRPr lang="en-US" altLang="zh-CN" sz="2400" b="1" dirty="0"/>
          </a:p>
          <a:p>
            <a:endParaRPr lang="en-US" altLang="zh-CN" sz="2400" b="1" dirty="0"/>
          </a:p>
          <a:p>
            <a:r>
              <a:rPr lang="zh-CN" altLang="en-US" sz="2400" b="1" dirty="0"/>
              <a:t>二、</a:t>
            </a:r>
            <a:r>
              <a:rPr lang="en-US" altLang="zh-CN" sz="2400" b="1" dirty="0"/>
              <a:t>Normalization</a:t>
            </a:r>
          </a:p>
          <a:p>
            <a:endParaRPr lang="en-US" altLang="zh-CN" sz="2400" b="1" dirty="0"/>
          </a:p>
          <a:p>
            <a:r>
              <a:rPr lang="zh-CN" altLang="en-US" sz="2400" b="1" dirty="0"/>
              <a:t>三、</a:t>
            </a:r>
            <a:r>
              <a:rPr lang="en-US" altLang="zh-CN" sz="2400" b="1" dirty="0"/>
              <a:t>Pipeline</a:t>
            </a:r>
          </a:p>
          <a:p>
            <a:endParaRPr lang="en-US" sz="2400" b="1" dirty="0"/>
          </a:p>
        </p:txBody>
      </p:sp>
    </p:spTree>
    <p:extLst>
      <p:ext uri="{BB962C8B-B14F-4D97-AF65-F5344CB8AC3E}">
        <p14:creationId xmlns:p14="http://schemas.microsoft.com/office/powerpoint/2010/main" val="3553386365"/>
      </p:ext>
    </p:extLst>
  </p:cSld>
  <p:clrMapOvr>
    <a:masterClrMapping/>
  </p:clrMapOvr>
  <p:transition>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一、转录组简介</a:t>
            </a:r>
            <a:endParaRPr lang="en-GB" dirty="0"/>
          </a:p>
        </p:txBody>
      </p:sp>
      <p:sp>
        <p:nvSpPr>
          <p:cNvPr id="3" name="矩形 2"/>
          <p:cNvSpPr/>
          <p:nvPr/>
        </p:nvSpPr>
        <p:spPr>
          <a:xfrm>
            <a:off x="3491925" y="699619"/>
            <a:ext cx="2350323" cy="461665"/>
          </a:xfrm>
          <a:prstGeom prst="rect">
            <a:avLst/>
          </a:prstGeom>
        </p:spPr>
        <p:txBody>
          <a:bodyPr wrap="none">
            <a:spAutoFit/>
          </a:bodyPr>
          <a:lstStyle/>
          <a:p>
            <a:r>
              <a:rPr lang="zh-CN" altLang="en-US" sz="2400" b="1" dirty="0"/>
              <a:t>什么是转录组？</a:t>
            </a:r>
            <a:endParaRPr lang="en-GB" sz="2400" dirty="0"/>
          </a:p>
        </p:txBody>
      </p:sp>
      <p:sp>
        <p:nvSpPr>
          <p:cNvPr id="5" name="矩形 4"/>
          <p:cNvSpPr/>
          <p:nvPr/>
        </p:nvSpPr>
        <p:spPr>
          <a:xfrm>
            <a:off x="2873165" y="1923705"/>
            <a:ext cx="3587842" cy="461665"/>
          </a:xfrm>
          <a:prstGeom prst="rect">
            <a:avLst/>
          </a:prstGeom>
        </p:spPr>
        <p:txBody>
          <a:bodyPr wrap="none">
            <a:spAutoFit/>
          </a:bodyPr>
          <a:lstStyle/>
          <a:p>
            <a:r>
              <a:rPr lang="zh-CN" altLang="en-US" sz="2400" b="1" dirty="0"/>
              <a:t>转录组实验技术有哪些？</a:t>
            </a:r>
            <a:endParaRPr lang="en-GB" sz="2400" dirty="0"/>
          </a:p>
        </p:txBody>
      </p:sp>
      <p:sp>
        <p:nvSpPr>
          <p:cNvPr id="6" name="矩形 5"/>
          <p:cNvSpPr/>
          <p:nvPr/>
        </p:nvSpPr>
        <p:spPr>
          <a:xfrm>
            <a:off x="1475785" y="2675775"/>
            <a:ext cx="6179320" cy="461665"/>
          </a:xfrm>
          <a:prstGeom prst="rect">
            <a:avLst/>
          </a:prstGeom>
        </p:spPr>
        <p:txBody>
          <a:bodyPr wrap="none">
            <a:spAutoFit/>
          </a:bodyPr>
          <a:lstStyle/>
          <a:p>
            <a:r>
              <a:rPr lang="zh-CN" altLang="en-US" sz="2400" dirty="0"/>
              <a:t>基因芯片</a:t>
            </a:r>
            <a:r>
              <a:rPr lang="en-US" altLang="zh-CN" sz="2400" dirty="0"/>
              <a:t>(Microarray)</a:t>
            </a:r>
            <a:r>
              <a:rPr lang="zh-CN" altLang="en-US" sz="2400" dirty="0"/>
              <a:t>，</a:t>
            </a:r>
            <a:r>
              <a:rPr lang="en-US" altLang="zh-CN" sz="2400" dirty="0" err="1"/>
              <a:t>RNAseq</a:t>
            </a:r>
            <a:r>
              <a:rPr lang="en-US" altLang="zh-CN" sz="2400" dirty="0"/>
              <a:t>(MPSS)</a:t>
            </a:r>
            <a:r>
              <a:rPr lang="zh-CN" altLang="en-US" sz="2400" dirty="0"/>
              <a:t>，</a:t>
            </a:r>
            <a:r>
              <a:rPr lang="en-US" altLang="zh-CN" sz="2400" dirty="0"/>
              <a:t> SAGE</a:t>
            </a:r>
            <a:endParaRPr lang="en-GB" sz="2400" dirty="0"/>
          </a:p>
        </p:txBody>
      </p:sp>
    </p:spTree>
    <p:extLst>
      <p:ext uri="{BB962C8B-B14F-4D97-AF65-F5344CB8AC3E}">
        <p14:creationId xmlns:p14="http://schemas.microsoft.com/office/powerpoint/2010/main" val="442506591"/>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SAGE</a:t>
            </a:r>
            <a:endParaRPr lang="en-GB" dirty="0"/>
          </a:p>
        </p:txBody>
      </p:sp>
      <p:pic>
        <p:nvPicPr>
          <p:cNvPr id="4" name="Picture 4" descr="image00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010" y="627615"/>
            <a:ext cx="4075120" cy="4455712"/>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192547" y="715255"/>
            <a:ext cx="3804567" cy="707886"/>
          </a:xfrm>
          <a:prstGeom prst="rect">
            <a:avLst/>
          </a:prstGeom>
        </p:spPr>
        <p:txBody>
          <a:bodyPr wrap="none">
            <a:spAutoFit/>
          </a:bodyPr>
          <a:lstStyle/>
          <a:p>
            <a:pPr algn="ctr"/>
            <a:r>
              <a:rPr lang="en-US" altLang="zh-CN" sz="2000" b="1" dirty="0"/>
              <a:t>Serial Analysis of Gene Expression</a:t>
            </a:r>
          </a:p>
          <a:p>
            <a:pPr algn="ctr"/>
            <a:r>
              <a:rPr lang="en-US" altLang="zh-CN" sz="2000" b="1" dirty="0"/>
              <a:t>developed in 1995</a:t>
            </a:r>
          </a:p>
        </p:txBody>
      </p:sp>
      <p:sp>
        <p:nvSpPr>
          <p:cNvPr id="6" name="矩形 5"/>
          <p:cNvSpPr/>
          <p:nvPr/>
        </p:nvSpPr>
        <p:spPr>
          <a:xfrm>
            <a:off x="1273869" y="1459924"/>
            <a:ext cx="1930036" cy="338554"/>
          </a:xfrm>
          <a:prstGeom prst="rect">
            <a:avLst/>
          </a:prstGeom>
          <a:noFill/>
        </p:spPr>
        <p:txBody>
          <a:bodyPr wrap="square" rtlCol="0">
            <a:spAutoFit/>
          </a:bodyPr>
          <a:lstStyle/>
          <a:p>
            <a:pPr algn="ctr"/>
            <a:r>
              <a:rPr lang="zh-CN" altLang="en-US" sz="1600" dirty="0">
                <a:latin typeface="微软雅黑" panose="020B0503020204020204" charset="-122"/>
                <a:ea typeface="微软雅黑" panose="020B0503020204020204" charset="-122"/>
                <a:cs typeface="微软雅黑" panose="020B0503020204020204" charset="-122"/>
              </a:rPr>
              <a:t>基于</a:t>
            </a:r>
            <a:r>
              <a:rPr lang="en-US" altLang="zh-CN" sz="1600" dirty="0">
                <a:latin typeface="微软雅黑" panose="020B0503020204020204" charset="-122"/>
                <a:ea typeface="微软雅黑" panose="020B0503020204020204" charset="-122"/>
                <a:cs typeface="微软雅黑" panose="020B0503020204020204" charset="-122"/>
              </a:rPr>
              <a:t>Sanger</a:t>
            </a:r>
            <a:r>
              <a:rPr lang="zh-CN" altLang="en-US" sz="1600" dirty="0">
                <a:latin typeface="微软雅黑" panose="020B0503020204020204" charset="-122"/>
                <a:ea typeface="微软雅黑" panose="020B0503020204020204" charset="-122"/>
                <a:cs typeface="微软雅黑" panose="020B0503020204020204" charset="-122"/>
              </a:rPr>
              <a:t>测序</a:t>
            </a:r>
            <a:endParaRPr lang="en-US" altLang="zh-CN" sz="1600" dirty="0">
              <a:latin typeface="微软雅黑" panose="020B0503020204020204" charset="-122"/>
              <a:ea typeface="微软雅黑" panose="020B0503020204020204" charset="-122"/>
              <a:cs typeface="微软雅黑" panose="020B0503020204020204" charset="-122"/>
            </a:endParaRPr>
          </a:p>
        </p:txBody>
      </p:sp>
      <p:sp>
        <p:nvSpPr>
          <p:cNvPr id="7" name="矩形 6"/>
          <p:cNvSpPr/>
          <p:nvPr/>
        </p:nvSpPr>
        <p:spPr>
          <a:xfrm>
            <a:off x="354847" y="2643755"/>
            <a:ext cx="4001138" cy="830997"/>
          </a:xfrm>
          <a:prstGeom prst="rect">
            <a:avLst/>
          </a:prstGeom>
          <a:noFill/>
        </p:spPr>
        <p:txBody>
          <a:bodyPr wrap="square" rtlCol="0">
            <a:spAutoFit/>
          </a:bodyPr>
          <a:lstStyle/>
          <a:p>
            <a:pPr algn="ctr"/>
            <a:r>
              <a:rPr lang="zh-CN" altLang="en-US" sz="1600" dirty="0">
                <a:latin typeface="微软雅黑" panose="020B0503020204020204" charset="-122"/>
                <a:ea typeface="微软雅黑" panose="020B0503020204020204" charset="-122"/>
                <a:cs typeface="微软雅黑" panose="020B0503020204020204" charset="-122"/>
              </a:rPr>
              <a:t>原理：</a:t>
            </a:r>
            <a:r>
              <a:rPr lang="en-US" altLang="zh-CN" sz="1600" dirty="0">
                <a:latin typeface="微软雅黑" panose="020B0503020204020204" charset="-122"/>
                <a:ea typeface="微软雅黑" panose="020B0503020204020204" charset="-122"/>
                <a:cs typeface="微软雅黑" panose="020B0503020204020204" charset="-122"/>
              </a:rPr>
              <a:t>4</a:t>
            </a:r>
            <a:r>
              <a:rPr lang="zh-CN" altLang="en-US" sz="1600" dirty="0">
                <a:latin typeface="微软雅黑" panose="020B0503020204020204" charset="-122"/>
                <a:ea typeface="微软雅黑" panose="020B0503020204020204" charset="-122"/>
                <a:cs typeface="微软雅黑" panose="020B0503020204020204" charset="-122"/>
              </a:rPr>
              <a:t>位点识别限制性内切酶</a:t>
            </a:r>
            <a:endParaRPr lang="en-US" altLang="zh-CN" sz="1600" dirty="0">
              <a:latin typeface="微软雅黑" panose="020B0503020204020204" charset="-122"/>
              <a:ea typeface="微软雅黑" panose="020B0503020204020204" charset="-122"/>
              <a:cs typeface="微软雅黑" panose="020B0503020204020204" charset="-122"/>
            </a:endParaRPr>
          </a:p>
          <a:p>
            <a:pPr algn="ctr"/>
            <a:r>
              <a:rPr lang="zh-CN" altLang="en-US" sz="1600" dirty="0">
                <a:latin typeface="微软雅黑" panose="020B0503020204020204" charset="-122"/>
                <a:ea typeface="微软雅黑" panose="020B0503020204020204" charset="-122"/>
                <a:cs typeface="微软雅黑" panose="020B0503020204020204" charset="-122"/>
              </a:rPr>
              <a:t>限制性内切酶</a:t>
            </a:r>
            <a:r>
              <a:rPr lang="en-US" altLang="zh-CN" sz="1600" dirty="0">
                <a:latin typeface="微软雅黑" panose="020B0503020204020204" charset="-122"/>
                <a:ea typeface="微软雅黑" panose="020B0503020204020204" charset="-122"/>
                <a:cs typeface="微软雅黑" panose="020B0503020204020204" charset="-122"/>
              </a:rPr>
              <a:t>II</a:t>
            </a:r>
            <a:r>
              <a:rPr lang="zh-CN" altLang="en-US" sz="1600" dirty="0">
                <a:latin typeface="微软雅黑" panose="020B0503020204020204" charset="-122"/>
                <a:ea typeface="微软雅黑" panose="020B0503020204020204" charset="-122"/>
                <a:cs typeface="微软雅黑" panose="020B0503020204020204" charset="-122"/>
              </a:rPr>
              <a:t>型</a:t>
            </a:r>
            <a:endParaRPr lang="en-US" altLang="zh-CN" sz="1600" dirty="0">
              <a:latin typeface="微软雅黑" panose="020B0503020204020204" charset="-122"/>
              <a:ea typeface="微软雅黑" panose="020B0503020204020204" charset="-122"/>
              <a:cs typeface="微软雅黑" panose="020B0503020204020204" charset="-122"/>
            </a:endParaRPr>
          </a:p>
          <a:p>
            <a:pPr algn="ctr"/>
            <a:r>
              <a:rPr lang="zh-CN" altLang="en-US" sz="1600" dirty="0">
                <a:latin typeface="楷体" pitchFamily="49" charset="-122"/>
                <a:ea typeface="楷体" pitchFamily="49" charset="-122"/>
                <a:cs typeface="微软雅黑" panose="020B0503020204020204" charset="-122"/>
              </a:rPr>
              <a:t>（识别位点约</a:t>
            </a:r>
            <a:r>
              <a:rPr lang="en-US" altLang="zh-CN" sz="1600" dirty="0">
                <a:latin typeface="楷体" pitchFamily="49" charset="-122"/>
                <a:ea typeface="楷体" pitchFamily="49" charset="-122"/>
                <a:cs typeface="微软雅黑" panose="020B0503020204020204" charset="-122"/>
              </a:rPr>
              <a:t>20</a:t>
            </a:r>
            <a:r>
              <a:rPr lang="zh-CN" altLang="en-US" sz="1600" dirty="0">
                <a:latin typeface="楷体" pitchFamily="49" charset="-122"/>
                <a:ea typeface="楷体" pitchFamily="49" charset="-122"/>
                <a:cs typeface="微软雅黑" panose="020B0503020204020204" charset="-122"/>
              </a:rPr>
              <a:t>碱基的位置切割</a:t>
            </a:r>
            <a:r>
              <a:rPr lang="en-US" altLang="zh-CN" sz="1600" dirty="0">
                <a:latin typeface="楷体" pitchFamily="49" charset="-122"/>
                <a:ea typeface="楷体" pitchFamily="49" charset="-122"/>
                <a:cs typeface="微软雅黑" panose="020B0503020204020204" charset="-122"/>
              </a:rPr>
              <a:t>DNA</a:t>
            </a:r>
            <a:r>
              <a:rPr lang="zh-CN" altLang="en-US" sz="1600" dirty="0">
                <a:latin typeface="楷体" pitchFamily="49" charset="-122"/>
                <a:ea typeface="楷体" pitchFamily="49" charset="-122"/>
                <a:cs typeface="微软雅黑" panose="020B0503020204020204" charset="-122"/>
              </a:rPr>
              <a:t>双链）</a:t>
            </a:r>
            <a:endParaRPr lang="en-US" altLang="zh-CN" sz="1600" dirty="0">
              <a:latin typeface="楷体" pitchFamily="49" charset="-122"/>
              <a:ea typeface="楷体" pitchFamily="49" charset="-122"/>
              <a:cs typeface="微软雅黑" panose="020B0503020204020204" charset="-122"/>
            </a:endParaRPr>
          </a:p>
        </p:txBody>
      </p:sp>
      <p:sp>
        <p:nvSpPr>
          <p:cNvPr id="8" name="矩形 7"/>
          <p:cNvSpPr/>
          <p:nvPr/>
        </p:nvSpPr>
        <p:spPr>
          <a:xfrm>
            <a:off x="443985" y="1855628"/>
            <a:ext cx="3911999" cy="584775"/>
          </a:xfrm>
          <a:prstGeom prst="rect">
            <a:avLst/>
          </a:prstGeom>
          <a:noFill/>
        </p:spPr>
        <p:txBody>
          <a:bodyPr wrap="square" rtlCol="0">
            <a:spAutoFit/>
          </a:bodyPr>
          <a:lstStyle/>
          <a:p>
            <a:pPr algn="ctr"/>
            <a:r>
              <a:rPr lang="zh-CN" altLang="en-US" sz="1600" dirty="0">
                <a:latin typeface="微软雅黑" panose="020B0503020204020204" charset="-122"/>
                <a:ea typeface="微软雅黑" panose="020B0503020204020204" charset="-122"/>
                <a:cs typeface="微软雅黑" panose="020B0503020204020204" charset="-122"/>
              </a:rPr>
              <a:t>基础：</a:t>
            </a:r>
            <a:r>
              <a:rPr lang="en-US" altLang="zh-CN" sz="1600" dirty="0">
                <a:latin typeface="微软雅黑" panose="020B0503020204020204" charset="-122"/>
                <a:ea typeface="微软雅黑" panose="020B0503020204020204" charset="-122"/>
                <a:cs typeface="微软雅黑" panose="020B0503020204020204" charset="-122"/>
              </a:rPr>
              <a:t>9-10</a:t>
            </a:r>
            <a:r>
              <a:rPr lang="zh-CN" altLang="en-US" sz="1600" dirty="0">
                <a:latin typeface="微软雅黑" panose="020B0503020204020204" charset="-122"/>
                <a:ea typeface="微软雅黑" panose="020B0503020204020204" charset="-122"/>
                <a:cs typeface="微软雅黑" panose="020B0503020204020204" charset="-122"/>
              </a:rPr>
              <a:t>碱基即可识别大多数序列特征</a:t>
            </a:r>
            <a:endParaRPr lang="en-US" altLang="zh-CN" sz="1600" dirty="0">
              <a:latin typeface="微软雅黑" panose="020B0503020204020204" charset="-122"/>
              <a:ea typeface="微软雅黑" panose="020B0503020204020204" charset="-122"/>
              <a:cs typeface="微软雅黑" panose="020B0503020204020204" charset="-122"/>
            </a:endParaRPr>
          </a:p>
          <a:p>
            <a:pPr algn="ctr"/>
            <a:r>
              <a:rPr lang="en-US" altLang="zh-CN" sz="1600" dirty="0">
                <a:latin typeface="微软雅黑" panose="020B0503020204020204" charset="-122"/>
                <a:ea typeface="微软雅黑" panose="020B0503020204020204" charset="-122"/>
                <a:cs typeface="微软雅黑" panose="020B0503020204020204" charset="-122"/>
              </a:rPr>
              <a:t>mRNA</a:t>
            </a:r>
            <a:r>
              <a:rPr lang="zh-CN" altLang="en-US" sz="1600" dirty="0">
                <a:latin typeface="微软雅黑" panose="020B0503020204020204" charset="-122"/>
                <a:ea typeface="微软雅黑" panose="020B0503020204020204" charset="-122"/>
                <a:cs typeface="微软雅黑" panose="020B0503020204020204" charset="-122"/>
              </a:rPr>
              <a:t>含有</a:t>
            </a:r>
            <a:r>
              <a:rPr lang="en-US" altLang="zh-CN" sz="1600" dirty="0" err="1">
                <a:latin typeface="微软雅黑" panose="020B0503020204020204" charset="-122"/>
                <a:ea typeface="微软雅黑" panose="020B0503020204020204" charset="-122"/>
                <a:cs typeface="微软雅黑" panose="020B0503020204020204" charset="-122"/>
              </a:rPr>
              <a:t>ployA</a:t>
            </a:r>
            <a:r>
              <a:rPr lang="en-US" altLang="zh-CN" sz="1600" dirty="0">
                <a:latin typeface="微软雅黑" panose="020B0503020204020204" charset="-122"/>
                <a:ea typeface="微软雅黑" panose="020B0503020204020204" charset="-122"/>
                <a:cs typeface="微软雅黑" panose="020B0503020204020204" charset="-122"/>
              </a:rPr>
              <a:t> tail</a:t>
            </a:r>
          </a:p>
        </p:txBody>
      </p:sp>
      <p:sp>
        <p:nvSpPr>
          <p:cNvPr id="3" name="矩形 2">
            <a:extLst>
              <a:ext uri="{FF2B5EF4-FFF2-40B4-BE49-F238E27FC236}">
                <a16:creationId xmlns:a16="http://schemas.microsoft.com/office/drawing/2014/main" id="{1F88AB97-A2AE-E399-65DC-AD94C1784F5D}"/>
              </a:ext>
            </a:extLst>
          </p:cNvPr>
          <p:cNvSpPr/>
          <p:nvPr/>
        </p:nvSpPr>
        <p:spPr>
          <a:xfrm>
            <a:off x="3500288" y="4660879"/>
            <a:ext cx="1712549" cy="338554"/>
          </a:xfrm>
          <a:prstGeom prst="rect">
            <a:avLst/>
          </a:prstGeom>
          <a:noFill/>
        </p:spPr>
        <p:txBody>
          <a:bodyPr wrap="square" rtlCol="0">
            <a:spAutoFit/>
          </a:bodyPr>
          <a:lstStyle/>
          <a:p>
            <a:pPr algn="ctr"/>
            <a:r>
              <a:rPr lang="en-US" altLang="zh-CN" sz="1600" dirty="0">
                <a:latin typeface="楷体" pitchFamily="49" charset="-122"/>
                <a:ea typeface="楷体" pitchFamily="49" charset="-122"/>
                <a:cs typeface="微软雅黑" panose="020B0503020204020204" charset="-122"/>
              </a:rPr>
              <a:t>EST</a:t>
            </a:r>
          </a:p>
        </p:txBody>
      </p:sp>
    </p:spTree>
    <p:extLst>
      <p:ext uri="{BB962C8B-B14F-4D97-AF65-F5344CB8AC3E}">
        <p14:creationId xmlns:p14="http://schemas.microsoft.com/office/powerpoint/2010/main" val="4054347329"/>
      </p:ext>
    </p:extLst>
  </p:cSld>
  <p:clrMapOvr>
    <a:masterClrMapping/>
  </p:clrMapOvr>
  <p:transition>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M</a:t>
            </a:r>
            <a:r>
              <a:rPr lang="en-US" altLang="zh-CN" dirty="0"/>
              <a:t>icroarray</a:t>
            </a:r>
            <a:endParaRPr lang="en-GB" dirty="0"/>
          </a:p>
        </p:txBody>
      </p:sp>
      <p:sp>
        <p:nvSpPr>
          <p:cNvPr id="5" name="矩形 4"/>
          <p:cNvSpPr/>
          <p:nvPr/>
        </p:nvSpPr>
        <p:spPr>
          <a:xfrm>
            <a:off x="345443" y="715255"/>
            <a:ext cx="3498778" cy="707886"/>
          </a:xfrm>
          <a:prstGeom prst="rect">
            <a:avLst/>
          </a:prstGeom>
        </p:spPr>
        <p:txBody>
          <a:bodyPr wrap="none">
            <a:spAutoFit/>
          </a:bodyPr>
          <a:lstStyle/>
          <a:p>
            <a:pPr algn="ctr"/>
            <a:r>
              <a:rPr lang="en-US" altLang="zh-CN" sz="2000" b="1" dirty="0" err="1"/>
              <a:t>cDNA</a:t>
            </a:r>
            <a:r>
              <a:rPr lang="en-US" altLang="zh-CN" sz="2000" b="1" dirty="0"/>
              <a:t> microarray</a:t>
            </a:r>
          </a:p>
          <a:p>
            <a:pPr algn="ctr"/>
            <a:r>
              <a:rPr lang="en-US" altLang="zh-CN" sz="2000" b="1" dirty="0"/>
              <a:t>developed in 1996 (</a:t>
            </a:r>
            <a:r>
              <a:rPr lang="en-US" altLang="zh-CN" sz="2000" b="1" dirty="0" err="1"/>
              <a:t>Affymetrix</a:t>
            </a:r>
            <a:r>
              <a:rPr lang="en-US" altLang="zh-CN" sz="2000" b="1" dirty="0"/>
              <a:t>)</a:t>
            </a:r>
          </a:p>
        </p:txBody>
      </p:sp>
      <p:sp>
        <p:nvSpPr>
          <p:cNvPr id="6" name="矩形 5"/>
          <p:cNvSpPr/>
          <p:nvPr/>
        </p:nvSpPr>
        <p:spPr>
          <a:xfrm>
            <a:off x="1394894" y="1734709"/>
            <a:ext cx="1448986" cy="338554"/>
          </a:xfrm>
          <a:prstGeom prst="rect">
            <a:avLst/>
          </a:prstGeom>
          <a:noFill/>
        </p:spPr>
        <p:txBody>
          <a:bodyPr wrap="square" rtlCol="0">
            <a:spAutoFit/>
          </a:bodyPr>
          <a:lstStyle/>
          <a:p>
            <a:pPr algn="ctr"/>
            <a:r>
              <a:rPr lang="zh-CN" altLang="en-US" sz="1600" dirty="0">
                <a:latin typeface="微软雅黑" panose="020B0503020204020204" charset="-122"/>
                <a:ea typeface="微软雅黑" panose="020B0503020204020204" charset="-122"/>
                <a:cs typeface="微软雅黑" panose="020B0503020204020204" charset="-122"/>
              </a:rPr>
              <a:t>基于探针杂交</a:t>
            </a:r>
            <a:endParaRPr lang="en-US" altLang="zh-CN" sz="1600" dirty="0">
              <a:latin typeface="微软雅黑" panose="020B0503020204020204" charset="-122"/>
              <a:ea typeface="微软雅黑" panose="020B0503020204020204" charset="-122"/>
              <a:cs typeface="微软雅黑" panose="020B0503020204020204" charset="-122"/>
            </a:endParaRPr>
          </a:p>
        </p:txBody>
      </p:sp>
      <p:sp>
        <p:nvSpPr>
          <p:cNvPr id="8" name="矩形 7"/>
          <p:cNvSpPr/>
          <p:nvPr/>
        </p:nvSpPr>
        <p:spPr>
          <a:xfrm>
            <a:off x="755735" y="2320095"/>
            <a:ext cx="2843992" cy="338554"/>
          </a:xfrm>
          <a:prstGeom prst="rect">
            <a:avLst/>
          </a:prstGeom>
          <a:noFill/>
        </p:spPr>
        <p:txBody>
          <a:bodyPr wrap="square" rtlCol="0">
            <a:spAutoFit/>
          </a:bodyPr>
          <a:lstStyle/>
          <a:p>
            <a:pPr algn="ctr"/>
            <a:r>
              <a:rPr lang="zh-CN" altLang="en-US" sz="1600" dirty="0">
                <a:latin typeface="微软雅黑" panose="020B0503020204020204" charset="-122"/>
                <a:ea typeface="微软雅黑" panose="020B0503020204020204" charset="-122"/>
                <a:cs typeface="微软雅黑" panose="020B0503020204020204" charset="-122"/>
              </a:rPr>
              <a:t>基础：已知序列并合成探针</a:t>
            </a:r>
            <a:endParaRPr lang="en-US" altLang="zh-CN" sz="1600" dirty="0">
              <a:latin typeface="微软雅黑" panose="020B0503020204020204" charset="-122"/>
              <a:ea typeface="微软雅黑" panose="020B0503020204020204" charset="-122"/>
              <a:cs typeface="微软雅黑" panose="020B0503020204020204" charset="-122"/>
            </a:endParaRPr>
          </a:p>
        </p:txBody>
      </p:sp>
      <p:sp>
        <p:nvSpPr>
          <p:cNvPr id="3" name="AutoShape 2" descr="https://pic2.zhimg.com/80/v2-46123ab1bd9a77cdc492398680b807fd_1440w.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AutoShape 4" descr="https://pic2.zhimg.com/80/v2-46123ab1bd9a77cdc492398680b807fd_1440w.web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0020" y="987814"/>
            <a:ext cx="4153790" cy="2579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矩形 9"/>
          <p:cNvSpPr/>
          <p:nvPr/>
        </p:nvSpPr>
        <p:spPr>
          <a:xfrm>
            <a:off x="5044085" y="3603365"/>
            <a:ext cx="4081785" cy="261610"/>
          </a:xfrm>
          <a:prstGeom prst="rect">
            <a:avLst/>
          </a:prstGeom>
        </p:spPr>
        <p:txBody>
          <a:bodyPr wrap="square">
            <a:spAutoFit/>
          </a:bodyPr>
          <a:lstStyle/>
          <a:p>
            <a:r>
              <a:rPr lang="en-GB" sz="1100" dirty="0"/>
              <a:t>Expression profiling using </a:t>
            </a:r>
            <a:r>
              <a:rPr lang="en-GB" sz="1100" dirty="0" err="1"/>
              <a:t>cDNA</a:t>
            </a:r>
            <a:r>
              <a:rPr lang="en-GB" sz="1100" dirty="0"/>
              <a:t> microarrays, 1999, Nature Genetics</a:t>
            </a:r>
          </a:p>
        </p:txBody>
      </p:sp>
    </p:spTree>
    <p:extLst>
      <p:ext uri="{BB962C8B-B14F-4D97-AF65-F5344CB8AC3E}">
        <p14:creationId xmlns:p14="http://schemas.microsoft.com/office/powerpoint/2010/main" val="2298095668"/>
      </p:ext>
    </p:extLst>
  </p:cSld>
  <p:clrMapOvr>
    <a:masterClrMapping/>
  </p:clrMapOvr>
  <p:transition>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err="1"/>
              <a:t>RNA</a:t>
            </a:r>
            <a:r>
              <a:rPr lang="en-US" altLang="zh-CN" dirty="0" err="1"/>
              <a:t>seq</a:t>
            </a:r>
            <a:endParaRPr lang="en-GB" dirty="0"/>
          </a:p>
        </p:txBody>
      </p:sp>
      <p:sp>
        <p:nvSpPr>
          <p:cNvPr id="5" name="矩形 4"/>
          <p:cNvSpPr/>
          <p:nvPr/>
        </p:nvSpPr>
        <p:spPr>
          <a:xfrm>
            <a:off x="115179" y="803148"/>
            <a:ext cx="4449680" cy="646331"/>
          </a:xfrm>
          <a:prstGeom prst="rect">
            <a:avLst/>
          </a:prstGeom>
        </p:spPr>
        <p:txBody>
          <a:bodyPr wrap="none">
            <a:spAutoFit/>
          </a:bodyPr>
          <a:lstStyle/>
          <a:p>
            <a:pPr algn="ctr"/>
            <a:r>
              <a:rPr lang="en-GB" dirty="0"/>
              <a:t>Massively parallel shotgun sequencing(MPSS)</a:t>
            </a:r>
          </a:p>
          <a:p>
            <a:pPr algn="ctr"/>
            <a:r>
              <a:rPr lang="en-US" altLang="zh-CN" b="1" dirty="0"/>
              <a:t>Next</a:t>
            </a:r>
            <a:r>
              <a:rPr lang="en-GB" b="1" dirty="0"/>
              <a:t>-generation sequencing</a:t>
            </a:r>
            <a:endParaRPr lang="en-US" altLang="zh-CN" b="1" dirty="0"/>
          </a:p>
        </p:txBody>
      </p:sp>
      <p:sp>
        <p:nvSpPr>
          <p:cNvPr id="6" name="矩形 5"/>
          <p:cNvSpPr/>
          <p:nvPr/>
        </p:nvSpPr>
        <p:spPr>
          <a:xfrm>
            <a:off x="1709076" y="1734708"/>
            <a:ext cx="1710843" cy="338554"/>
          </a:xfrm>
          <a:prstGeom prst="rect">
            <a:avLst/>
          </a:prstGeom>
          <a:noFill/>
        </p:spPr>
        <p:txBody>
          <a:bodyPr wrap="square" rtlCol="0">
            <a:spAutoFit/>
          </a:bodyPr>
          <a:lstStyle/>
          <a:p>
            <a:pPr algn="ctr"/>
            <a:r>
              <a:rPr lang="zh-CN" altLang="en-US" sz="1600" dirty="0">
                <a:latin typeface="微软雅黑" panose="020B0503020204020204" charset="-122"/>
                <a:ea typeface="微软雅黑" panose="020B0503020204020204" charset="-122"/>
                <a:cs typeface="微软雅黑" panose="020B0503020204020204" charset="-122"/>
              </a:rPr>
              <a:t>基于二代测序</a:t>
            </a:r>
            <a:endParaRPr lang="en-US" altLang="zh-CN" sz="1600" dirty="0">
              <a:latin typeface="微软雅黑" panose="020B0503020204020204" charset="-122"/>
              <a:ea typeface="微软雅黑" panose="020B0503020204020204" charset="-122"/>
              <a:cs typeface="微软雅黑" panose="020B0503020204020204" charset="-122"/>
            </a:endParaRPr>
          </a:p>
        </p:txBody>
      </p:sp>
      <p:sp>
        <p:nvSpPr>
          <p:cNvPr id="3" name="AutoShape 2" descr="https://pic2.zhimg.com/80/v2-46123ab1bd9a77cdc492398680b807fd_1440w.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AutoShape 4" descr="https://pic2.zhimg.com/80/v2-46123ab1bd9a77cdc492398680b807fd_1440w.web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1" name="图片 10"/>
          <p:cNvPicPr/>
          <p:nvPr/>
        </p:nvPicPr>
        <p:blipFill>
          <a:blip r:embed="rId3"/>
          <a:stretch>
            <a:fillRect/>
          </a:stretch>
        </p:blipFill>
        <p:spPr>
          <a:xfrm>
            <a:off x="4867060" y="987640"/>
            <a:ext cx="3975100" cy="2015490"/>
          </a:xfrm>
          <a:prstGeom prst="rect">
            <a:avLst/>
          </a:prstGeom>
        </p:spPr>
      </p:pic>
      <p:pic>
        <p:nvPicPr>
          <p:cNvPr id="12" name="图片 11"/>
          <p:cNvPicPr/>
          <p:nvPr/>
        </p:nvPicPr>
        <p:blipFill>
          <a:blip r:embed="rId4"/>
          <a:stretch>
            <a:fillRect/>
          </a:stretch>
        </p:blipFill>
        <p:spPr>
          <a:xfrm>
            <a:off x="872428" y="2427740"/>
            <a:ext cx="3568700" cy="2331085"/>
          </a:xfrm>
          <a:prstGeom prst="rect">
            <a:avLst/>
          </a:prstGeom>
        </p:spPr>
      </p:pic>
    </p:spTree>
    <p:extLst>
      <p:ext uri="{BB962C8B-B14F-4D97-AF65-F5344CB8AC3E}">
        <p14:creationId xmlns:p14="http://schemas.microsoft.com/office/powerpoint/2010/main" val="1209720407"/>
      </p:ext>
    </p:extLst>
  </p:cSld>
  <p:clrMapOvr>
    <a:masterClrMapping/>
  </p:clrMapOvr>
  <p:transition>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RNA</a:t>
            </a:r>
            <a:r>
              <a:rPr lang="en-US" altLang="zh-CN" dirty="0"/>
              <a:t>-</a:t>
            </a:r>
            <a:r>
              <a:rPr lang="en-US" altLang="zh-CN" dirty="0" err="1"/>
              <a:t>seq</a:t>
            </a:r>
            <a:r>
              <a:rPr lang="zh-CN" altLang="en-US" dirty="0"/>
              <a:t>步骤</a:t>
            </a:r>
            <a:endParaRPr lang="en-GB" dirty="0"/>
          </a:p>
        </p:txBody>
      </p:sp>
      <p:pic>
        <p:nvPicPr>
          <p:cNvPr id="4" name="图片 3"/>
          <p:cNvPicPr/>
          <p:nvPr/>
        </p:nvPicPr>
        <p:blipFill>
          <a:blip r:embed="rId2"/>
          <a:srcRect l="22273" t="5355" r="23318" b="75697"/>
          <a:stretch>
            <a:fillRect/>
          </a:stretch>
        </p:blipFill>
        <p:spPr>
          <a:xfrm>
            <a:off x="6165110" y="1290994"/>
            <a:ext cx="2583180" cy="508635"/>
          </a:xfrm>
          <a:prstGeom prst="rect">
            <a:avLst/>
          </a:prstGeom>
          <a:noFill/>
          <a:ln w="9525">
            <a:noFill/>
          </a:ln>
        </p:spPr>
      </p:pic>
      <p:pic>
        <p:nvPicPr>
          <p:cNvPr id="5" name="图片 4"/>
          <p:cNvPicPr/>
          <p:nvPr/>
        </p:nvPicPr>
        <p:blipFill>
          <a:blip r:embed="rId3"/>
          <a:srcRect l="5008" t="71614" r="59688" b="11614"/>
          <a:stretch>
            <a:fillRect/>
          </a:stretch>
        </p:blipFill>
        <p:spPr>
          <a:xfrm>
            <a:off x="899744" y="3501919"/>
            <a:ext cx="2878455" cy="861060"/>
          </a:xfrm>
          <a:prstGeom prst="rect">
            <a:avLst/>
          </a:prstGeom>
          <a:noFill/>
          <a:ln w="9525">
            <a:noFill/>
          </a:ln>
        </p:spPr>
      </p:pic>
      <p:pic>
        <p:nvPicPr>
          <p:cNvPr id="6" name="图片 5"/>
          <p:cNvPicPr/>
          <p:nvPr/>
        </p:nvPicPr>
        <p:blipFill>
          <a:blip r:embed="rId3"/>
          <a:srcRect l="58723" t="23241" r="25787" b="64119"/>
          <a:stretch>
            <a:fillRect/>
          </a:stretch>
        </p:blipFill>
        <p:spPr>
          <a:xfrm>
            <a:off x="3374696" y="1160472"/>
            <a:ext cx="1263015" cy="648970"/>
          </a:xfrm>
          <a:prstGeom prst="rect">
            <a:avLst/>
          </a:prstGeom>
          <a:noFill/>
          <a:ln w="9525">
            <a:noFill/>
          </a:ln>
        </p:spPr>
      </p:pic>
      <p:pic>
        <p:nvPicPr>
          <p:cNvPr id="7" name="图片 6"/>
          <p:cNvPicPr/>
          <p:nvPr/>
        </p:nvPicPr>
        <p:blipFill>
          <a:blip r:embed="rId2"/>
          <a:srcRect l="3118" t="36324" r="36467" b="467"/>
          <a:stretch>
            <a:fillRect/>
          </a:stretch>
        </p:blipFill>
        <p:spPr>
          <a:xfrm>
            <a:off x="5984300" y="3403086"/>
            <a:ext cx="2974340" cy="1682750"/>
          </a:xfrm>
          <a:prstGeom prst="rect">
            <a:avLst/>
          </a:prstGeom>
          <a:noFill/>
          <a:ln w="9525">
            <a:noFill/>
          </a:ln>
        </p:spPr>
      </p:pic>
      <p:pic>
        <p:nvPicPr>
          <p:cNvPr id="9" name="图片 8"/>
          <p:cNvPicPr>
            <a:picLocks noChangeAspect="1"/>
          </p:cNvPicPr>
          <p:nvPr/>
        </p:nvPicPr>
        <p:blipFill>
          <a:blip r:embed="rId4"/>
          <a:stretch>
            <a:fillRect/>
          </a:stretch>
        </p:blipFill>
        <p:spPr>
          <a:xfrm>
            <a:off x="395710" y="816203"/>
            <a:ext cx="1567970" cy="1338757"/>
          </a:xfrm>
          <a:prstGeom prst="rect">
            <a:avLst/>
          </a:prstGeom>
        </p:spPr>
      </p:pic>
      <p:sp>
        <p:nvSpPr>
          <p:cNvPr id="10" name="右箭头 9"/>
          <p:cNvSpPr/>
          <p:nvPr/>
        </p:nvSpPr>
        <p:spPr>
          <a:xfrm>
            <a:off x="2224671" y="1455736"/>
            <a:ext cx="846455" cy="1549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右箭头 10"/>
          <p:cNvSpPr/>
          <p:nvPr/>
        </p:nvSpPr>
        <p:spPr>
          <a:xfrm rot="5400000">
            <a:off x="7057511" y="2528503"/>
            <a:ext cx="846455" cy="1549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右箭头 11"/>
          <p:cNvSpPr/>
          <p:nvPr/>
        </p:nvSpPr>
        <p:spPr>
          <a:xfrm rot="10800000">
            <a:off x="4525492" y="3980769"/>
            <a:ext cx="846455" cy="1549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8"/>
          <p:cNvSpPr txBox="1"/>
          <p:nvPr/>
        </p:nvSpPr>
        <p:spPr>
          <a:xfrm>
            <a:off x="1835811" y="898862"/>
            <a:ext cx="1683000" cy="523220"/>
          </a:xfrm>
          <a:prstGeom prst="rect">
            <a:avLst/>
          </a:prstGeom>
          <a:noFill/>
        </p:spPr>
        <p:txBody>
          <a:bodyPr wrap="square" rtlCol="0">
            <a:spAutoFit/>
          </a:bodyPr>
          <a:lstStyle/>
          <a:p>
            <a:pPr algn="ctr"/>
            <a:r>
              <a:rPr lang="zh-CN" altLang="en-US" sz="1400" dirty="0">
                <a:latin typeface="微软雅黑" panose="020B0503020204020204" charset="-122"/>
                <a:ea typeface="微软雅黑" panose="020B0503020204020204" charset="-122"/>
                <a:cs typeface="微软雅黑" panose="020B0503020204020204" charset="-122"/>
              </a:rPr>
              <a:t>提取</a:t>
            </a:r>
            <a:r>
              <a:rPr lang="en-US" altLang="zh-CN" sz="1400" dirty="0">
                <a:latin typeface="微软雅黑" panose="020B0503020204020204" charset="-122"/>
                <a:ea typeface="微软雅黑" panose="020B0503020204020204" charset="-122"/>
                <a:cs typeface="微软雅黑" panose="020B0503020204020204" charset="-122"/>
              </a:rPr>
              <a:t>RNA</a:t>
            </a:r>
          </a:p>
          <a:p>
            <a:pPr algn="ctr"/>
            <a:r>
              <a:rPr lang="zh-CN" altLang="en-US" sz="1400" dirty="0">
                <a:latin typeface="微软雅黑" panose="020B0503020204020204" charset="-122"/>
                <a:ea typeface="微软雅黑" panose="020B0503020204020204" charset="-122"/>
                <a:cs typeface="微软雅黑" panose="020B0503020204020204" charset="-122"/>
              </a:rPr>
              <a:t>逆转录为</a:t>
            </a:r>
            <a:r>
              <a:rPr lang="en-US" altLang="zh-CN" sz="1400" dirty="0" err="1">
                <a:latin typeface="微软雅黑" panose="020B0503020204020204" charset="-122"/>
                <a:ea typeface="微软雅黑" panose="020B0503020204020204" charset="-122"/>
                <a:cs typeface="微软雅黑" panose="020B0503020204020204" charset="-122"/>
              </a:rPr>
              <a:t>cDNA</a:t>
            </a:r>
            <a:endParaRPr lang="en-US" altLang="zh-CN" sz="1400" dirty="0">
              <a:latin typeface="微软雅黑" panose="020B0503020204020204" charset="-122"/>
              <a:ea typeface="微软雅黑" panose="020B0503020204020204" charset="-122"/>
              <a:cs typeface="微软雅黑" panose="020B0503020204020204" charset="-122"/>
            </a:endParaRPr>
          </a:p>
        </p:txBody>
      </p:sp>
      <p:sp>
        <p:nvSpPr>
          <p:cNvPr id="16" name="文本框 19"/>
          <p:cNvSpPr txBox="1"/>
          <p:nvPr/>
        </p:nvSpPr>
        <p:spPr>
          <a:xfrm>
            <a:off x="4283980" y="787310"/>
            <a:ext cx="2124710" cy="523220"/>
          </a:xfrm>
          <a:prstGeom prst="rect">
            <a:avLst/>
          </a:prstGeom>
          <a:noFill/>
        </p:spPr>
        <p:txBody>
          <a:bodyPr wrap="square" rtlCol="0">
            <a:spAutoFit/>
          </a:bodyPr>
          <a:lstStyle>
            <a:defPPr>
              <a:defRPr lang="zh-CN"/>
            </a:defPPr>
            <a:lvl1pPr algn="ctr">
              <a:defRPr sz="1400">
                <a:latin typeface="微软雅黑" panose="020B0503020204020204" charset="-122"/>
                <a:ea typeface="微软雅黑" panose="020B0503020204020204" charset="-122"/>
                <a:cs typeface="微软雅黑" panose="020B0503020204020204" charset="-122"/>
              </a:defRPr>
            </a:lvl1pPr>
          </a:lstStyle>
          <a:p>
            <a:r>
              <a:rPr lang="zh-CN" altLang="en-US" dirty="0"/>
              <a:t>随机打断，加接头，扩增，片段大小选择</a:t>
            </a:r>
          </a:p>
        </p:txBody>
      </p:sp>
      <p:sp>
        <p:nvSpPr>
          <p:cNvPr id="17" name="文本框 20"/>
          <p:cNvSpPr txBox="1"/>
          <p:nvPr/>
        </p:nvSpPr>
        <p:spPr>
          <a:xfrm>
            <a:off x="6863201" y="1845560"/>
            <a:ext cx="1390015" cy="307777"/>
          </a:xfrm>
          <a:prstGeom prst="rect">
            <a:avLst/>
          </a:prstGeom>
          <a:noFill/>
        </p:spPr>
        <p:txBody>
          <a:bodyPr wrap="square" rtlCol="0">
            <a:spAutoFit/>
          </a:bodyPr>
          <a:lstStyle>
            <a:defPPr>
              <a:defRPr lang="zh-CN"/>
            </a:defPPr>
            <a:lvl1pPr algn="ctr">
              <a:defRPr sz="1400">
                <a:latin typeface="微软雅黑" panose="020B0503020204020204" charset="-122"/>
                <a:ea typeface="微软雅黑" panose="020B0503020204020204" charset="-122"/>
                <a:cs typeface="微软雅黑" panose="020B0503020204020204" charset="-122"/>
              </a:defRPr>
            </a:lvl1pPr>
          </a:lstStyle>
          <a:p>
            <a:r>
              <a:rPr lang="zh-CN" altLang="en-US" dirty="0"/>
              <a:t>高通量测序</a:t>
            </a:r>
          </a:p>
        </p:txBody>
      </p:sp>
      <p:sp>
        <p:nvSpPr>
          <p:cNvPr id="18" name="文本框 21"/>
          <p:cNvSpPr txBox="1"/>
          <p:nvPr/>
        </p:nvSpPr>
        <p:spPr>
          <a:xfrm>
            <a:off x="6776462" y="3092766"/>
            <a:ext cx="1589409" cy="307777"/>
          </a:xfrm>
          <a:prstGeom prst="rect">
            <a:avLst/>
          </a:prstGeom>
          <a:noFill/>
        </p:spPr>
        <p:txBody>
          <a:bodyPr wrap="square" rtlCol="0">
            <a:spAutoFit/>
          </a:bodyPr>
          <a:lstStyle>
            <a:defPPr>
              <a:defRPr lang="zh-CN"/>
            </a:defPPr>
            <a:lvl1pPr algn="ctr">
              <a:defRPr sz="1400">
                <a:latin typeface="微软雅黑" panose="020B0503020204020204" charset="-122"/>
                <a:ea typeface="微软雅黑" panose="020B0503020204020204" charset="-122"/>
                <a:cs typeface="微软雅黑" panose="020B0503020204020204" charset="-122"/>
              </a:defRPr>
            </a:lvl1pPr>
          </a:lstStyle>
          <a:p>
            <a:r>
              <a:rPr lang="zh-CN" altLang="en-US" dirty="0"/>
              <a:t>有参考基因组</a:t>
            </a:r>
          </a:p>
        </p:txBody>
      </p:sp>
      <p:sp>
        <p:nvSpPr>
          <p:cNvPr id="19" name="文本框 22"/>
          <p:cNvSpPr txBox="1"/>
          <p:nvPr/>
        </p:nvSpPr>
        <p:spPr>
          <a:xfrm>
            <a:off x="4230534" y="3499633"/>
            <a:ext cx="1436370" cy="307777"/>
          </a:xfrm>
          <a:prstGeom prst="rect">
            <a:avLst/>
          </a:prstGeom>
          <a:noFill/>
        </p:spPr>
        <p:txBody>
          <a:bodyPr wrap="square" rtlCol="0">
            <a:spAutoFit/>
          </a:bodyPr>
          <a:lstStyle>
            <a:defPPr>
              <a:defRPr lang="zh-CN"/>
            </a:defPPr>
            <a:lvl1pPr algn="ctr">
              <a:defRPr sz="1400">
                <a:latin typeface="微软雅黑" panose="020B0503020204020204" charset="-122"/>
                <a:ea typeface="微软雅黑" panose="020B0503020204020204" charset="-122"/>
                <a:cs typeface="微软雅黑" panose="020B0503020204020204" charset="-122"/>
              </a:defRPr>
            </a:lvl1pPr>
          </a:lstStyle>
          <a:p>
            <a:r>
              <a:rPr lang="zh-CN" altLang="en-US" dirty="0"/>
              <a:t>标准化，定量</a:t>
            </a:r>
          </a:p>
        </p:txBody>
      </p:sp>
    </p:spTree>
    <p:extLst>
      <p:ext uri="{BB962C8B-B14F-4D97-AF65-F5344CB8AC3E}">
        <p14:creationId xmlns:p14="http://schemas.microsoft.com/office/powerpoint/2010/main" val="1738521996"/>
      </p:ext>
    </p:extLst>
  </p:cSld>
  <p:clrMapOvr>
    <a:masterClrMapping/>
  </p:clrMapOvr>
  <p:transition>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ChangeAspect="1"/>
          </p:cNvPicPr>
          <p:nvPr/>
        </p:nvPicPr>
        <p:blipFill>
          <a:blip r:embed="rId2"/>
          <a:srcRect t="16950" b="43834"/>
          <a:stretch>
            <a:fillRect/>
          </a:stretch>
        </p:blipFill>
        <p:spPr>
          <a:xfrm>
            <a:off x="1428175" y="37851"/>
            <a:ext cx="6177455" cy="3983676"/>
          </a:xfrm>
          <a:prstGeom prst="rect">
            <a:avLst/>
          </a:prstGeom>
        </p:spPr>
      </p:pic>
      <p:sp>
        <p:nvSpPr>
          <p:cNvPr id="5" name="文本框 5"/>
          <p:cNvSpPr txBox="1"/>
          <p:nvPr/>
        </p:nvSpPr>
        <p:spPr>
          <a:xfrm>
            <a:off x="611725" y="3854004"/>
            <a:ext cx="2202590" cy="830997"/>
          </a:xfrm>
          <a:prstGeom prst="rect">
            <a:avLst/>
          </a:prstGeom>
          <a:noFill/>
        </p:spPr>
        <p:txBody>
          <a:bodyPr wrap="square" rtlCol="0" anchor="t">
            <a:spAutoFit/>
          </a:bodyPr>
          <a:lstStyle/>
          <a:p>
            <a:pPr algn="r"/>
            <a:r>
              <a:rPr lang="zh-CN" altLang="en-US" sz="1600" dirty="0"/>
              <a:t>cDNA分子构建测序簇</a:t>
            </a:r>
          </a:p>
          <a:p>
            <a:pPr algn="r"/>
            <a:r>
              <a:rPr lang="zh-CN" altLang="en-US" sz="1600" dirty="0"/>
              <a:t>边合成边测序</a:t>
            </a:r>
          </a:p>
          <a:p>
            <a:pPr algn="r"/>
            <a:r>
              <a:rPr lang="zh-CN" altLang="en-US" sz="1600" dirty="0"/>
              <a:t>测序长度在50-500 bp</a:t>
            </a:r>
          </a:p>
        </p:txBody>
      </p:sp>
      <p:sp>
        <p:nvSpPr>
          <p:cNvPr id="6" name="文本框 6"/>
          <p:cNvSpPr txBox="1"/>
          <p:nvPr/>
        </p:nvSpPr>
        <p:spPr>
          <a:xfrm>
            <a:off x="2627865" y="3867840"/>
            <a:ext cx="3263265" cy="861774"/>
          </a:xfrm>
          <a:prstGeom prst="rect">
            <a:avLst/>
          </a:prstGeom>
          <a:noFill/>
        </p:spPr>
        <p:txBody>
          <a:bodyPr wrap="square" rtlCol="0" anchor="t">
            <a:spAutoFit/>
          </a:bodyPr>
          <a:lstStyle/>
          <a:p>
            <a:pPr algn="ctr"/>
            <a:r>
              <a:rPr lang="zh-CN" altLang="en-US" sz="1600" dirty="0">
                <a:sym typeface="+mn-ea"/>
              </a:rPr>
              <a:t>分子结合纳米孔的聚合酶</a:t>
            </a:r>
          </a:p>
          <a:p>
            <a:pPr algn="ctr"/>
            <a:r>
              <a:rPr lang="zh-CN" altLang="en-US" sz="1600" dirty="0">
                <a:sym typeface="+mn-ea"/>
              </a:rPr>
              <a:t>边合成边测序</a:t>
            </a:r>
          </a:p>
          <a:p>
            <a:pPr algn="ctr"/>
            <a:r>
              <a:rPr lang="zh-CN" altLang="en-US" sz="1600" dirty="0">
                <a:sym typeface="+mn-ea"/>
              </a:rPr>
              <a:t>测序长度最高达50 kb</a:t>
            </a:r>
            <a:endParaRPr lang="zh-CN" altLang="en-US" sz="1600" dirty="0"/>
          </a:p>
        </p:txBody>
      </p:sp>
      <p:sp>
        <p:nvSpPr>
          <p:cNvPr id="7" name="文本框 7"/>
          <p:cNvSpPr txBox="1"/>
          <p:nvPr/>
        </p:nvSpPr>
        <p:spPr>
          <a:xfrm>
            <a:off x="5508065" y="3854004"/>
            <a:ext cx="3816265" cy="861774"/>
          </a:xfrm>
          <a:prstGeom prst="rect">
            <a:avLst/>
          </a:prstGeom>
          <a:noFill/>
        </p:spPr>
        <p:txBody>
          <a:bodyPr wrap="square" rtlCol="0" anchor="t">
            <a:spAutoFit/>
          </a:bodyPr>
          <a:lstStyle/>
          <a:p>
            <a:r>
              <a:rPr lang="zh-CN" altLang="en-US" sz="1600" dirty="0">
                <a:sym typeface="+mn-ea"/>
              </a:rPr>
              <a:t>单分子加分子马达结合生物纳米孔</a:t>
            </a:r>
          </a:p>
          <a:p>
            <a:r>
              <a:rPr lang="zh-CN" altLang="en-US" sz="1600" dirty="0">
                <a:sym typeface="+mn-ea"/>
              </a:rPr>
              <a:t>RNA链穿过生物纳米孔电流变化推测碱基</a:t>
            </a:r>
          </a:p>
          <a:p>
            <a:r>
              <a:rPr lang="zh-CN" altLang="en-US" sz="1600" dirty="0">
                <a:sym typeface="+mn-ea"/>
              </a:rPr>
              <a:t>测序reads大小为1-10 kb</a:t>
            </a:r>
            <a:endParaRPr lang="zh-CN" altLang="en-US" sz="1600" dirty="0"/>
          </a:p>
        </p:txBody>
      </p:sp>
    </p:spTree>
    <p:extLst>
      <p:ext uri="{BB962C8B-B14F-4D97-AF65-F5344CB8AC3E}">
        <p14:creationId xmlns:p14="http://schemas.microsoft.com/office/powerpoint/2010/main" val="595052904"/>
      </p:ext>
    </p:extLst>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FD88D-7902-972C-EF45-4F544663EF3E}"/>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3AD12958-0AE0-A046-6586-0EDF07D04ACE}"/>
              </a:ext>
            </a:extLst>
          </p:cNvPr>
          <p:cNvPicPr/>
          <p:nvPr/>
        </p:nvPicPr>
        <p:blipFill>
          <a:blip r:embed="rId3"/>
          <a:srcRect l="58723" t="23241" r="25787" b="64119"/>
          <a:stretch>
            <a:fillRect/>
          </a:stretch>
        </p:blipFill>
        <p:spPr>
          <a:xfrm>
            <a:off x="3563930" y="855634"/>
            <a:ext cx="1401340" cy="720045"/>
          </a:xfrm>
          <a:prstGeom prst="rect">
            <a:avLst/>
          </a:prstGeom>
          <a:noFill/>
          <a:ln w="9525">
            <a:noFill/>
          </a:ln>
        </p:spPr>
      </p:pic>
      <p:grpSp>
        <p:nvGrpSpPr>
          <p:cNvPr id="23" name="组合 22">
            <a:extLst>
              <a:ext uri="{FF2B5EF4-FFF2-40B4-BE49-F238E27FC236}">
                <a16:creationId xmlns:a16="http://schemas.microsoft.com/office/drawing/2014/main" id="{D69FDB75-89C2-CD79-F867-8E24C584BF5E}"/>
              </a:ext>
            </a:extLst>
          </p:cNvPr>
          <p:cNvGrpSpPr/>
          <p:nvPr/>
        </p:nvGrpSpPr>
        <p:grpSpPr>
          <a:xfrm>
            <a:off x="395710" y="927639"/>
            <a:ext cx="1512105" cy="576040"/>
            <a:chOff x="1979820" y="915635"/>
            <a:chExt cx="1512105" cy="576040"/>
          </a:xfrm>
        </p:grpSpPr>
        <p:cxnSp>
          <p:nvCxnSpPr>
            <p:cNvPr id="10" name="直接连接符 9">
              <a:extLst>
                <a:ext uri="{FF2B5EF4-FFF2-40B4-BE49-F238E27FC236}">
                  <a16:creationId xmlns:a16="http://schemas.microsoft.com/office/drawing/2014/main" id="{5EFD70B8-B3ED-AA5E-DC30-BE570EE2BFB3}"/>
                </a:ext>
              </a:extLst>
            </p:cNvPr>
            <p:cNvCxnSpPr/>
            <p:nvPr/>
          </p:nvCxnSpPr>
          <p:spPr>
            <a:xfrm>
              <a:off x="1979820" y="1059645"/>
              <a:ext cx="1512105" cy="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733B5E6-B663-7F58-8E84-8BCA27DD1DC0}"/>
                </a:ext>
              </a:extLst>
            </p:cNvPr>
            <p:cNvCxnSpPr/>
            <p:nvPr/>
          </p:nvCxnSpPr>
          <p:spPr>
            <a:xfrm>
              <a:off x="1979820" y="1275660"/>
              <a:ext cx="1116000" cy="0"/>
            </a:xfrm>
            <a:prstGeom prst="line">
              <a:avLst/>
            </a:prstGeom>
            <a:ln w="317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F46C0833-B359-7D68-A539-463493F35C12}"/>
                </a:ext>
              </a:extLst>
            </p:cNvPr>
            <p:cNvCxnSpPr/>
            <p:nvPr/>
          </p:nvCxnSpPr>
          <p:spPr>
            <a:xfrm>
              <a:off x="1979820" y="1491675"/>
              <a:ext cx="1296000" cy="0"/>
            </a:xfrm>
            <a:prstGeom prst="line">
              <a:avLst/>
            </a:prstGeom>
            <a:ln w="317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3AE7A322-DB54-D127-7ABB-7EA8897A206A}"/>
                </a:ext>
              </a:extLst>
            </p:cNvPr>
            <p:cNvCxnSpPr/>
            <p:nvPr/>
          </p:nvCxnSpPr>
          <p:spPr>
            <a:xfrm>
              <a:off x="1979820" y="915635"/>
              <a:ext cx="1512105" cy="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85E098CE-9D76-9A25-531D-68C702EFAED2}"/>
                </a:ext>
              </a:extLst>
            </p:cNvPr>
            <p:cNvCxnSpPr/>
            <p:nvPr/>
          </p:nvCxnSpPr>
          <p:spPr>
            <a:xfrm>
              <a:off x="1979820" y="1380917"/>
              <a:ext cx="1116000" cy="0"/>
            </a:xfrm>
            <a:prstGeom prst="line">
              <a:avLst/>
            </a:prstGeom>
            <a:ln w="31750">
              <a:solidFill>
                <a:srgbClr val="00B0F0"/>
              </a:solidFill>
            </a:ln>
          </p:spPr>
          <p:style>
            <a:lnRef idx="1">
              <a:schemeClr val="accent1"/>
            </a:lnRef>
            <a:fillRef idx="0">
              <a:schemeClr val="accent1"/>
            </a:fillRef>
            <a:effectRef idx="0">
              <a:schemeClr val="accent1"/>
            </a:effectRef>
            <a:fontRef idx="minor">
              <a:schemeClr val="tx1"/>
            </a:fontRef>
          </p:style>
        </p:cxnSp>
      </p:grpSp>
      <p:cxnSp>
        <p:nvCxnSpPr>
          <p:cNvPr id="16" name="直接箭头连接符 15">
            <a:extLst>
              <a:ext uri="{FF2B5EF4-FFF2-40B4-BE49-F238E27FC236}">
                <a16:creationId xmlns:a16="http://schemas.microsoft.com/office/drawing/2014/main" id="{9DA176DC-A879-761C-28D6-4BAD18E1D7B5}"/>
              </a:ext>
            </a:extLst>
          </p:cNvPr>
          <p:cNvCxnSpPr/>
          <p:nvPr/>
        </p:nvCxnSpPr>
        <p:spPr>
          <a:xfrm>
            <a:off x="2483855" y="1215656"/>
            <a:ext cx="936065" cy="0"/>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29713EA7-FE6D-706D-6A47-4BAF1244D34D}"/>
              </a:ext>
            </a:extLst>
          </p:cNvPr>
          <p:cNvCxnSpPr>
            <a:cxnSpLocks/>
          </p:cNvCxnSpPr>
          <p:nvPr/>
        </p:nvCxnSpPr>
        <p:spPr>
          <a:xfrm>
            <a:off x="5292140" y="1215656"/>
            <a:ext cx="1223995" cy="0"/>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pic>
        <p:nvPicPr>
          <p:cNvPr id="21" name="图片 20">
            <a:extLst>
              <a:ext uri="{FF2B5EF4-FFF2-40B4-BE49-F238E27FC236}">
                <a16:creationId xmlns:a16="http://schemas.microsoft.com/office/drawing/2014/main" id="{52DE276E-3F02-473A-D192-E4BD17B81379}"/>
              </a:ext>
            </a:extLst>
          </p:cNvPr>
          <p:cNvPicPr/>
          <p:nvPr/>
        </p:nvPicPr>
        <p:blipFill>
          <a:blip r:embed="rId3"/>
          <a:srcRect l="58723" t="23240" r="30930" b="69176"/>
          <a:stretch/>
        </p:blipFill>
        <p:spPr>
          <a:xfrm>
            <a:off x="6948165" y="1042606"/>
            <a:ext cx="936065" cy="432023"/>
          </a:xfrm>
          <a:prstGeom prst="rect">
            <a:avLst/>
          </a:prstGeom>
          <a:noFill/>
          <a:ln w="9525">
            <a:noFill/>
          </a:ln>
        </p:spPr>
      </p:pic>
      <p:sp>
        <p:nvSpPr>
          <p:cNvPr id="22" name="文本框 21">
            <a:extLst>
              <a:ext uri="{FF2B5EF4-FFF2-40B4-BE49-F238E27FC236}">
                <a16:creationId xmlns:a16="http://schemas.microsoft.com/office/drawing/2014/main" id="{701963FA-21CC-DB99-E5C9-3120933429F0}"/>
              </a:ext>
            </a:extLst>
          </p:cNvPr>
          <p:cNvSpPr txBox="1"/>
          <p:nvPr/>
        </p:nvSpPr>
        <p:spPr>
          <a:xfrm>
            <a:off x="5580070" y="742973"/>
            <a:ext cx="646331" cy="369332"/>
          </a:xfrm>
          <a:prstGeom prst="rect">
            <a:avLst/>
          </a:prstGeom>
          <a:noFill/>
        </p:spPr>
        <p:txBody>
          <a:bodyPr wrap="none" rtlCol="0">
            <a:spAutoFit/>
          </a:bodyPr>
          <a:lstStyle/>
          <a:p>
            <a:r>
              <a:rPr lang="zh-CN" altLang="en-US" dirty="0"/>
              <a:t>抽样</a:t>
            </a:r>
          </a:p>
        </p:txBody>
      </p:sp>
      <p:sp>
        <p:nvSpPr>
          <p:cNvPr id="24" name="文本框 23">
            <a:extLst>
              <a:ext uri="{FF2B5EF4-FFF2-40B4-BE49-F238E27FC236}">
                <a16:creationId xmlns:a16="http://schemas.microsoft.com/office/drawing/2014/main" id="{621EF963-DC3D-B39C-ED8F-935C1F784E15}"/>
              </a:ext>
            </a:extLst>
          </p:cNvPr>
          <p:cNvSpPr txBox="1"/>
          <p:nvPr/>
        </p:nvSpPr>
        <p:spPr>
          <a:xfrm>
            <a:off x="3626442" y="1503679"/>
            <a:ext cx="1460656" cy="369332"/>
          </a:xfrm>
          <a:prstGeom prst="rect">
            <a:avLst/>
          </a:prstGeom>
          <a:noFill/>
        </p:spPr>
        <p:txBody>
          <a:bodyPr wrap="none" rtlCol="0">
            <a:spAutoFit/>
          </a:bodyPr>
          <a:lstStyle/>
          <a:p>
            <a:r>
              <a:rPr lang="zh-CN" altLang="en-US" dirty="0"/>
              <a:t>数量</a:t>
            </a:r>
            <a:r>
              <a:rPr lang="en-US" altLang="zh-CN" dirty="0"/>
              <a:t>n</a:t>
            </a:r>
            <a:r>
              <a:rPr lang="zh-CN" altLang="en-US" dirty="0"/>
              <a:t>足够大</a:t>
            </a:r>
          </a:p>
        </p:txBody>
      </p:sp>
      <p:pic>
        <p:nvPicPr>
          <p:cNvPr id="26" name="图片 25">
            <a:extLst>
              <a:ext uri="{FF2B5EF4-FFF2-40B4-BE49-F238E27FC236}">
                <a16:creationId xmlns:a16="http://schemas.microsoft.com/office/drawing/2014/main" id="{B77A3125-AF2E-4F76-71B9-F68AB5F3FC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7889" y="1888539"/>
            <a:ext cx="5772082" cy="2960041"/>
          </a:xfrm>
          <a:prstGeom prst="rect">
            <a:avLst/>
          </a:prstGeom>
        </p:spPr>
      </p:pic>
      <p:sp>
        <p:nvSpPr>
          <p:cNvPr id="29" name="文本框 28">
            <a:extLst>
              <a:ext uri="{FF2B5EF4-FFF2-40B4-BE49-F238E27FC236}">
                <a16:creationId xmlns:a16="http://schemas.microsoft.com/office/drawing/2014/main" id="{036830C6-EEAA-32FC-06AA-0FC6D7285D0B}"/>
              </a:ext>
            </a:extLst>
          </p:cNvPr>
          <p:cNvSpPr txBox="1"/>
          <p:nvPr/>
        </p:nvSpPr>
        <p:spPr>
          <a:xfrm>
            <a:off x="6940454" y="1474628"/>
            <a:ext cx="998991" cy="369332"/>
          </a:xfrm>
          <a:prstGeom prst="rect">
            <a:avLst/>
          </a:prstGeom>
          <a:noFill/>
        </p:spPr>
        <p:txBody>
          <a:bodyPr wrap="none" rtlCol="0">
            <a:spAutoFit/>
          </a:bodyPr>
          <a:lstStyle/>
          <a:p>
            <a:r>
              <a:rPr lang="en-US" altLang="zh-CN" dirty="0"/>
              <a:t>p</a:t>
            </a:r>
            <a:r>
              <a:rPr lang="zh-CN" altLang="en-US" dirty="0"/>
              <a:t>足够小</a:t>
            </a:r>
          </a:p>
        </p:txBody>
      </p:sp>
      <p:pic>
        <p:nvPicPr>
          <p:cNvPr id="31" name="图片 30">
            <a:extLst>
              <a:ext uri="{FF2B5EF4-FFF2-40B4-BE49-F238E27FC236}">
                <a16:creationId xmlns:a16="http://schemas.microsoft.com/office/drawing/2014/main" id="{13A599E3-D995-DC31-B7EC-31FC47CDB31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57066" y="2132004"/>
            <a:ext cx="990476" cy="400000"/>
          </a:xfrm>
          <a:prstGeom prst="rect">
            <a:avLst/>
          </a:prstGeom>
        </p:spPr>
      </p:pic>
      <p:sp>
        <p:nvSpPr>
          <p:cNvPr id="33" name="文本框 32">
            <a:extLst>
              <a:ext uri="{FF2B5EF4-FFF2-40B4-BE49-F238E27FC236}">
                <a16:creationId xmlns:a16="http://schemas.microsoft.com/office/drawing/2014/main" id="{290B898F-538B-74A7-5AFA-08C42A2D6319}"/>
              </a:ext>
            </a:extLst>
          </p:cNvPr>
          <p:cNvSpPr txBox="1"/>
          <p:nvPr/>
        </p:nvSpPr>
        <p:spPr>
          <a:xfrm>
            <a:off x="6940454" y="2426831"/>
            <a:ext cx="1414170" cy="830997"/>
          </a:xfrm>
          <a:prstGeom prst="rect">
            <a:avLst/>
          </a:prstGeom>
          <a:noFill/>
        </p:spPr>
        <p:txBody>
          <a:bodyPr wrap="none" rtlCol="0">
            <a:spAutoFit/>
          </a:bodyPr>
          <a:lstStyle/>
          <a:p>
            <a:r>
              <a:rPr lang="zh-CN" altLang="en-US" sz="1600" dirty="0"/>
              <a:t>期望：</a:t>
            </a:r>
            <a:r>
              <a:rPr lang="en-US" altLang="zh-CN" sz="1600" dirty="0"/>
              <a:t>np</a:t>
            </a:r>
          </a:p>
          <a:p>
            <a:r>
              <a:rPr lang="zh-CN" altLang="en-US" sz="1600" dirty="0"/>
              <a:t>方差：</a:t>
            </a:r>
            <a:r>
              <a:rPr lang="en-US" altLang="zh-CN" sz="1600" dirty="0"/>
              <a:t>np(1-p)</a:t>
            </a:r>
          </a:p>
          <a:p>
            <a:r>
              <a:rPr lang="en-US" altLang="zh-CN" sz="1600" dirty="0"/>
              <a:t>Var &lt; μ</a:t>
            </a:r>
            <a:endParaRPr lang="zh-CN" altLang="en-US" sz="1600" dirty="0"/>
          </a:p>
        </p:txBody>
      </p:sp>
      <p:pic>
        <p:nvPicPr>
          <p:cNvPr id="2050" name="Picture 2">
            <a:extLst>
              <a:ext uri="{FF2B5EF4-FFF2-40B4-BE49-F238E27FC236}">
                <a16:creationId xmlns:a16="http://schemas.microsoft.com/office/drawing/2014/main" id="{ACAFFAFA-BA6E-11A5-8E14-CD53BE0F9A0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588140" y="3368559"/>
            <a:ext cx="2410005" cy="16040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9143409"/>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9" grpId="0"/>
      <p:bldP spid="3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B224D-AC0D-F149-DD38-75307FE1878F}"/>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7032C6A1-2C45-1FB3-B614-B6087B7B25AF}"/>
              </a:ext>
            </a:extLst>
          </p:cNvPr>
          <p:cNvPicPr/>
          <p:nvPr/>
        </p:nvPicPr>
        <p:blipFill>
          <a:blip r:embed="rId3"/>
          <a:srcRect l="58723" t="23241" r="25787" b="64119"/>
          <a:stretch>
            <a:fillRect/>
          </a:stretch>
        </p:blipFill>
        <p:spPr>
          <a:xfrm>
            <a:off x="3563930" y="855634"/>
            <a:ext cx="1401340" cy="720045"/>
          </a:xfrm>
          <a:prstGeom prst="rect">
            <a:avLst/>
          </a:prstGeom>
          <a:noFill/>
          <a:ln w="9525">
            <a:noFill/>
          </a:ln>
        </p:spPr>
      </p:pic>
      <p:grpSp>
        <p:nvGrpSpPr>
          <p:cNvPr id="23" name="组合 22">
            <a:extLst>
              <a:ext uri="{FF2B5EF4-FFF2-40B4-BE49-F238E27FC236}">
                <a16:creationId xmlns:a16="http://schemas.microsoft.com/office/drawing/2014/main" id="{6DFC7489-BFFD-E7E1-99D6-8CC68D4F80FF}"/>
              </a:ext>
            </a:extLst>
          </p:cNvPr>
          <p:cNvGrpSpPr/>
          <p:nvPr/>
        </p:nvGrpSpPr>
        <p:grpSpPr>
          <a:xfrm>
            <a:off x="395710" y="927639"/>
            <a:ext cx="1512105" cy="576040"/>
            <a:chOff x="1979820" y="915635"/>
            <a:chExt cx="1512105" cy="576040"/>
          </a:xfrm>
        </p:grpSpPr>
        <p:cxnSp>
          <p:nvCxnSpPr>
            <p:cNvPr id="10" name="直接连接符 9">
              <a:extLst>
                <a:ext uri="{FF2B5EF4-FFF2-40B4-BE49-F238E27FC236}">
                  <a16:creationId xmlns:a16="http://schemas.microsoft.com/office/drawing/2014/main" id="{FEF63455-FAAD-2555-AC8A-F3A06C87CC88}"/>
                </a:ext>
              </a:extLst>
            </p:cNvPr>
            <p:cNvCxnSpPr/>
            <p:nvPr/>
          </p:nvCxnSpPr>
          <p:spPr>
            <a:xfrm>
              <a:off x="1979820" y="1059645"/>
              <a:ext cx="1512105" cy="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126E85E3-4FE2-D157-377D-7D934EFF966E}"/>
                </a:ext>
              </a:extLst>
            </p:cNvPr>
            <p:cNvCxnSpPr/>
            <p:nvPr/>
          </p:nvCxnSpPr>
          <p:spPr>
            <a:xfrm>
              <a:off x="1979820" y="1275660"/>
              <a:ext cx="1116000" cy="0"/>
            </a:xfrm>
            <a:prstGeom prst="line">
              <a:avLst/>
            </a:prstGeom>
            <a:ln w="317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80D2DA63-991D-1AE8-1823-80A005384647}"/>
                </a:ext>
              </a:extLst>
            </p:cNvPr>
            <p:cNvCxnSpPr/>
            <p:nvPr/>
          </p:nvCxnSpPr>
          <p:spPr>
            <a:xfrm>
              <a:off x="1979820" y="1491675"/>
              <a:ext cx="1296000" cy="0"/>
            </a:xfrm>
            <a:prstGeom prst="line">
              <a:avLst/>
            </a:prstGeom>
            <a:ln w="317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D7AB5BE3-41FC-FC79-46C5-58F3BE045963}"/>
                </a:ext>
              </a:extLst>
            </p:cNvPr>
            <p:cNvCxnSpPr/>
            <p:nvPr/>
          </p:nvCxnSpPr>
          <p:spPr>
            <a:xfrm>
              <a:off x="1979820" y="915635"/>
              <a:ext cx="1512105" cy="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65D6A54B-A666-F1AA-E01F-31649961A284}"/>
                </a:ext>
              </a:extLst>
            </p:cNvPr>
            <p:cNvCxnSpPr/>
            <p:nvPr/>
          </p:nvCxnSpPr>
          <p:spPr>
            <a:xfrm>
              <a:off x="1979820" y="1380917"/>
              <a:ext cx="1116000" cy="0"/>
            </a:xfrm>
            <a:prstGeom prst="line">
              <a:avLst/>
            </a:prstGeom>
            <a:ln w="31750">
              <a:solidFill>
                <a:srgbClr val="00B0F0"/>
              </a:solidFill>
            </a:ln>
          </p:spPr>
          <p:style>
            <a:lnRef idx="1">
              <a:schemeClr val="accent1"/>
            </a:lnRef>
            <a:fillRef idx="0">
              <a:schemeClr val="accent1"/>
            </a:fillRef>
            <a:effectRef idx="0">
              <a:schemeClr val="accent1"/>
            </a:effectRef>
            <a:fontRef idx="minor">
              <a:schemeClr val="tx1"/>
            </a:fontRef>
          </p:style>
        </p:cxnSp>
      </p:grpSp>
      <p:cxnSp>
        <p:nvCxnSpPr>
          <p:cNvPr id="16" name="直接箭头连接符 15">
            <a:extLst>
              <a:ext uri="{FF2B5EF4-FFF2-40B4-BE49-F238E27FC236}">
                <a16:creationId xmlns:a16="http://schemas.microsoft.com/office/drawing/2014/main" id="{B650071E-DE74-550D-7DAA-BB670A46CCAB}"/>
              </a:ext>
            </a:extLst>
          </p:cNvPr>
          <p:cNvCxnSpPr/>
          <p:nvPr/>
        </p:nvCxnSpPr>
        <p:spPr>
          <a:xfrm>
            <a:off x="2483855" y="1215656"/>
            <a:ext cx="936065" cy="0"/>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2DB35C0B-CCDF-65F8-C49C-FE28BFB4E4A1}"/>
              </a:ext>
            </a:extLst>
          </p:cNvPr>
          <p:cNvCxnSpPr>
            <a:cxnSpLocks/>
          </p:cNvCxnSpPr>
          <p:nvPr/>
        </p:nvCxnSpPr>
        <p:spPr>
          <a:xfrm>
            <a:off x="5292140" y="1215656"/>
            <a:ext cx="1223995" cy="0"/>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pic>
        <p:nvPicPr>
          <p:cNvPr id="21" name="图片 20">
            <a:extLst>
              <a:ext uri="{FF2B5EF4-FFF2-40B4-BE49-F238E27FC236}">
                <a16:creationId xmlns:a16="http://schemas.microsoft.com/office/drawing/2014/main" id="{F37D7629-9B70-D90D-1B8E-345B4FC2B39D}"/>
              </a:ext>
            </a:extLst>
          </p:cNvPr>
          <p:cNvPicPr/>
          <p:nvPr/>
        </p:nvPicPr>
        <p:blipFill>
          <a:blip r:embed="rId3"/>
          <a:srcRect l="58723" t="23240" r="30930" b="69176"/>
          <a:stretch/>
        </p:blipFill>
        <p:spPr>
          <a:xfrm>
            <a:off x="6948165" y="1042606"/>
            <a:ext cx="936065" cy="432023"/>
          </a:xfrm>
          <a:prstGeom prst="rect">
            <a:avLst/>
          </a:prstGeom>
          <a:noFill/>
          <a:ln w="9525">
            <a:noFill/>
          </a:ln>
        </p:spPr>
      </p:pic>
      <p:sp>
        <p:nvSpPr>
          <p:cNvPr id="22" name="文本框 21">
            <a:extLst>
              <a:ext uri="{FF2B5EF4-FFF2-40B4-BE49-F238E27FC236}">
                <a16:creationId xmlns:a16="http://schemas.microsoft.com/office/drawing/2014/main" id="{FB4307B7-F3B4-75DD-062C-517F8CE8946D}"/>
              </a:ext>
            </a:extLst>
          </p:cNvPr>
          <p:cNvSpPr txBox="1"/>
          <p:nvPr/>
        </p:nvSpPr>
        <p:spPr>
          <a:xfrm>
            <a:off x="5580070" y="742973"/>
            <a:ext cx="646331" cy="369332"/>
          </a:xfrm>
          <a:prstGeom prst="rect">
            <a:avLst/>
          </a:prstGeom>
          <a:noFill/>
        </p:spPr>
        <p:txBody>
          <a:bodyPr wrap="none" rtlCol="0">
            <a:spAutoFit/>
          </a:bodyPr>
          <a:lstStyle/>
          <a:p>
            <a:r>
              <a:rPr lang="zh-CN" altLang="en-US" dirty="0"/>
              <a:t>抽样</a:t>
            </a:r>
          </a:p>
        </p:txBody>
      </p:sp>
      <p:sp>
        <p:nvSpPr>
          <p:cNvPr id="24" name="文本框 23">
            <a:extLst>
              <a:ext uri="{FF2B5EF4-FFF2-40B4-BE49-F238E27FC236}">
                <a16:creationId xmlns:a16="http://schemas.microsoft.com/office/drawing/2014/main" id="{5A9B9318-50C4-088E-B01E-5BF5D27A0B69}"/>
              </a:ext>
            </a:extLst>
          </p:cNvPr>
          <p:cNvSpPr txBox="1"/>
          <p:nvPr/>
        </p:nvSpPr>
        <p:spPr>
          <a:xfrm>
            <a:off x="3626442" y="1503679"/>
            <a:ext cx="1460656" cy="369332"/>
          </a:xfrm>
          <a:prstGeom prst="rect">
            <a:avLst/>
          </a:prstGeom>
          <a:noFill/>
        </p:spPr>
        <p:txBody>
          <a:bodyPr wrap="none" rtlCol="0">
            <a:spAutoFit/>
          </a:bodyPr>
          <a:lstStyle/>
          <a:p>
            <a:r>
              <a:rPr lang="zh-CN" altLang="en-US" dirty="0"/>
              <a:t>数量</a:t>
            </a:r>
            <a:r>
              <a:rPr lang="en-US" altLang="zh-CN" dirty="0"/>
              <a:t>n</a:t>
            </a:r>
            <a:r>
              <a:rPr lang="zh-CN" altLang="en-US" dirty="0"/>
              <a:t>足够大</a:t>
            </a:r>
          </a:p>
        </p:txBody>
      </p:sp>
      <p:sp>
        <p:nvSpPr>
          <p:cNvPr id="29" name="文本框 28">
            <a:extLst>
              <a:ext uri="{FF2B5EF4-FFF2-40B4-BE49-F238E27FC236}">
                <a16:creationId xmlns:a16="http://schemas.microsoft.com/office/drawing/2014/main" id="{33FCE502-6240-6FE5-0C05-374453FCBEC7}"/>
              </a:ext>
            </a:extLst>
          </p:cNvPr>
          <p:cNvSpPr txBox="1"/>
          <p:nvPr/>
        </p:nvSpPr>
        <p:spPr>
          <a:xfrm>
            <a:off x="6940454" y="1474628"/>
            <a:ext cx="998991" cy="369332"/>
          </a:xfrm>
          <a:prstGeom prst="rect">
            <a:avLst/>
          </a:prstGeom>
          <a:noFill/>
        </p:spPr>
        <p:txBody>
          <a:bodyPr wrap="none" rtlCol="0">
            <a:spAutoFit/>
          </a:bodyPr>
          <a:lstStyle/>
          <a:p>
            <a:r>
              <a:rPr lang="en-US" altLang="zh-CN" dirty="0"/>
              <a:t>p</a:t>
            </a:r>
            <a:r>
              <a:rPr lang="zh-CN" altLang="en-US" dirty="0"/>
              <a:t>足够小</a:t>
            </a:r>
          </a:p>
        </p:txBody>
      </p:sp>
      <p:pic>
        <p:nvPicPr>
          <p:cNvPr id="6" name="图片 5">
            <a:extLst>
              <a:ext uri="{FF2B5EF4-FFF2-40B4-BE49-F238E27FC236}">
                <a16:creationId xmlns:a16="http://schemas.microsoft.com/office/drawing/2014/main" id="{015383D3-5403-B67C-4E5D-22BB783C30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8775" y="1830493"/>
            <a:ext cx="5652780" cy="3093752"/>
          </a:xfrm>
          <a:prstGeom prst="rect">
            <a:avLst/>
          </a:prstGeom>
        </p:spPr>
      </p:pic>
      <p:pic>
        <p:nvPicPr>
          <p:cNvPr id="1026" name="Picture 2" descr="泊松分布的期望E(x)、方差D(x)推导与证明过程">
            <a:extLst>
              <a:ext uri="{FF2B5EF4-FFF2-40B4-BE49-F238E27FC236}">
                <a16:creationId xmlns:a16="http://schemas.microsoft.com/office/drawing/2014/main" id="{AC362A07-4AB0-7EFA-B317-D1FC29BC4DE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56110" y="2864829"/>
            <a:ext cx="2892451" cy="2126030"/>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0B9EEF4A-8A60-3A55-0476-35C0CB6A8A50}"/>
              </a:ext>
            </a:extLst>
          </p:cNvPr>
          <p:cNvSpPr txBox="1"/>
          <p:nvPr/>
        </p:nvSpPr>
        <p:spPr>
          <a:xfrm>
            <a:off x="6948299" y="1938896"/>
            <a:ext cx="987771" cy="830997"/>
          </a:xfrm>
          <a:prstGeom prst="rect">
            <a:avLst/>
          </a:prstGeom>
          <a:noFill/>
        </p:spPr>
        <p:txBody>
          <a:bodyPr wrap="none" rtlCol="0">
            <a:spAutoFit/>
          </a:bodyPr>
          <a:lstStyle/>
          <a:p>
            <a:r>
              <a:rPr lang="zh-CN" altLang="en-US" sz="1600" dirty="0"/>
              <a:t>期望：</a:t>
            </a:r>
            <a:r>
              <a:rPr lang="en-US" altLang="zh-CN" sz="1600" dirty="0"/>
              <a:t>λ</a:t>
            </a:r>
          </a:p>
          <a:p>
            <a:r>
              <a:rPr lang="zh-CN" altLang="en-US" sz="1600" dirty="0"/>
              <a:t>方差：</a:t>
            </a:r>
            <a:r>
              <a:rPr lang="en-US" altLang="zh-CN" sz="1600" dirty="0"/>
              <a:t> λ </a:t>
            </a:r>
          </a:p>
          <a:p>
            <a:r>
              <a:rPr lang="en-US" altLang="zh-CN" sz="1600" dirty="0"/>
              <a:t>Var = μ</a:t>
            </a:r>
            <a:endParaRPr lang="zh-CN" altLang="en-US" sz="1600" dirty="0"/>
          </a:p>
        </p:txBody>
      </p:sp>
    </p:spTree>
    <p:extLst>
      <p:ext uri="{BB962C8B-B14F-4D97-AF65-F5344CB8AC3E}">
        <p14:creationId xmlns:p14="http://schemas.microsoft.com/office/powerpoint/2010/main" val="1583172392"/>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CBB4C-D933-7DA8-9CB5-9AF5E8C579B0}"/>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64760936-525A-DA5A-CABE-057AEBC16AE0}"/>
              </a:ext>
            </a:extLst>
          </p:cNvPr>
          <p:cNvPicPr/>
          <p:nvPr/>
        </p:nvPicPr>
        <p:blipFill>
          <a:blip r:embed="rId3"/>
          <a:srcRect l="58723" t="23241" r="25787" b="64119"/>
          <a:stretch>
            <a:fillRect/>
          </a:stretch>
        </p:blipFill>
        <p:spPr>
          <a:xfrm>
            <a:off x="3563930" y="855634"/>
            <a:ext cx="1401340" cy="720045"/>
          </a:xfrm>
          <a:prstGeom prst="rect">
            <a:avLst/>
          </a:prstGeom>
          <a:noFill/>
          <a:ln w="9525">
            <a:noFill/>
          </a:ln>
        </p:spPr>
      </p:pic>
      <p:grpSp>
        <p:nvGrpSpPr>
          <p:cNvPr id="23" name="组合 22">
            <a:extLst>
              <a:ext uri="{FF2B5EF4-FFF2-40B4-BE49-F238E27FC236}">
                <a16:creationId xmlns:a16="http://schemas.microsoft.com/office/drawing/2014/main" id="{07C3E5DE-64F6-4FFB-FBA8-6486F00F8987}"/>
              </a:ext>
            </a:extLst>
          </p:cNvPr>
          <p:cNvGrpSpPr/>
          <p:nvPr/>
        </p:nvGrpSpPr>
        <p:grpSpPr>
          <a:xfrm>
            <a:off x="395710" y="927639"/>
            <a:ext cx="1512105" cy="576040"/>
            <a:chOff x="1979820" y="915635"/>
            <a:chExt cx="1512105" cy="576040"/>
          </a:xfrm>
        </p:grpSpPr>
        <p:cxnSp>
          <p:nvCxnSpPr>
            <p:cNvPr id="10" name="直接连接符 9">
              <a:extLst>
                <a:ext uri="{FF2B5EF4-FFF2-40B4-BE49-F238E27FC236}">
                  <a16:creationId xmlns:a16="http://schemas.microsoft.com/office/drawing/2014/main" id="{FF5090FF-63F2-5A75-8714-B5BF20D761F3}"/>
                </a:ext>
              </a:extLst>
            </p:cNvPr>
            <p:cNvCxnSpPr/>
            <p:nvPr/>
          </p:nvCxnSpPr>
          <p:spPr>
            <a:xfrm>
              <a:off x="1979820" y="1059645"/>
              <a:ext cx="1512105" cy="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CDC3E751-E3AD-AF41-BF62-0CA85A0C3237}"/>
                </a:ext>
              </a:extLst>
            </p:cNvPr>
            <p:cNvCxnSpPr/>
            <p:nvPr/>
          </p:nvCxnSpPr>
          <p:spPr>
            <a:xfrm>
              <a:off x="1979820" y="1275660"/>
              <a:ext cx="1116000" cy="0"/>
            </a:xfrm>
            <a:prstGeom prst="line">
              <a:avLst/>
            </a:prstGeom>
            <a:ln w="317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2495F7E2-58DC-3EB3-63F1-E506A8FB77F6}"/>
                </a:ext>
              </a:extLst>
            </p:cNvPr>
            <p:cNvCxnSpPr/>
            <p:nvPr/>
          </p:nvCxnSpPr>
          <p:spPr>
            <a:xfrm>
              <a:off x="1979820" y="1491675"/>
              <a:ext cx="1296000" cy="0"/>
            </a:xfrm>
            <a:prstGeom prst="line">
              <a:avLst/>
            </a:prstGeom>
            <a:ln w="317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51280AC7-F04D-2A28-2B13-4EF12C106B81}"/>
                </a:ext>
              </a:extLst>
            </p:cNvPr>
            <p:cNvCxnSpPr/>
            <p:nvPr/>
          </p:nvCxnSpPr>
          <p:spPr>
            <a:xfrm>
              <a:off x="1979820" y="915635"/>
              <a:ext cx="1512105" cy="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212AA05C-EE5A-10D7-4F71-01048E06D78B}"/>
                </a:ext>
              </a:extLst>
            </p:cNvPr>
            <p:cNvCxnSpPr/>
            <p:nvPr/>
          </p:nvCxnSpPr>
          <p:spPr>
            <a:xfrm>
              <a:off x="1979820" y="1380917"/>
              <a:ext cx="1116000" cy="0"/>
            </a:xfrm>
            <a:prstGeom prst="line">
              <a:avLst/>
            </a:prstGeom>
            <a:ln w="31750">
              <a:solidFill>
                <a:srgbClr val="00B0F0"/>
              </a:solidFill>
            </a:ln>
          </p:spPr>
          <p:style>
            <a:lnRef idx="1">
              <a:schemeClr val="accent1"/>
            </a:lnRef>
            <a:fillRef idx="0">
              <a:schemeClr val="accent1"/>
            </a:fillRef>
            <a:effectRef idx="0">
              <a:schemeClr val="accent1"/>
            </a:effectRef>
            <a:fontRef idx="minor">
              <a:schemeClr val="tx1"/>
            </a:fontRef>
          </p:style>
        </p:cxnSp>
      </p:grpSp>
      <p:cxnSp>
        <p:nvCxnSpPr>
          <p:cNvPr id="16" name="直接箭头连接符 15">
            <a:extLst>
              <a:ext uri="{FF2B5EF4-FFF2-40B4-BE49-F238E27FC236}">
                <a16:creationId xmlns:a16="http://schemas.microsoft.com/office/drawing/2014/main" id="{28495139-9A08-2B76-565A-0207A461F915}"/>
              </a:ext>
            </a:extLst>
          </p:cNvPr>
          <p:cNvCxnSpPr/>
          <p:nvPr/>
        </p:nvCxnSpPr>
        <p:spPr>
          <a:xfrm>
            <a:off x="2483855" y="1215656"/>
            <a:ext cx="936065" cy="0"/>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36296E18-A3B3-EFB6-81BD-95D053349E97}"/>
              </a:ext>
            </a:extLst>
          </p:cNvPr>
          <p:cNvCxnSpPr>
            <a:cxnSpLocks/>
          </p:cNvCxnSpPr>
          <p:nvPr/>
        </p:nvCxnSpPr>
        <p:spPr>
          <a:xfrm>
            <a:off x="5292140" y="1215656"/>
            <a:ext cx="1223995" cy="0"/>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pic>
        <p:nvPicPr>
          <p:cNvPr id="21" name="图片 20">
            <a:extLst>
              <a:ext uri="{FF2B5EF4-FFF2-40B4-BE49-F238E27FC236}">
                <a16:creationId xmlns:a16="http://schemas.microsoft.com/office/drawing/2014/main" id="{4C727288-1D5E-B237-F974-23802ED9F230}"/>
              </a:ext>
            </a:extLst>
          </p:cNvPr>
          <p:cNvPicPr/>
          <p:nvPr/>
        </p:nvPicPr>
        <p:blipFill>
          <a:blip r:embed="rId3"/>
          <a:srcRect l="58723" t="23240" r="30930" b="69176"/>
          <a:stretch/>
        </p:blipFill>
        <p:spPr>
          <a:xfrm>
            <a:off x="6948165" y="1042606"/>
            <a:ext cx="936065" cy="432023"/>
          </a:xfrm>
          <a:prstGeom prst="rect">
            <a:avLst/>
          </a:prstGeom>
          <a:noFill/>
          <a:ln w="9525">
            <a:noFill/>
          </a:ln>
        </p:spPr>
      </p:pic>
      <p:sp>
        <p:nvSpPr>
          <p:cNvPr id="22" name="文本框 21">
            <a:extLst>
              <a:ext uri="{FF2B5EF4-FFF2-40B4-BE49-F238E27FC236}">
                <a16:creationId xmlns:a16="http://schemas.microsoft.com/office/drawing/2014/main" id="{437CCA16-6B0A-00C8-9426-77779CDC3317}"/>
              </a:ext>
            </a:extLst>
          </p:cNvPr>
          <p:cNvSpPr txBox="1"/>
          <p:nvPr/>
        </p:nvSpPr>
        <p:spPr>
          <a:xfrm>
            <a:off x="5580070" y="742973"/>
            <a:ext cx="646331" cy="369332"/>
          </a:xfrm>
          <a:prstGeom prst="rect">
            <a:avLst/>
          </a:prstGeom>
          <a:noFill/>
        </p:spPr>
        <p:txBody>
          <a:bodyPr wrap="none" rtlCol="0">
            <a:spAutoFit/>
          </a:bodyPr>
          <a:lstStyle/>
          <a:p>
            <a:r>
              <a:rPr lang="zh-CN" altLang="en-US" dirty="0"/>
              <a:t>抽样</a:t>
            </a:r>
          </a:p>
        </p:txBody>
      </p:sp>
      <p:sp>
        <p:nvSpPr>
          <p:cNvPr id="7" name="文本框 6">
            <a:extLst>
              <a:ext uri="{FF2B5EF4-FFF2-40B4-BE49-F238E27FC236}">
                <a16:creationId xmlns:a16="http://schemas.microsoft.com/office/drawing/2014/main" id="{419CC448-55B7-C83C-1735-B85A9CAA2883}"/>
              </a:ext>
            </a:extLst>
          </p:cNvPr>
          <p:cNvSpPr txBox="1"/>
          <p:nvPr/>
        </p:nvSpPr>
        <p:spPr>
          <a:xfrm>
            <a:off x="6948299" y="1938896"/>
            <a:ext cx="1313565" cy="830997"/>
          </a:xfrm>
          <a:prstGeom prst="rect">
            <a:avLst/>
          </a:prstGeom>
          <a:noFill/>
        </p:spPr>
        <p:txBody>
          <a:bodyPr wrap="none" rtlCol="0">
            <a:spAutoFit/>
          </a:bodyPr>
          <a:lstStyle/>
          <a:p>
            <a:r>
              <a:rPr lang="zh-CN" altLang="en-US" sz="1600" dirty="0"/>
              <a:t>期望：</a:t>
            </a:r>
            <a:r>
              <a:rPr lang="en-US" altLang="zh-CN" sz="1600" dirty="0" err="1"/>
              <a:t>rq</a:t>
            </a:r>
            <a:r>
              <a:rPr lang="en-US" altLang="zh-CN" sz="1600" dirty="0"/>
              <a:t>/p</a:t>
            </a:r>
          </a:p>
          <a:p>
            <a:r>
              <a:rPr lang="zh-CN" altLang="en-US" sz="1600" dirty="0"/>
              <a:t>方差：</a:t>
            </a:r>
            <a:r>
              <a:rPr lang="en-US" altLang="zh-CN" sz="1600" dirty="0"/>
              <a:t> </a:t>
            </a:r>
            <a:r>
              <a:rPr lang="en-US" altLang="zh-CN" sz="1600" dirty="0" err="1"/>
              <a:t>rq</a:t>
            </a:r>
            <a:r>
              <a:rPr lang="en-US" altLang="zh-CN" sz="1600" dirty="0"/>
              <a:t>/p2</a:t>
            </a:r>
          </a:p>
          <a:p>
            <a:r>
              <a:rPr lang="en-US" altLang="zh-CN" sz="1600" dirty="0"/>
              <a:t>Var &gt; μ</a:t>
            </a:r>
            <a:endParaRPr lang="zh-CN" altLang="en-US" sz="1600" dirty="0"/>
          </a:p>
        </p:txBody>
      </p:sp>
      <p:pic>
        <p:nvPicPr>
          <p:cNvPr id="5" name="图片 4">
            <a:extLst>
              <a:ext uri="{FF2B5EF4-FFF2-40B4-BE49-F238E27FC236}">
                <a16:creationId xmlns:a16="http://schemas.microsoft.com/office/drawing/2014/main" id="{F831F5C8-3C5B-37D5-7A42-A0D0FDC0FC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8967" y="1950962"/>
            <a:ext cx="5761905" cy="1285714"/>
          </a:xfrm>
          <a:prstGeom prst="rect">
            <a:avLst/>
          </a:prstGeom>
        </p:spPr>
      </p:pic>
      <p:sp>
        <p:nvSpPr>
          <p:cNvPr id="15" name="文本框 14">
            <a:extLst>
              <a:ext uri="{FF2B5EF4-FFF2-40B4-BE49-F238E27FC236}">
                <a16:creationId xmlns:a16="http://schemas.microsoft.com/office/drawing/2014/main" id="{ABA048CC-EFC8-A024-E6A4-69786E577D39}"/>
              </a:ext>
            </a:extLst>
          </p:cNvPr>
          <p:cNvSpPr txBox="1"/>
          <p:nvPr/>
        </p:nvSpPr>
        <p:spPr>
          <a:xfrm>
            <a:off x="596608" y="3442682"/>
            <a:ext cx="3667992" cy="338554"/>
          </a:xfrm>
          <a:prstGeom prst="rect">
            <a:avLst/>
          </a:prstGeom>
          <a:noFill/>
        </p:spPr>
        <p:txBody>
          <a:bodyPr wrap="none" rtlCol="0">
            <a:spAutoFit/>
          </a:bodyPr>
          <a:lstStyle/>
          <a:p>
            <a:r>
              <a:rPr lang="en-US" altLang="zh-CN" sz="1600" dirty="0"/>
              <a:t>r </a:t>
            </a:r>
            <a:r>
              <a:rPr lang="zh-CN" altLang="en-US" sz="1600" dirty="0"/>
              <a:t>→ ∞，</a:t>
            </a:r>
            <a:r>
              <a:rPr lang="en-US" altLang="zh-CN" sz="1600" dirty="0"/>
              <a:t>p</a:t>
            </a:r>
            <a:r>
              <a:rPr lang="zh-CN" altLang="en-US" sz="1600" dirty="0"/>
              <a:t>→</a:t>
            </a:r>
            <a:r>
              <a:rPr lang="en-US" altLang="zh-CN" sz="1600" dirty="0"/>
              <a:t>0,</a:t>
            </a:r>
            <a:r>
              <a:rPr lang="zh-CN" altLang="en-US" sz="1600" dirty="0"/>
              <a:t> 负二项分布近似泊松分布</a:t>
            </a:r>
          </a:p>
        </p:txBody>
      </p:sp>
      <p:pic>
        <p:nvPicPr>
          <p:cNvPr id="4101" name="Picture 5">
            <a:extLst>
              <a:ext uri="{FF2B5EF4-FFF2-40B4-BE49-F238E27FC236}">
                <a16:creationId xmlns:a16="http://schemas.microsoft.com/office/drawing/2014/main" id="{3C9ABAF4-D756-D4BF-EEE2-E44CB5CD478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98330" y="3004528"/>
            <a:ext cx="2534549" cy="1945496"/>
          </a:xfrm>
          <a:prstGeom prst="rect">
            <a:avLst/>
          </a:prstGeom>
          <a:noFill/>
          <a:extLst>
            <a:ext uri="{909E8E84-426E-40DD-AFC4-6F175D3DCCD1}">
              <a14:hiddenFill xmlns:a14="http://schemas.microsoft.com/office/drawing/2010/main">
                <a:solidFill>
                  <a:srgbClr val="FFFFFF"/>
                </a:solidFill>
              </a14:hiddenFill>
            </a:ext>
          </a:extLst>
        </p:spPr>
      </p:pic>
      <p:pic>
        <p:nvPicPr>
          <p:cNvPr id="4103" name="Picture 7">
            <a:extLst>
              <a:ext uri="{FF2B5EF4-FFF2-40B4-BE49-F238E27FC236}">
                <a16:creationId xmlns:a16="http://schemas.microsoft.com/office/drawing/2014/main" id="{F9978C23-6E84-2350-4857-94969ADADFD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809299" y="3116921"/>
            <a:ext cx="2260291" cy="1720710"/>
          </a:xfrm>
          <a:prstGeom prst="rect">
            <a:avLst/>
          </a:prstGeom>
          <a:noFill/>
          <a:extLst>
            <a:ext uri="{909E8E84-426E-40DD-AFC4-6F175D3DCCD1}">
              <a14:hiddenFill xmlns:a14="http://schemas.microsoft.com/office/drawing/2010/main">
                <a:solidFill>
                  <a:srgbClr val="FFFFFF"/>
                </a:solidFill>
              </a14:hiddenFill>
            </a:ext>
          </a:extLst>
        </p:spPr>
      </p:pic>
      <p:pic>
        <p:nvPicPr>
          <p:cNvPr id="18" name="图片 17">
            <a:extLst>
              <a:ext uri="{FF2B5EF4-FFF2-40B4-BE49-F238E27FC236}">
                <a16:creationId xmlns:a16="http://schemas.microsoft.com/office/drawing/2014/main" id="{A0A19495-4B48-20A7-153A-EDBD60AEFEB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64600" y="2521056"/>
            <a:ext cx="2468941" cy="2554632"/>
          </a:xfrm>
          <a:prstGeom prst="rect">
            <a:avLst/>
          </a:prstGeom>
        </p:spPr>
      </p:pic>
    </p:spTree>
    <p:extLst>
      <p:ext uri="{BB962C8B-B14F-4D97-AF65-F5344CB8AC3E}">
        <p14:creationId xmlns:p14="http://schemas.microsoft.com/office/powerpoint/2010/main" val="2299252973"/>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3E5CF9DD-C324-94D0-A4B1-D758D29E48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695" y="993964"/>
            <a:ext cx="8632105" cy="3377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3761737"/>
      </p:ext>
    </p:extLst>
  </p:cSld>
  <p:clrMapOvr>
    <a:masterClrMapping/>
  </p:clrMapOvr>
  <p:transition>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RNA-</a:t>
            </a:r>
            <a:r>
              <a:rPr lang="en-US" dirty="0" err="1"/>
              <a:t>seq</a:t>
            </a:r>
            <a:r>
              <a:rPr lang="en-US" dirty="0"/>
              <a:t> </a:t>
            </a:r>
            <a:r>
              <a:rPr lang="en-US" altLang="zh-CN" dirty="0"/>
              <a:t>pipeline</a:t>
            </a:r>
            <a:endParaRPr lang="en-GB" dirty="0"/>
          </a:p>
        </p:txBody>
      </p:sp>
      <p:pic>
        <p:nvPicPr>
          <p:cNvPr id="4" name="内容占位符 3"/>
          <p:cNvPicPr>
            <a:picLocks noGrp="1" noChangeAspect="1"/>
          </p:cNvPicPr>
          <p:nvPr>
            <p:ph idx="1"/>
          </p:nvPr>
        </p:nvPicPr>
        <p:blipFill>
          <a:blip r:embed="rId2"/>
          <a:stretch>
            <a:fillRect/>
          </a:stretch>
        </p:blipFill>
        <p:spPr>
          <a:xfrm>
            <a:off x="1078306" y="843630"/>
            <a:ext cx="6987388" cy="3816265"/>
          </a:xfrm>
          <a:prstGeom prst="rect">
            <a:avLst/>
          </a:prstGeom>
        </p:spPr>
      </p:pic>
      <p:sp>
        <p:nvSpPr>
          <p:cNvPr id="3" name="矩形 2">
            <a:extLst>
              <a:ext uri="{FF2B5EF4-FFF2-40B4-BE49-F238E27FC236}">
                <a16:creationId xmlns:a16="http://schemas.microsoft.com/office/drawing/2014/main" id="{83D2C418-BA6E-1251-0D28-A9A9834D702A}"/>
              </a:ext>
            </a:extLst>
          </p:cNvPr>
          <p:cNvSpPr/>
          <p:nvPr/>
        </p:nvSpPr>
        <p:spPr>
          <a:xfrm>
            <a:off x="5436060" y="3507815"/>
            <a:ext cx="2592180" cy="122408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39299466"/>
      </p:ext>
    </p:extLst>
  </p:cSld>
  <p:clrMapOvr>
    <a:masterClrMapping/>
  </p:clrMapOvr>
  <p:transition>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RNA-</a:t>
            </a:r>
            <a:r>
              <a:rPr lang="en-US" dirty="0" err="1"/>
              <a:t>seq</a:t>
            </a:r>
            <a:r>
              <a:rPr lang="en-US" dirty="0"/>
              <a:t> </a:t>
            </a:r>
            <a:r>
              <a:rPr lang="en-US" altLang="zh-CN" dirty="0"/>
              <a:t>pipeline</a:t>
            </a:r>
            <a:endParaRPr lang="en-GB" dirty="0"/>
          </a:p>
        </p:txBody>
      </p:sp>
      <p:sp>
        <p:nvSpPr>
          <p:cNvPr id="4" name="任意多边形 3"/>
          <p:cNvSpPr/>
          <p:nvPr>
            <p:custDataLst>
              <p:tags r:id="rId1"/>
            </p:custDataLst>
          </p:nvPr>
        </p:nvSpPr>
        <p:spPr>
          <a:xfrm>
            <a:off x="1419611" y="2038524"/>
            <a:ext cx="5767034" cy="1137587"/>
          </a:xfrm>
          <a:custGeom>
            <a:avLst/>
            <a:gdLst>
              <a:gd name="connsiteX0" fmla="*/ 0 w 7013359"/>
              <a:gd name="connsiteY0" fmla="*/ 1420427 h 1420427"/>
              <a:gd name="connsiteX1" fmla="*/ 1420427 w 7013359"/>
              <a:gd name="connsiteY1" fmla="*/ 790113 h 1420427"/>
              <a:gd name="connsiteX2" fmla="*/ 7013359 w 7013359"/>
              <a:gd name="connsiteY2" fmla="*/ 0 h 1420427"/>
              <a:gd name="connsiteX3" fmla="*/ 7013359 w 7013359"/>
              <a:gd name="connsiteY3" fmla="*/ 0 h 1420427"/>
              <a:gd name="connsiteX0-1" fmla="*/ 0 w 7013359"/>
              <a:gd name="connsiteY0-2" fmla="*/ 1420427 h 1420427"/>
              <a:gd name="connsiteX1-3" fmla="*/ 1313894 w 7013359"/>
              <a:gd name="connsiteY1-4" fmla="*/ 878889 h 1420427"/>
              <a:gd name="connsiteX2-5" fmla="*/ 7013359 w 7013359"/>
              <a:gd name="connsiteY2-6" fmla="*/ 0 h 1420427"/>
              <a:gd name="connsiteX3-7" fmla="*/ 7013359 w 7013359"/>
              <a:gd name="connsiteY3-8" fmla="*/ 0 h 1420427"/>
              <a:gd name="connsiteX0-9" fmla="*/ 0 w 7013359"/>
              <a:gd name="connsiteY0-10" fmla="*/ 1420427 h 1420427"/>
              <a:gd name="connsiteX1-11" fmla="*/ 1313894 w 7013359"/>
              <a:gd name="connsiteY1-12" fmla="*/ 878889 h 1420427"/>
              <a:gd name="connsiteX2-13" fmla="*/ 7013359 w 7013359"/>
              <a:gd name="connsiteY2-14" fmla="*/ 0 h 1420427"/>
              <a:gd name="connsiteX3-15" fmla="*/ 7013359 w 7013359"/>
              <a:gd name="connsiteY3-16" fmla="*/ 0 h 1420427"/>
              <a:gd name="connsiteX0-17" fmla="*/ 0 w 7013359"/>
              <a:gd name="connsiteY0-18" fmla="*/ 1420427 h 1420427"/>
              <a:gd name="connsiteX1-19" fmla="*/ 1313894 w 7013359"/>
              <a:gd name="connsiteY1-20" fmla="*/ 878889 h 1420427"/>
              <a:gd name="connsiteX2-21" fmla="*/ 2840854 w 7013359"/>
              <a:gd name="connsiteY2-22" fmla="*/ 701336 h 1420427"/>
              <a:gd name="connsiteX3-23" fmla="*/ 7013359 w 7013359"/>
              <a:gd name="connsiteY3-24" fmla="*/ 0 h 1420427"/>
              <a:gd name="connsiteX4" fmla="*/ 7013359 w 7013359"/>
              <a:gd name="connsiteY4" fmla="*/ 0 h 1420427"/>
              <a:gd name="connsiteX0-25" fmla="*/ 0 w 7013359"/>
              <a:gd name="connsiteY0-26" fmla="*/ 1420427 h 1420427"/>
              <a:gd name="connsiteX1-27" fmla="*/ 1313894 w 7013359"/>
              <a:gd name="connsiteY1-28" fmla="*/ 878889 h 1420427"/>
              <a:gd name="connsiteX2-29" fmla="*/ 2974019 w 7013359"/>
              <a:gd name="connsiteY2-30" fmla="*/ 1127464 h 1420427"/>
              <a:gd name="connsiteX3-31" fmla="*/ 7013359 w 7013359"/>
              <a:gd name="connsiteY3-32" fmla="*/ 0 h 1420427"/>
              <a:gd name="connsiteX4-33" fmla="*/ 7013359 w 7013359"/>
              <a:gd name="connsiteY4-34" fmla="*/ 0 h 1420427"/>
              <a:gd name="connsiteX0-35" fmla="*/ 0 w 7013359"/>
              <a:gd name="connsiteY0-36" fmla="*/ 1420427 h 1420427"/>
              <a:gd name="connsiteX1-37" fmla="*/ 1313894 w 7013359"/>
              <a:gd name="connsiteY1-38" fmla="*/ 878889 h 1420427"/>
              <a:gd name="connsiteX2-39" fmla="*/ 2974019 w 7013359"/>
              <a:gd name="connsiteY2-40" fmla="*/ 1127464 h 1420427"/>
              <a:gd name="connsiteX3-41" fmla="*/ 4429957 w 7013359"/>
              <a:gd name="connsiteY3-42" fmla="*/ 763480 h 1420427"/>
              <a:gd name="connsiteX4-43" fmla="*/ 7013359 w 7013359"/>
              <a:gd name="connsiteY4-44" fmla="*/ 0 h 1420427"/>
              <a:gd name="connsiteX5" fmla="*/ 7013359 w 7013359"/>
              <a:gd name="connsiteY5" fmla="*/ 0 h 1420427"/>
              <a:gd name="connsiteX0-45" fmla="*/ 0 w 7013359"/>
              <a:gd name="connsiteY0-46" fmla="*/ 1420427 h 1420427"/>
              <a:gd name="connsiteX1-47" fmla="*/ 1313894 w 7013359"/>
              <a:gd name="connsiteY1-48" fmla="*/ 878889 h 1420427"/>
              <a:gd name="connsiteX2-49" fmla="*/ 2974019 w 7013359"/>
              <a:gd name="connsiteY2-50" fmla="*/ 1127464 h 1420427"/>
              <a:gd name="connsiteX3-51" fmla="*/ 4279036 w 7013359"/>
              <a:gd name="connsiteY3-52" fmla="*/ 541538 h 1420427"/>
              <a:gd name="connsiteX4-53" fmla="*/ 7013359 w 7013359"/>
              <a:gd name="connsiteY4-54" fmla="*/ 0 h 1420427"/>
              <a:gd name="connsiteX5-55" fmla="*/ 7013359 w 7013359"/>
              <a:gd name="connsiteY5-56" fmla="*/ 0 h 1420427"/>
              <a:gd name="connsiteX0-57" fmla="*/ 0 w 7013359"/>
              <a:gd name="connsiteY0-58" fmla="*/ 1420427 h 1420427"/>
              <a:gd name="connsiteX1-59" fmla="*/ 1313894 w 7013359"/>
              <a:gd name="connsiteY1-60" fmla="*/ 878889 h 1420427"/>
              <a:gd name="connsiteX2-61" fmla="*/ 2974019 w 7013359"/>
              <a:gd name="connsiteY2-62" fmla="*/ 1127464 h 1420427"/>
              <a:gd name="connsiteX3-63" fmla="*/ 4243525 w 7013359"/>
              <a:gd name="connsiteY3-64" fmla="*/ 523783 h 1420427"/>
              <a:gd name="connsiteX4-65" fmla="*/ 7013359 w 7013359"/>
              <a:gd name="connsiteY4-66" fmla="*/ 0 h 1420427"/>
              <a:gd name="connsiteX5-67" fmla="*/ 7013359 w 7013359"/>
              <a:gd name="connsiteY5-68" fmla="*/ 0 h 1420427"/>
              <a:gd name="connsiteX0-69" fmla="*/ 0 w 7013359"/>
              <a:gd name="connsiteY0-70" fmla="*/ 1420427 h 1420427"/>
              <a:gd name="connsiteX1-71" fmla="*/ 1313894 w 7013359"/>
              <a:gd name="connsiteY1-72" fmla="*/ 878889 h 1420427"/>
              <a:gd name="connsiteX2-73" fmla="*/ 2974019 w 7013359"/>
              <a:gd name="connsiteY2-74" fmla="*/ 1127464 h 1420427"/>
              <a:gd name="connsiteX3-75" fmla="*/ 4243525 w 7013359"/>
              <a:gd name="connsiteY3-76" fmla="*/ 523783 h 1420427"/>
              <a:gd name="connsiteX4-77" fmla="*/ 5690586 w 7013359"/>
              <a:gd name="connsiteY4-78" fmla="*/ 221942 h 1420427"/>
              <a:gd name="connsiteX5-79" fmla="*/ 7013359 w 7013359"/>
              <a:gd name="connsiteY5-80" fmla="*/ 0 h 1420427"/>
              <a:gd name="connsiteX6" fmla="*/ 7013359 w 7013359"/>
              <a:gd name="connsiteY6" fmla="*/ 0 h 1420427"/>
              <a:gd name="connsiteX0-81" fmla="*/ 0 w 7013359"/>
              <a:gd name="connsiteY0-82" fmla="*/ 1420427 h 1420427"/>
              <a:gd name="connsiteX1-83" fmla="*/ 1313894 w 7013359"/>
              <a:gd name="connsiteY1-84" fmla="*/ 878889 h 1420427"/>
              <a:gd name="connsiteX2-85" fmla="*/ 2974019 w 7013359"/>
              <a:gd name="connsiteY2-86" fmla="*/ 1127464 h 1420427"/>
              <a:gd name="connsiteX3-87" fmla="*/ 4243525 w 7013359"/>
              <a:gd name="connsiteY3-88" fmla="*/ 523783 h 1420427"/>
              <a:gd name="connsiteX4-89" fmla="*/ 5734974 w 7013359"/>
              <a:gd name="connsiteY4-90" fmla="*/ 346229 h 1420427"/>
              <a:gd name="connsiteX5-91" fmla="*/ 7013359 w 7013359"/>
              <a:gd name="connsiteY5-92" fmla="*/ 0 h 1420427"/>
              <a:gd name="connsiteX6-93" fmla="*/ 7013359 w 7013359"/>
              <a:gd name="connsiteY6-94" fmla="*/ 0 h 1420427"/>
              <a:gd name="connsiteX0-95" fmla="*/ 0 w 7013359"/>
              <a:gd name="connsiteY0-96" fmla="*/ 1420427 h 1420427"/>
              <a:gd name="connsiteX1-97" fmla="*/ 1313894 w 7013359"/>
              <a:gd name="connsiteY1-98" fmla="*/ 878889 h 1420427"/>
              <a:gd name="connsiteX2-99" fmla="*/ 2974019 w 7013359"/>
              <a:gd name="connsiteY2-100" fmla="*/ 1127464 h 1420427"/>
              <a:gd name="connsiteX3-101" fmla="*/ 4243525 w 7013359"/>
              <a:gd name="connsiteY3-102" fmla="*/ 523783 h 1420427"/>
              <a:gd name="connsiteX4-103" fmla="*/ 5734974 w 7013359"/>
              <a:gd name="connsiteY4-104" fmla="*/ 346229 h 1420427"/>
              <a:gd name="connsiteX5-105" fmla="*/ 7013359 w 7013359"/>
              <a:gd name="connsiteY5-106" fmla="*/ 0 h 1420427"/>
              <a:gd name="connsiteX6-107" fmla="*/ 7013359 w 7013359"/>
              <a:gd name="connsiteY6-108" fmla="*/ 0 h 1420427"/>
              <a:gd name="connsiteX0-109" fmla="*/ 0 w 7013359"/>
              <a:gd name="connsiteY0-110" fmla="*/ 1420427 h 1420427"/>
              <a:gd name="connsiteX1-111" fmla="*/ 1340527 w 7013359"/>
              <a:gd name="connsiteY1-112" fmla="*/ 887766 h 1420427"/>
              <a:gd name="connsiteX2-113" fmla="*/ 2974019 w 7013359"/>
              <a:gd name="connsiteY2-114" fmla="*/ 1127464 h 1420427"/>
              <a:gd name="connsiteX3-115" fmla="*/ 4243525 w 7013359"/>
              <a:gd name="connsiteY3-116" fmla="*/ 523783 h 1420427"/>
              <a:gd name="connsiteX4-117" fmla="*/ 5734974 w 7013359"/>
              <a:gd name="connsiteY4-118" fmla="*/ 346229 h 1420427"/>
              <a:gd name="connsiteX5-119" fmla="*/ 7013359 w 7013359"/>
              <a:gd name="connsiteY5-120" fmla="*/ 0 h 1420427"/>
              <a:gd name="connsiteX6-121" fmla="*/ 7013359 w 7013359"/>
              <a:gd name="connsiteY6-122" fmla="*/ 0 h 1420427"/>
              <a:gd name="connsiteX0-123" fmla="*/ 0 w 7013359"/>
              <a:gd name="connsiteY0-124" fmla="*/ 1420427 h 1420427"/>
              <a:gd name="connsiteX1-125" fmla="*/ 1340527 w 7013359"/>
              <a:gd name="connsiteY1-126" fmla="*/ 887766 h 1420427"/>
              <a:gd name="connsiteX2-127" fmla="*/ 2807332 w 7013359"/>
              <a:gd name="connsiteY2-128" fmla="*/ 1132227 h 1420427"/>
              <a:gd name="connsiteX3-129" fmla="*/ 4243525 w 7013359"/>
              <a:gd name="connsiteY3-130" fmla="*/ 523783 h 1420427"/>
              <a:gd name="connsiteX4-131" fmla="*/ 5734974 w 7013359"/>
              <a:gd name="connsiteY4-132" fmla="*/ 346229 h 1420427"/>
              <a:gd name="connsiteX5-133" fmla="*/ 7013359 w 7013359"/>
              <a:gd name="connsiteY5-134" fmla="*/ 0 h 1420427"/>
              <a:gd name="connsiteX6-135" fmla="*/ 7013359 w 7013359"/>
              <a:gd name="connsiteY6-136" fmla="*/ 0 h 1420427"/>
              <a:gd name="connsiteX0-137" fmla="*/ 0 w 7013359"/>
              <a:gd name="connsiteY0-138" fmla="*/ 1420427 h 1420427"/>
              <a:gd name="connsiteX1-139" fmla="*/ 1340527 w 7013359"/>
              <a:gd name="connsiteY1-140" fmla="*/ 887766 h 1420427"/>
              <a:gd name="connsiteX2-141" fmla="*/ 2807332 w 7013359"/>
              <a:gd name="connsiteY2-142" fmla="*/ 1132227 h 1420427"/>
              <a:gd name="connsiteX3-143" fmla="*/ 4281625 w 7013359"/>
              <a:gd name="connsiteY3-144" fmla="*/ 533308 h 1420427"/>
              <a:gd name="connsiteX4-145" fmla="*/ 5734974 w 7013359"/>
              <a:gd name="connsiteY4-146" fmla="*/ 346229 h 1420427"/>
              <a:gd name="connsiteX5-147" fmla="*/ 7013359 w 7013359"/>
              <a:gd name="connsiteY5-148" fmla="*/ 0 h 1420427"/>
              <a:gd name="connsiteX6-149" fmla="*/ 7013359 w 7013359"/>
              <a:gd name="connsiteY6-150" fmla="*/ 0 h 1420427"/>
              <a:gd name="connsiteX0-151" fmla="*/ 0 w 7013359"/>
              <a:gd name="connsiteY0-152" fmla="*/ 1420427 h 1420427"/>
              <a:gd name="connsiteX1-153" fmla="*/ 1340527 w 7013359"/>
              <a:gd name="connsiteY1-154" fmla="*/ 887766 h 1420427"/>
              <a:gd name="connsiteX2-155" fmla="*/ 2807332 w 7013359"/>
              <a:gd name="connsiteY2-156" fmla="*/ 1132227 h 1420427"/>
              <a:gd name="connsiteX3-157" fmla="*/ 4281625 w 7013359"/>
              <a:gd name="connsiteY3-158" fmla="*/ 533308 h 1420427"/>
              <a:gd name="connsiteX4-159" fmla="*/ 5734974 w 7013359"/>
              <a:gd name="connsiteY4-160" fmla="*/ 346229 h 1420427"/>
              <a:gd name="connsiteX5-161" fmla="*/ 7013359 w 7013359"/>
              <a:gd name="connsiteY5-162" fmla="*/ 0 h 1420427"/>
              <a:gd name="connsiteX6-163" fmla="*/ 7013359 w 7013359"/>
              <a:gd name="connsiteY6-164" fmla="*/ 0 h 1420427"/>
              <a:gd name="connsiteX0-165" fmla="*/ 0 w 7013359"/>
              <a:gd name="connsiteY0-166" fmla="*/ 1420427 h 1420427"/>
              <a:gd name="connsiteX1-167" fmla="*/ 1340527 w 7013359"/>
              <a:gd name="connsiteY1-168" fmla="*/ 887766 h 1420427"/>
              <a:gd name="connsiteX2-169" fmla="*/ 2807332 w 7013359"/>
              <a:gd name="connsiteY2-170" fmla="*/ 1132227 h 1420427"/>
              <a:gd name="connsiteX3-171" fmla="*/ 4262575 w 7013359"/>
              <a:gd name="connsiteY3-172" fmla="*/ 538070 h 1420427"/>
              <a:gd name="connsiteX4-173" fmla="*/ 5734974 w 7013359"/>
              <a:gd name="connsiteY4-174" fmla="*/ 346229 h 1420427"/>
              <a:gd name="connsiteX5-175" fmla="*/ 7013359 w 7013359"/>
              <a:gd name="connsiteY5-176" fmla="*/ 0 h 1420427"/>
              <a:gd name="connsiteX6-177" fmla="*/ 7013359 w 7013359"/>
              <a:gd name="connsiteY6-178" fmla="*/ 0 h 1420427"/>
              <a:gd name="connsiteX0-179" fmla="*/ 0 w 7013359"/>
              <a:gd name="connsiteY0-180" fmla="*/ 1420427 h 1420427"/>
              <a:gd name="connsiteX1-181" fmla="*/ 1340527 w 7013359"/>
              <a:gd name="connsiteY1-182" fmla="*/ 887766 h 1420427"/>
              <a:gd name="connsiteX2-183" fmla="*/ 2807332 w 7013359"/>
              <a:gd name="connsiteY2-184" fmla="*/ 1132227 h 1420427"/>
              <a:gd name="connsiteX3-185" fmla="*/ 4276863 w 7013359"/>
              <a:gd name="connsiteY3-186" fmla="*/ 530927 h 1420427"/>
              <a:gd name="connsiteX4-187" fmla="*/ 5734974 w 7013359"/>
              <a:gd name="connsiteY4-188" fmla="*/ 346229 h 1420427"/>
              <a:gd name="connsiteX5-189" fmla="*/ 7013359 w 7013359"/>
              <a:gd name="connsiteY5-190" fmla="*/ 0 h 1420427"/>
              <a:gd name="connsiteX6-191" fmla="*/ 7013359 w 7013359"/>
              <a:gd name="connsiteY6-192" fmla="*/ 0 h 1420427"/>
              <a:gd name="connsiteX0-193" fmla="*/ 0 w 7013359"/>
              <a:gd name="connsiteY0-194" fmla="*/ 1420427 h 1420427"/>
              <a:gd name="connsiteX1-195" fmla="*/ 1340527 w 7013359"/>
              <a:gd name="connsiteY1-196" fmla="*/ 887766 h 1420427"/>
              <a:gd name="connsiteX2-197" fmla="*/ 2807332 w 7013359"/>
              <a:gd name="connsiteY2-198" fmla="*/ 1132227 h 1420427"/>
              <a:gd name="connsiteX3-199" fmla="*/ 4276863 w 7013359"/>
              <a:gd name="connsiteY3-200" fmla="*/ 530927 h 1420427"/>
              <a:gd name="connsiteX4-201" fmla="*/ 5734974 w 7013359"/>
              <a:gd name="connsiteY4-202" fmla="*/ 346229 h 1420427"/>
              <a:gd name="connsiteX5-203" fmla="*/ 7013359 w 7013359"/>
              <a:gd name="connsiteY5-204" fmla="*/ 0 h 1420427"/>
              <a:gd name="connsiteX6-205" fmla="*/ 7013359 w 7013359"/>
              <a:gd name="connsiteY6-206" fmla="*/ 0 h 1420427"/>
              <a:gd name="connsiteX0-207" fmla="*/ 0 w 7013359"/>
              <a:gd name="connsiteY0-208" fmla="*/ 1420427 h 1420427"/>
              <a:gd name="connsiteX1-209" fmla="*/ 1340527 w 7013359"/>
              <a:gd name="connsiteY1-210" fmla="*/ 887766 h 1420427"/>
              <a:gd name="connsiteX2-211" fmla="*/ 2807332 w 7013359"/>
              <a:gd name="connsiteY2-212" fmla="*/ 1132227 h 1420427"/>
              <a:gd name="connsiteX3-213" fmla="*/ 4276863 w 7013359"/>
              <a:gd name="connsiteY3-214" fmla="*/ 530927 h 1420427"/>
              <a:gd name="connsiteX4-215" fmla="*/ 5734974 w 7013359"/>
              <a:gd name="connsiteY4-216" fmla="*/ 346229 h 1420427"/>
              <a:gd name="connsiteX5-217" fmla="*/ 7013359 w 7013359"/>
              <a:gd name="connsiteY5-218" fmla="*/ 0 h 1420427"/>
              <a:gd name="connsiteX6-219" fmla="*/ 7013359 w 7013359"/>
              <a:gd name="connsiteY6-220" fmla="*/ 0 h 1420427"/>
              <a:gd name="connsiteX0-221" fmla="*/ 0 w 7013359"/>
              <a:gd name="connsiteY0-222" fmla="*/ 1420427 h 1420427"/>
              <a:gd name="connsiteX1-223" fmla="*/ 1340527 w 7013359"/>
              <a:gd name="connsiteY1-224" fmla="*/ 887766 h 1420427"/>
              <a:gd name="connsiteX2-225" fmla="*/ 2807332 w 7013359"/>
              <a:gd name="connsiteY2-226" fmla="*/ 1132227 h 1420427"/>
              <a:gd name="connsiteX3-227" fmla="*/ 4276863 w 7013359"/>
              <a:gd name="connsiteY3-228" fmla="*/ 530927 h 1420427"/>
              <a:gd name="connsiteX4-229" fmla="*/ 5734974 w 7013359"/>
              <a:gd name="connsiteY4-230" fmla="*/ 346229 h 1420427"/>
              <a:gd name="connsiteX5-231" fmla="*/ 7013359 w 7013359"/>
              <a:gd name="connsiteY5-232" fmla="*/ 0 h 1420427"/>
              <a:gd name="connsiteX6-233" fmla="*/ 7013359 w 7013359"/>
              <a:gd name="connsiteY6-234" fmla="*/ 0 h 1420427"/>
              <a:gd name="connsiteX0-235" fmla="*/ 0 w 7013359"/>
              <a:gd name="connsiteY0-236" fmla="*/ 1420427 h 1420427"/>
              <a:gd name="connsiteX1-237" fmla="*/ 1340527 w 7013359"/>
              <a:gd name="connsiteY1-238" fmla="*/ 887766 h 1420427"/>
              <a:gd name="connsiteX2-239" fmla="*/ 2807332 w 7013359"/>
              <a:gd name="connsiteY2-240" fmla="*/ 1132227 h 1420427"/>
              <a:gd name="connsiteX3-241" fmla="*/ 4276863 w 7013359"/>
              <a:gd name="connsiteY3-242" fmla="*/ 530927 h 1420427"/>
              <a:gd name="connsiteX4-243" fmla="*/ 5734974 w 7013359"/>
              <a:gd name="connsiteY4-244" fmla="*/ 346229 h 1420427"/>
              <a:gd name="connsiteX5-245" fmla="*/ 7013359 w 7013359"/>
              <a:gd name="connsiteY5-246" fmla="*/ 0 h 1420427"/>
              <a:gd name="connsiteX6-247" fmla="*/ 7013359 w 7013359"/>
              <a:gd name="connsiteY6-248" fmla="*/ 0 h 1420427"/>
              <a:gd name="connsiteX0-249" fmla="*/ 0 w 7013359"/>
              <a:gd name="connsiteY0-250" fmla="*/ 1420427 h 1420427"/>
              <a:gd name="connsiteX1-251" fmla="*/ 1340527 w 7013359"/>
              <a:gd name="connsiteY1-252" fmla="*/ 887766 h 1420427"/>
              <a:gd name="connsiteX2-253" fmla="*/ 2807332 w 7013359"/>
              <a:gd name="connsiteY2-254" fmla="*/ 1132227 h 1420427"/>
              <a:gd name="connsiteX3-255" fmla="*/ 4276863 w 7013359"/>
              <a:gd name="connsiteY3-256" fmla="*/ 530927 h 1420427"/>
              <a:gd name="connsiteX4-257" fmla="*/ 5734974 w 7013359"/>
              <a:gd name="connsiteY4-258" fmla="*/ 346229 h 1420427"/>
              <a:gd name="connsiteX5-259" fmla="*/ 7013359 w 7013359"/>
              <a:gd name="connsiteY5-260" fmla="*/ 0 h 1420427"/>
              <a:gd name="connsiteX6-261" fmla="*/ 7013359 w 7013359"/>
              <a:gd name="connsiteY6-262" fmla="*/ 0 h 1420427"/>
              <a:gd name="connsiteX0-263" fmla="*/ 0 w 7013359"/>
              <a:gd name="connsiteY0-264" fmla="*/ 1420427 h 1420427"/>
              <a:gd name="connsiteX1-265" fmla="*/ 1340527 w 7013359"/>
              <a:gd name="connsiteY1-266" fmla="*/ 887766 h 1420427"/>
              <a:gd name="connsiteX2-267" fmla="*/ 2807332 w 7013359"/>
              <a:gd name="connsiteY2-268" fmla="*/ 1132227 h 1420427"/>
              <a:gd name="connsiteX3-269" fmla="*/ 4276863 w 7013359"/>
              <a:gd name="connsiteY3-270" fmla="*/ 530927 h 1420427"/>
              <a:gd name="connsiteX4-271" fmla="*/ 5734974 w 7013359"/>
              <a:gd name="connsiteY4-272" fmla="*/ 346229 h 1420427"/>
              <a:gd name="connsiteX5-273" fmla="*/ 7013359 w 7013359"/>
              <a:gd name="connsiteY5-274" fmla="*/ 0 h 1420427"/>
              <a:gd name="connsiteX6-275" fmla="*/ 7013359 w 7013359"/>
              <a:gd name="connsiteY6-276" fmla="*/ 0 h 1420427"/>
              <a:gd name="connsiteX0-277" fmla="*/ 0 w 7013359"/>
              <a:gd name="connsiteY0-278" fmla="*/ 1420427 h 1420427"/>
              <a:gd name="connsiteX1-279" fmla="*/ 1340527 w 7013359"/>
              <a:gd name="connsiteY1-280" fmla="*/ 887766 h 1420427"/>
              <a:gd name="connsiteX2-281" fmla="*/ 2807332 w 7013359"/>
              <a:gd name="connsiteY2-282" fmla="*/ 1132227 h 1420427"/>
              <a:gd name="connsiteX3-283" fmla="*/ 4276863 w 7013359"/>
              <a:gd name="connsiteY3-284" fmla="*/ 530927 h 1420427"/>
              <a:gd name="connsiteX4-285" fmla="*/ 5734974 w 7013359"/>
              <a:gd name="connsiteY4-286" fmla="*/ 585926 h 1420427"/>
              <a:gd name="connsiteX5-287" fmla="*/ 7013359 w 7013359"/>
              <a:gd name="connsiteY5-288" fmla="*/ 0 h 1420427"/>
              <a:gd name="connsiteX6-289" fmla="*/ 7013359 w 7013359"/>
              <a:gd name="connsiteY6-290" fmla="*/ 0 h 1420427"/>
              <a:gd name="connsiteX0-291" fmla="*/ 0 w 7013359"/>
              <a:gd name="connsiteY0-292" fmla="*/ 1420427 h 1420427"/>
              <a:gd name="connsiteX1-293" fmla="*/ 1340527 w 7013359"/>
              <a:gd name="connsiteY1-294" fmla="*/ 887766 h 1420427"/>
              <a:gd name="connsiteX2-295" fmla="*/ 2807332 w 7013359"/>
              <a:gd name="connsiteY2-296" fmla="*/ 1132227 h 1420427"/>
              <a:gd name="connsiteX3-297" fmla="*/ 4276863 w 7013359"/>
              <a:gd name="connsiteY3-298" fmla="*/ 530927 h 1420427"/>
              <a:gd name="connsiteX4-299" fmla="*/ 5734974 w 7013359"/>
              <a:gd name="connsiteY4-300" fmla="*/ 585926 h 1420427"/>
              <a:gd name="connsiteX5-301" fmla="*/ 7013359 w 7013359"/>
              <a:gd name="connsiteY5-302" fmla="*/ 0 h 1420427"/>
              <a:gd name="connsiteX6-303" fmla="*/ 7013359 w 7013359"/>
              <a:gd name="connsiteY6-304" fmla="*/ 0 h 1420427"/>
              <a:gd name="connsiteX0-305" fmla="*/ 0 w 7013359"/>
              <a:gd name="connsiteY0-306" fmla="*/ 1420427 h 1420427"/>
              <a:gd name="connsiteX1-307" fmla="*/ 1340527 w 7013359"/>
              <a:gd name="connsiteY1-308" fmla="*/ 887766 h 1420427"/>
              <a:gd name="connsiteX2-309" fmla="*/ 2807332 w 7013359"/>
              <a:gd name="connsiteY2-310" fmla="*/ 1132227 h 1420427"/>
              <a:gd name="connsiteX3-311" fmla="*/ 4276863 w 7013359"/>
              <a:gd name="connsiteY3-312" fmla="*/ 530927 h 1420427"/>
              <a:gd name="connsiteX4-313" fmla="*/ 5734974 w 7013359"/>
              <a:gd name="connsiteY4-314" fmla="*/ 585926 h 1420427"/>
              <a:gd name="connsiteX5-315" fmla="*/ 7013359 w 7013359"/>
              <a:gd name="connsiteY5-316" fmla="*/ 0 h 1420427"/>
              <a:gd name="connsiteX6-317" fmla="*/ 7013359 w 7013359"/>
              <a:gd name="connsiteY6-318" fmla="*/ 0 h 1420427"/>
              <a:gd name="connsiteX0-319" fmla="*/ 0 w 7013359"/>
              <a:gd name="connsiteY0-320" fmla="*/ 1420427 h 1420427"/>
              <a:gd name="connsiteX1-321" fmla="*/ 1340527 w 7013359"/>
              <a:gd name="connsiteY1-322" fmla="*/ 887766 h 1420427"/>
              <a:gd name="connsiteX2-323" fmla="*/ 2807332 w 7013359"/>
              <a:gd name="connsiteY2-324" fmla="*/ 1132227 h 1420427"/>
              <a:gd name="connsiteX3-325" fmla="*/ 4276863 w 7013359"/>
              <a:gd name="connsiteY3-326" fmla="*/ 530927 h 1420427"/>
              <a:gd name="connsiteX4-327" fmla="*/ 5734974 w 7013359"/>
              <a:gd name="connsiteY4-328" fmla="*/ 585926 h 1420427"/>
              <a:gd name="connsiteX5-329" fmla="*/ 7013359 w 7013359"/>
              <a:gd name="connsiteY5-330" fmla="*/ 0 h 1420427"/>
              <a:gd name="connsiteX6-331" fmla="*/ 7013359 w 7013359"/>
              <a:gd name="connsiteY6-332" fmla="*/ 0 h 1420427"/>
              <a:gd name="connsiteX0-333" fmla="*/ 0 w 7013359"/>
              <a:gd name="connsiteY0-334" fmla="*/ 1420427 h 1420427"/>
              <a:gd name="connsiteX1-335" fmla="*/ 1340527 w 7013359"/>
              <a:gd name="connsiteY1-336" fmla="*/ 887766 h 1420427"/>
              <a:gd name="connsiteX2-337" fmla="*/ 2807332 w 7013359"/>
              <a:gd name="connsiteY2-338" fmla="*/ 1132227 h 1420427"/>
              <a:gd name="connsiteX3-339" fmla="*/ 4276863 w 7013359"/>
              <a:gd name="connsiteY3-340" fmla="*/ 530927 h 1420427"/>
              <a:gd name="connsiteX4-341" fmla="*/ 5734974 w 7013359"/>
              <a:gd name="connsiteY4-342" fmla="*/ 585926 h 1420427"/>
              <a:gd name="connsiteX5-343" fmla="*/ 7013359 w 7013359"/>
              <a:gd name="connsiteY5-344" fmla="*/ 0 h 1420427"/>
              <a:gd name="connsiteX6-345" fmla="*/ 7013359 w 7013359"/>
              <a:gd name="connsiteY6-346" fmla="*/ 0 h 1420427"/>
              <a:gd name="connsiteX0-347" fmla="*/ 0 w 7013359"/>
              <a:gd name="connsiteY0-348" fmla="*/ 1420427 h 1420427"/>
              <a:gd name="connsiteX1-349" fmla="*/ 1340527 w 7013359"/>
              <a:gd name="connsiteY1-350" fmla="*/ 887766 h 1420427"/>
              <a:gd name="connsiteX2-351" fmla="*/ 2807332 w 7013359"/>
              <a:gd name="connsiteY2-352" fmla="*/ 1132227 h 1420427"/>
              <a:gd name="connsiteX3-353" fmla="*/ 4276863 w 7013359"/>
              <a:gd name="connsiteY3-354" fmla="*/ 530927 h 1420427"/>
              <a:gd name="connsiteX4-355" fmla="*/ 5734974 w 7013359"/>
              <a:gd name="connsiteY4-356" fmla="*/ 585926 h 1420427"/>
              <a:gd name="connsiteX5-357" fmla="*/ 7013359 w 7013359"/>
              <a:gd name="connsiteY5-358" fmla="*/ 0 h 1420427"/>
              <a:gd name="connsiteX6-359" fmla="*/ 7013359 w 7013359"/>
              <a:gd name="connsiteY6-360" fmla="*/ 0 h 1420427"/>
              <a:gd name="connsiteX0-361" fmla="*/ 0 w 7013359"/>
              <a:gd name="connsiteY0-362" fmla="*/ 1420427 h 1420427"/>
              <a:gd name="connsiteX1-363" fmla="*/ 1340527 w 7013359"/>
              <a:gd name="connsiteY1-364" fmla="*/ 887766 h 1420427"/>
              <a:gd name="connsiteX2-365" fmla="*/ 2807332 w 7013359"/>
              <a:gd name="connsiteY2-366" fmla="*/ 1132227 h 1420427"/>
              <a:gd name="connsiteX3-367" fmla="*/ 4276863 w 7013359"/>
              <a:gd name="connsiteY3-368" fmla="*/ 530927 h 1420427"/>
              <a:gd name="connsiteX4-369" fmla="*/ 5734974 w 7013359"/>
              <a:gd name="connsiteY4-370" fmla="*/ 585926 h 1420427"/>
              <a:gd name="connsiteX5-371" fmla="*/ 7013359 w 7013359"/>
              <a:gd name="connsiteY5-372" fmla="*/ 0 h 1420427"/>
              <a:gd name="connsiteX6-373" fmla="*/ 7013359 w 7013359"/>
              <a:gd name="connsiteY6-374" fmla="*/ 0 h 1420427"/>
              <a:gd name="connsiteX0-375" fmla="*/ 0 w 7013359"/>
              <a:gd name="connsiteY0-376" fmla="*/ 1420427 h 1420427"/>
              <a:gd name="connsiteX1-377" fmla="*/ 1340527 w 7013359"/>
              <a:gd name="connsiteY1-378" fmla="*/ 887766 h 1420427"/>
              <a:gd name="connsiteX2-379" fmla="*/ 2807332 w 7013359"/>
              <a:gd name="connsiteY2-380" fmla="*/ 1132227 h 1420427"/>
              <a:gd name="connsiteX3-381" fmla="*/ 4276863 w 7013359"/>
              <a:gd name="connsiteY3-382" fmla="*/ 530927 h 1420427"/>
              <a:gd name="connsiteX4-383" fmla="*/ 5734974 w 7013359"/>
              <a:gd name="connsiteY4-384" fmla="*/ 585926 h 1420427"/>
              <a:gd name="connsiteX5-385" fmla="*/ 7013359 w 7013359"/>
              <a:gd name="connsiteY5-386" fmla="*/ 0 h 1420427"/>
              <a:gd name="connsiteX0-387" fmla="*/ 0 w 5734974"/>
              <a:gd name="connsiteY0-388" fmla="*/ 903680 h 903680"/>
              <a:gd name="connsiteX1-389" fmla="*/ 1340527 w 5734974"/>
              <a:gd name="connsiteY1-390" fmla="*/ 371019 h 903680"/>
              <a:gd name="connsiteX2-391" fmla="*/ 2807332 w 5734974"/>
              <a:gd name="connsiteY2-392" fmla="*/ 615480 h 903680"/>
              <a:gd name="connsiteX3-393" fmla="*/ 4276863 w 5734974"/>
              <a:gd name="connsiteY3-394" fmla="*/ 14180 h 903680"/>
              <a:gd name="connsiteX4-395" fmla="*/ 5734974 w 5734974"/>
              <a:gd name="connsiteY4-396" fmla="*/ 69179 h 903680"/>
              <a:gd name="connsiteX0-397" fmla="*/ 0 w 5734974"/>
              <a:gd name="connsiteY0-398" fmla="*/ 1129776 h 1129776"/>
              <a:gd name="connsiteX1-399" fmla="*/ 1340527 w 5734974"/>
              <a:gd name="connsiteY1-400" fmla="*/ 597115 h 1129776"/>
              <a:gd name="connsiteX2-401" fmla="*/ 2807332 w 5734974"/>
              <a:gd name="connsiteY2-402" fmla="*/ 841576 h 1129776"/>
              <a:gd name="connsiteX3-403" fmla="*/ 4276863 w 5734974"/>
              <a:gd name="connsiteY3-404" fmla="*/ 240276 h 1129776"/>
              <a:gd name="connsiteX4-405" fmla="*/ 5734974 w 5734974"/>
              <a:gd name="connsiteY4-406" fmla="*/ 0 h 1129776"/>
              <a:gd name="connsiteX0-407" fmla="*/ 0 w 5734974"/>
              <a:gd name="connsiteY0-408" fmla="*/ 1131360 h 1131360"/>
              <a:gd name="connsiteX1-409" fmla="*/ 1340527 w 5734974"/>
              <a:gd name="connsiteY1-410" fmla="*/ 598699 h 1131360"/>
              <a:gd name="connsiteX2-411" fmla="*/ 2807332 w 5734974"/>
              <a:gd name="connsiteY2-412" fmla="*/ 843160 h 1131360"/>
              <a:gd name="connsiteX3-413" fmla="*/ 4276863 w 5734974"/>
              <a:gd name="connsiteY3-414" fmla="*/ 241860 h 1131360"/>
              <a:gd name="connsiteX4-415" fmla="*/ 5734974 w 5734974"/>
              <a:gd name="connsiteY4-416" fmla="*/ 1584 h 1131360"/>
            </a:gdLst>
            <a:ahLst/>
            <a:cxnLst>
              <a:cxn ang="0">
                <a:pos x="connsiteX0-407" y="connsiteY0-408"/>
              </a:cxn>
              <a:cxn ang="0">
                <a:pos x="connsiteX1-409" y="connsiteY1-410"/>
              </a:cxn>
              <a:cxn ang="0">
                <a:pos x="connsiteX2-411" y="connsiteY2-412"/>
              </a:cxn>
              <a:cxn ang="0">
                <a:pos x="connsiteX3-413" y="connsiteY3-414"/>
              </a:cxn>
              <a:cxn ang="0">
                <a:pos x="connsiteX4-415" y="connsiteY4-416"/>
              </a:cxn>
            </a:cxnLst>
            <a:rect l="l" t="t" r="r" b="b"/>
            <a:pathLst>
              <a:path w="5734974" h="1131360">
                <a:moveTo>
                  <a:pt x="0" y="1131360"/>
                </a:moveTo>
                <a:cubicBezTo>
                  <a:pt x="125767" y="934572"/>
                  <a:pt x="858124" y="603189"/>
                  <a:pt x="1340527" y="598699"/>
                </a:cubicBezTo>
                <a:cubicBezTo>
                  <a:pt x="1822930" y="594209"/>
                  <a:pt x="2287988" y="862395"/>
                  <a:pt x="2807332" y="843160"/>
                </a:cubicBezTo>
                <a:cubicBezTo>
                  <a:pt x="3326676" y="823925"/>
                  <a:pt x="3788923" y="382123"/>
                  <a:pt x="4276863" y="241860"/>
                </a:cubicBezTo>
                <a:cubicBezTo>
                  <a:pt x="4764803" y="101597"/>
                  <a:pt x="5079924" y="-15048"/>
                  <a:pt x="5734974" y="1584"/>
                </a:cubicBezTo>
              </a:path>
            </a:pathLst>
          </a:custGeom>
          <a:noFill/>
          <a:ln w="19050">
            <a:solidFill>
              <a:sysClr val="window" lastClr="FFFFFF">
                <a:lumMod val="75000"/>
              </a:sysClr>
            </a:solidFill>
            <a:prstDash val="sysDash"/>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a:bodyP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5" name="椭圆 4"/>
          <p:cNvSpPr/>
          <p:nvPr>
            <p:custDataLst>
              <p:tags r:id="rId2"/>
            </p:custDataLst>
          </p:nvPr>
        </p:nvSpPr>
        <p:spPr>
          <a:xfrm>
            <a:off x="1123001" y="3135982"/>
            <a:ext cx="357677" cy="357677"/>
          </a:xfrm>
          <a:prstGeom prst="ellipse">
            <a:avLst/>
          </a:prstGeom>
          <a:solidFill>
            <a:sysClr val="window" lastClr="FFFFFF"/>
          </a:solidFill>
          <a:ln w="38100">
            <a:solidFill>
              <a:sysClr val="window" lastClr="FFFFFF">
                <a:lumMod val="75000"/>
              </a:sysClr>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50000" lnSpcReduction="20000"/>
          </a:bodyPr>
          <a:lstStyle/>
          <a:p>
            <a:pPr algn="ctr">
              <a:lnSpc>
                <a:spcPct val="140000"/>
              </a:lnSpc>
            </a:pPr>
            <a:endParaRPr lang="zh-CN" altLang="en-US">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6" name="椭圆 5"/>
          <p:cNvSpPr/>
          <p:nvPr>
            <p:custDataLst>
              <p:tags r:id="rId3"/>
            </p:custDataLst>
          </p:nvPr>
        </p:nvSpPr>
        <p:spPr>
          <a:xfrm>
            <a:off x="1239900" y="3252300"/>
            <a:ext cx="124460" cy="124460"/>
          </a:xfrm>
          <a:prstGeom prst="ellipse">
            <a:avLst/>
          </a:prstGeom>
          <a:solidFill>
            <a:srgbClr val="1F74AD"/>
          </a:solidFill>
          <a:ln w="38100">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25000" lnSpcReduction="20000"/>
          </a:bodyPr>
          <a:lstStyle/>
          <a:p>
            <a:pPr algn="ctr">
              <a:lnSpc>
                <a:spcPct val="140000"/>
              </a:lnSpc>
            </a:pPr>
            <a:endParaRPr lang="zh-CN" altLang="en-US">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7" name="椭圆 6"/>
          <p:cNvSpPr/>
          <p:nvPr>
            <p:custDataLst>
              <p:tags r:id="rId4"/>
            </p:custDataLst>
          </p:nvPr>
        </p:nvSpPr>
        <p:spPr>
          <a:xfrm>
            <a:off x="2572902" y="2467736"/>
            <a:ext cx="357677" cy="357677"/>
          </a:xfrm>
          <a:prstGeom prst="ellipse">
            <a:avLst/>
          </a:prstGeom>
          <a:solidFill>
            <a:sysClr val="window" lastClr="FFFFFF"/>
          </a:solidFill>
          <a:ln w="38100">
            <a:solidFill>
              <a:sysClr val="window" lastClr="FFFFFF">
                <a:lumMod val="75000"/>
              </a:sysClr>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50000" lnSpcReduction="20000"/>
          </a:bodyPr>
          <a:lstStyle/>
          <a:p>
            <a:pPr algn="ctr">
              <a:lnSpc>
                <a:spcPct val="140000"/>
              </a:lnSpc>
            </a:pPr>
            <a:endParaRPr lang="zh-CN" altLang="en-US">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8" name="椭圆 7"/>
          <p:cNvSpPr/>
          <p:nvPr>
            <p:custDataLst>
              <p:tags r:id="rId5"/>
            </p:custDataLst>
          </p:nvPr>
        </p:nvSpPr>
        <p:spPr>
          <a:xfrm>
            <a:off x="2689219" y="2584636"/>
            <a:ext cx="124460" cy="124460"/>
          </a:xfrm>
          <a:prstGeom prst="ellipse">
            <a:avLst/>
          </a:prstGeom>
          <a:solidFill>
            <a:srgbClr val="3498DB"/>
          </a:solidFill>
          <a:ln w="38100">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25000" lnSpcReduction="20000"/>
          </a:bodyPr>
          <a:lstStyle/>
          <a:p>
            <a:pPr algn="ctr">
              <a:lnSpc>
                <a:spcPct val="140000"/>
              </a:lnSpc>
            </a:pPr>
            <a:endParaRPr lang="zh-CN" altLang="en-US">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9" name="椭圆 8"/>
          <p:cNvSpPr/>
          <p:nvPr>
            <p:custDataLst>
              <p:tags r:id="rId6"/>
            </p:custDataLst>
          </p:nvPr>
        </p:nvSpPr>
        <p:spPr>
          <a:xfrm>
            <a:off x="4022802" y="2710259"/>
            <a:ext cx="357677" cy="357677"/>
          </a:xfrm>
          <a:prstGeom prst="ellipse">
            <a:avLst/>
          </a:prstGeom>
          <a:solidFill>
            <a:sysClr val="window" lastClr="FFFFFF"/>
          </a:solidFill>
          <a:ln w="38100">
            <a:solidFill>
              <a:sysClr val="window" lastClr="FFFFFF">
                <a:lumMod val="75000"/>
              </a:sysClr>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50000" lnSpcReduction="20000"/>
          </a:bodyPr>
          <a:lstStyle/>
          <a:p>
            <a:pPr algn="ctr">
              <a:lnSpc>
                <a:spcPct val="140000"/>
              </a:lnSpc>
            </a:pPr>
            <a:endParaRPr lang="zh-CN" altLang="en-US">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10" name="椭圆 9"/>
          <p:cNvSpPr/>
          <p:nvPr>
            <p:custDataLst>
              <p:tags r:id="rId7"/>
            </p:custDataLst>
          </p:nvPr>
        </p:nvSpPr>
        <p:spPr>
          <a:xfrm>
            <a:off x="4139120" y="2826577"/>
            <a:ext cx="124460" cy="124460"/>
          </a:xfrm>
          <a:prstGeom prst="ellipse">
            <a:avLst/>
          </a:prstGeom>
          <a:solidFill>
            <a:srgbClr val="1AA3AA"/>
          </a:solidFill>
          <a:ln w="38100">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25000" lnSpcReduction="20000"/>
          </a:bodyPr>
          <a:lstStyle/>
          <a:p>
            <a:pPr algn="ctr">
              <a:lnSpc>
                <a:spcPct val="140000"/>
              </a:lnSpc>
            </a:pPr>
            <a:endParaRPr lang="zh-CN" altLang="en-US">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11" name="椭圆 10"/>
          <p:cNvSpPr/>
          <p:nvPr>
            <p:custDataLst>
              <p:tags r:id="rId8"/>
            </p:custDataLst>
          </p:nvPr>
        </p:nvSpPr>
        <p:spPr>
          <a:xfrm>
            <a:off x="5472121" y="2115875"/>
            <a:ext cx="357677" cy="357677"/>
          </a:xfrm>
          <a:prstGeom prst="ellipse">
            <a:avLst/>
          </a:prstGeom>
          <a:solidFill>
            <a:sysClr val="window" lastClr="FFFFFF"/>
          </a:solidFill>
          <a:ln w="38100">
            <a:solidFill>
              <a:sysClr val="window" lastClr="FFFFFF">
                <a:lumMod val="75000"/>
              </a:sysClr>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50000" lnSpcReduction="20000"/>
          </a:bodyPr>
          <a:lstStyle/>
          <a:p>
            <a:pPr algn="ctr">
              <a:lnSpc>
                <a:spcPct val="140000"/>
              </a:lnSpc>
            </a:pPr>
            <a:endParaRPr lang="zh-CN" altLang="en-US">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12" name="椭圆 11"/>
          <p:cNvSpPr/>
          <p:nvPr>
            <p:custDataLst>
              <p:tags r:id="rId9"/>
            </p:custDataLst>
          </p:nvPr>
        </p:nvSpPr>
        <p:spPr>
          <a:xfrm>
            <a:off x="5589021" y="2232193"/>
            <a:ext cx="124460" cy="124460"/>
          </a:xfrm>
          <a:prstGeom prst="ellipse">
            <a:avLst/>
          </a:prstGeom>
          <a:solidFill>
            <a:srgbClr val="69A35B"/>
          </a:solidFill>
          <a:ln w="38100">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25000" lnSpcReduction="20000"/>
          </a:bodyPr>
          <a:lstStyle/>
          <a:p>
            <a:pPr algn="ctr">
              <a:lnSpc>
                <a:spcPct val="140000"/>
              </a:lnSpc>
            </a:pPr>
            <a:endParaRPr lang="zh-CN" altLang="en-US">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13" name="椭圆 12"/>
          <p:cNvSpPr/>
          <p:nvPr>
            <p:custDataLst>
              <p:tags r:id="rId10"/>
            </p:custDataLst>
          </p:nvPr>
        </p:nvSpPr>
        <p:spPr>
          <a:xfrm>
            <a:off x="6922022" y="1872190"/>
            <a:ext cx="357677" cy="357677"/>
          </a:xfrm>
          <a:prstGeom prst="ellipse">
            <a:avLst/>
          </a:prstGeom>
          <a:solidFill>
            <a:sysClr val="window" lastClr="FFFFFF"/>
          </a:solidFill>
          <a:ln w="38100">
            <a:solidFill>
              <a:sysClr val="window" lastClr="FFFFFF">
                <a:lumMod val="75000"/>
              </a:sysClr>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50000" lnSpcReduction="20000"/>
          </a:bodyPr>
          <a:lstStyle/>
          <a:p>
            <a:pPr algn="ctr">
              <a:lnSpc>
                <a:spcPct val="140000"/>
              </a:lnSpc>
            </a:pPr>
            <a:endParaRPr lang="zh-CN" altLang="en-US">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14" name="椭圆 13"/>
          <p:cNvSpPr/>
          <p:nvPr>
            <p:custDataLst>
              <p:tags r:id="rId11"/>
            </p:custDataLst>
          </p:nvPr>
        </p:nvSpPr>
        <p:spPr>
          <a:xfrm>
            <a:off x="7038340" y="1989089"/>
            <a:ext cx="124460" cy="124460"/>
          </a:xfrm>
          <a:prstGeom prst="ellipse">
            <a:avLst/>
          </a:prstGeom>
          <a:solidFill>
            <a:srgbClr val="9BBB59"/>
          </a:solidFill>
          <a:ln w="38100">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25000" lnSpcReduction="20000"/>
          </a:bodyPr>
          <a:lstStyle/>
          <a:p>
            <a:pPr algn="ctr">
              <a:lnSpc>
                <a:spcPct val="140000"/>
              </a:lnSpc>
            </a:pPr>
            <a:endParaRPr lang="zh-CN" altLang="en-US">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15" name="矩形 14"/>
          <p:cNvSpPr/>
          <p:nvPr>
            <p:custDataLst>
              <p:tags r:id="rId12"/>
            </p:custDataLst>
          </p:nvPr>
        </p:nvSpPr>
        <p:spPr>
          <a:xfrm>
            <a:off x="371506" y="3736493"/>
            <a:ext cx="1860666" cy="394174"/>
          </a:xfrm>
          <a:prstGeom prst="rect">
            <a:avLst/>
          </a:prstGeom>
          <a:ln>
            <a:noFill/>
          </a:ln>
        </p:spPr>
        <p:style>
          <a:lnRef idx="2">
            <a:srgbClr val="1F74AD">
              <a:shade val="50000"/>
            </a:srgbClr>
          </a:lnRef>
          <a:fillRef idx="1">
            <a:srgbClr val="1F74AD"/>
          </a:fillRef>
          <a:effectRef idx="0">
            <a:srgbClr val="1F74AD"/>
          </a:effectRef>
          <a:fontRef idx="minor">
            <a:sysClr val="window" lastClr="FFFFFF"/>
          </a:fontRef>
        </p:style>
        <p:txBody>
          <a:bodyPr lIns="36000" rIns="36000" rtlCol="0" anchor="ctr">
            <a:noAutofit/>
          </a:bodyPr>
          <a:lstStyle/>
          <a:p>
            <a:pPr algn="ctr">
              <a:lnSpc>
                <a:spcPct val="120000"/>
              </a:lnSpc>
            </a:pPr>
            <a:endParaRPr lang="en-US" altLang="zh-CN" dirty="0">
              <a:solidFill>
                <a:sysClr val="window" lastClr="FFFFFF"/>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6" name="矩形 15"/>
          <p:cNvSpPr/>
          <p:nvPr>
            <p:custDataLst>
              <p:tags r:id="rId13"/>
            </p:custDataLst>
          </p:nvPr>
        </p:nvSpPr>
        <p:spPr>
          <a:xfrm>
            <a:off x="371596" y="4149365"/>
            <a:ext cx="2627630" cy="636905"/>
          </a:xfrm>
          <a:prstGeom prst="rect">
            <a:avLst/>
          </a:prstGeom>
        </p:spPr>
        <p:txBody>
          <a:bodyPr wrap="square" lIns="90000" rIns="90000" anchor="t" anchorCtr="0"/>
          <a:lstStyle/>
          <a:p>
            <a:pPr algn="ctr">
              <a:lnSpc>
                <a:spcPct val="120000"/>
              </a:lnSpc>
            </a:pPr>
            <a:r>
              <a:rPr lang="zh-CN" altLang="en-US" sz="1600">
                <a:sym typeface="+mn-ea"/>
              </a:rPr>
              <a:t>序列质量，GC含量，去接头，过高k-mers，重复reads</a:t>
            </a:r>
            <a:endParaRPr lang="zh-CN" altLang="en-US" sz="1600" spc="150">
              <a:latin typeface="Arial" panose="020B0604020202020204" pitchFamily="34" charset="0"/>
              <a:ea typeface="微软雅黑" panose="020B0503020204020204" charset="-122"/>
              <a:sym typeface="+mn-ea"/>
            </a:endParaRPr>
          </a:p>
        </p:txBody>
      </p:sp>
      <p:sp>
        <p:nvSpPr>
          <p:cNvPr id="17" name="文本框 45"/>
          <p:cNvSpPr txBox="1"/>
          <p:nvPr>
            <p:custDataLst>
              <p:tags r:id="rId14"/>
            </p:custDataLst>
          </p:nvPr>
        </p:nvSpPr>
        <p:spPr>
          <a:xfrm>
            <a:off x="456082" y="3736493"/>
            <a:ext cx="1691515" cy="394174"/>
          </a:xfrm>
          <a:prstGeom prst="rect">
            <a:avLst/>
          </a:prstGeom>
          <a:noFill/>
        </p:spPr>
        <p:txBody>
          <a:bodyPr wrap="square" rtlCol="0" anchor="ctr">
            <a:normAutofit fontScale="95000" lnSpcReduction="10000"/>
          </a:bodyPr>
          <a:lstStyle/>
          <a:p>
            <a:pPr algn="ctr">
              <a:lnSpc>
                <a:spcPct val="120000"/>
              </a:lnSpc>
            </a:pPr>
            <a:r>
              <a:rPr lang="zh-CN" altLang="en-US" sz="2000" b="1" spc="300">
                <a:solidFill>
                  <a:sysClr val="window" lastClr="FFFFFF"/>
                </a:solidFill>
                <a:latin typeface="Arial" panose="020B0604020202020204" pitchFamily="34" charset="0"/>
                <a:ea typeface="微软雅黑" panose="020B0503020204020204" charset="-122"/>
                <a:sym typeface="Arial" panose="020B0604020202020204" pitchFamily="34" charset="0"/>
              </a:rPr>
              <a:t>质量控制</a:t>
            </a:r>
          </a:p>
        </p:txBody>
      </p:sp>
      <p:sp>
        <p:nvSpPr>
          <p:cNvPr id="18" name="矩形 17"/>
          <p:cNvSpPr/>
          <p:nvPr>
            <p:custDataLst>
              <p:tags r:id="rId15"/>
            </p:custDataLst>
          </p:nvPr>
        </p:nvSpPr>
        <p:spPr>
          <a:xfrm>
            <a:off x="2987890" y="3492209"/>
            <a:ext cx="1860666" cy="394174"/>
          </a:xfrm>
          <a:prstGeom prst="rect">
            <a:avLst/>
          </a:prstGeom>
          <a:solidFill>
            <a:srgbClr val="1AA3AA"/>
          </a:solidFill>
          <a:ln>
            <a:noFill/>
          </a:ln>
        </p:spPr>
        <p:style>
          <a:lnRef idx="2">
            <a:srgbClr val="1F74AD">
              <a:shade val="50000"/>
            </a:srgbClr>
          </a:lnRef>
          <a:fillRef idx="1">
            <a:srgbClr val="1F74AD"/>
          </a:fillRef>
          <a:effectRef idx="0">
            <a:srgbClr val="1F74AD"/>
          </a:effectRef>
          <a:fontRef idx="minor">
            <a:sysClr val="window" lastClr="FFFFFF"/>
          </a:fontRef>
        </p:style>
        <p:txBody>
          <a:bodyPr lIns="36000" rIns="36000" rtlCol="0" anchor="ctr">
            <a:noAutofit/>
          </a:bodyPr>
          <a:lstStyle/>
          <a:p>
            <a:pPr algn="ctr">
              <a:lnSpc>
                <a:spcPct val="120000"/>
              </a:lnSpc>
            </a:pPr>
            <a:endParaRPr lang="en-US" altLang="zh-CN" dirty="0">
              <a:solidFill>
                <a:sysClr val="window" lastClr="FFFFFF"/>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9" name="文本框 47"/>
          <p:cNvSpPr txBox="1"/>
          <p:nvPr>
            <p:custDataLst>
              <p:tags r:id="rId16"/>
            </p:custDataLst>
          </p:nvPr>
        </p:nvSpPr>
        <p:spPr>
          <a:xfrm>
            <a:off x="3072465" y="3492209"/>
            <a:ext cx="1691515" cy="394174"/>
          </a:xfrm>
          <a:prstGeom prst="rect">
            <a:avLst/>
          </a:prstGeom>
          <a:noFill/>
        </p:spPr>
        <p:txBody>
          <a:bodyPr wrap="square" rtlCol="0" anchor="ctr"/>
          <a:lstStyle/>
          <a:p>
            <a:pPr algn="ctr">
              <a:lnSpc>
                <a:spcPct val="120000"/>
              </a:lnSpc>
            </a:pPr>
            <a:r>
              <a:rPr lang="zh-CN" altLang="en-US" sz="2000" b="1" spc="300" dirty="0">
                <a:solidFill>
                  <a:sysClr val="window" lastClr="FFFFFF"/>
                </a:solidFill>
                <a:latin typeface="Arial" panose="020B0604020202020204" pitchFamily="34" charset="0"/>
                <a:ea typeface="微软雅黑" panose="020B0503020204020204" charset="-122"/>
                <a:sym typeface="Arial" panose="020B0604020202020204" pitchFamily="34" charset="0"/>
              </a:rPr>
              <a:t>定量丰度</a:t>
            </a:r>
          </a:p>
        </p:txBody>
      </p:sp>
      <p:sp>
        <p:nvSpPr>
          <p:cNvPr id="20" name="矩形 19"/>
          <p:cNvSpPr/>
          <p:nvPr>
            <p:custDataLst>
              <p:tags r:id="rId17"/>
            </p:custDataLst>
          </p:nvPr>
        </p:nvSpPr>
        <p:spPr>
          <a:xfrm>
            <a:off x="3271015" y="3904994"/>
            <a:ext cx="1860663" cy="636996"/>
          </a:xfrm>
          <a:prstGeom prst="rect">
            <a:avLst/>
          </a:prstGeom>
        </p:spPr>
        <p:txBody>
          <a:bodyPr wrap="square" lIns="90000" rIns="90000" anchor="t" anchorCtr="0">
            <a:normAutofit/>
          </a:bodyPr>
          <a:lstStyle/>
          <a:p>
            <a:pPr algn="ctr">
              <a:lnSpc>
                <a:spcPct val="120000"/>
              </a:lnSpc>
            </a:pPr>
            <a:r>
              <a:rPr lang="en-US" altLang="zh-CN" sz="1600" spc="150">
                <a:latin typeface="Arial" panose="020B0604020202020204" pitchFamily="34" charset="0"/>
                <a:ea typeface="微软雅黑" panose="020B0503020204020204" charset="-122"/>
                <a:sym typeface="Arial" panose="020B0604020202020204" pitchFamily="34" charset="0"/>
              </a:rPr>
              <a:t>HTSeq</a:t>
            </a:r>
          </a:p>
        </p:txBody>
      </p:sp>
      <p:sp>
        <p:nvSpPr>
          <p:cNvPr id="21" name="矩形 20"/>
          <p:cNvSpPr/>
          <p:nvPr>
            <p:custDataLst>
              <p:tags r:id="rId18"/>
            </p:custDataLst>
          </p:nvPr>
        </p:nvSpPr>
        <p:spPr>
          <a:xfrm>
            <a:off x="6170528" y="3020135"/>
            <a:ext cx="1860666" cy="394174"/>
          </a:xfrm>
          <a:prstGeom prst="rect">
            <a:avLst/>
          </a:prstGeom>
          <a:solidFill>
            <a:srgbClr val="9BBB59"/>
          </a:solidFill>
          <a:ln>
            <a:noFill/>
          </a:ln>
        </p:spPr>
        <p:style>
          <a:lnRef idx="2">
            <a:srgbClr val="1F74AD">
              <a:shade val="50000"/>
            </a:srgbClr>
          </a:lnRef>
          <a:fillRef idx="1">
            <a:srgbClr val="1F74AD"/>
          </a:fillRef>
          <a:effectRef idx="0">
            <a:srgbClr val="1F74AD"/>
          </a:effectRef>
          <a:fontRef idx="minor">
            <a:sysClr val="window" lastClr="FFFFFF"/>
          </a:fontRef>
        </p:style>
        <p:txBody>
          <a:bodyPr lIns="36000" rIns="36000" rtlCol="0" anchor="ctr">
            <a:noAutofit/>
          </a:bodyPr>
          <a:lstStyle/>
          <a:p>
            <a:pPr algn="ctr">
              <a:lnSpc>
                <a:spcPct val="120000"/>
              </a:lnSpc>
            </a:pPr>
            <a:endParaRPr lang="en-US" altLang="zh-CN" dirty="0">
              <a:solidFill>
                <a:sysClr val="window" lastClr="FFFFFF"/>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22" name="文本框 50"/>
          <p:cNvSpPr txBox="1"/>
          <p:nvPr>
            <p:custDataLst>
              <p:tags r:id="rId19"/>
            </p:custDataLst>
          </p:nvPr>
        </p:nvSpPr>
        <p:spPr>
          <a:xfrm>
            <a:off x="6255104" y="3020135"/>
            <a:ext cx="1691515" cy="394174"/>
          </a:xfrm>
          <a:prstGeom prst="rect">
            <a:avLst/>
          </a:prstGeom>
          <a:noFill/>
        </p:spPr>
        <p:txBody>
          <a:bodyPr wrap="square" rtlCol="0" anchor="ctr">
            <a:normAutofit fontScale="95000" lnSpcReduction="10000"/>
          </a:bodyPr>
          <a:lstStyle/>
          <a:p>
            <a:pPr algn="ctr">
              <a:lnSpc>
                <a:spcPct val="120000"/>
              </a:lnSpc>
            </a:pPr>
            <a:r>
              <a:rPr lang="zh-CN" altLang="en-US" sz="2000" b="1" spc="300">
                <a:solidFill>
                  <a:sysClr val="window" lastClr="FFFFFF"/>
                </a:solidFill>
                <a:latin typeface="Arial" panose="020B0604020202020204" pitchFamily="34" charset="0"/>
                <a:ea typeface="微软雅黑" panose="020B0503020204020204" charset="-122"/>
                <a:sym typeface="Arial" panose="020B0604020202020204" pitchFamily="34" charset="0"/>
              </a:rPr>
              <a:t>下游分析</a:t>
            </a:r>
          </a:p>
        </p:txBody>
      </p:sp>
      <p:sp>
        <p:nvSpPr>
          <p:cNvPr id="23" name="矩形 22"/>
          <p:cNvSpPr/>
          <p:nvPr>
            <p:custDataLst>
              <p:tags r:id="rId20"/>
            </p:custDataLst>
          </p:nvPr>
        </p:nvSpPr>
        <p:spPr>
          <a:xfrm>
            <a:off x="6167320" y="3436605"/>
            <a:ext cx="1860663" cy="636996"/>
          </a:xfrm>
          <a:prstGeom prst="rect">
            <a:avLst/>
          </a:prstGeom>
        </p:spPr>
        <p:txBody>
          <a:bodyPr wrap="square" lIns="90000" rIns="90000" anchor="t" anchorCtr="0">
            <a:normAutofit fontScale="97500" lnSpcReduction="10000"/>
          </a:bodyPr>
          <a:lstStyle/>
          <a:p>
            <a:pPr algn="ctr">
              <a:lnSpc>
                <a:spcPct val="120000"/>
              </a:lnSpc>
            </a:pPr>
            <a:r>
              <a:rPr lang="zh-CN" altLang="en-US" sz="1600" spc="150">
                <a:latin typeface="Arial" panose="020B0604020202020204" pitchFamily="34" charset="0"/>
                <a:ea typeface="微软雅黑" panose="020B0503020204020204" charset="-122"/>
                <a:sym typeface="Arial" panose="020B0604020202020204" pitchFamily="34" charset="0"/>
              </a:rPr>
              <a:t>差异表达</a:t>
            </a:r>
          </a:p>
          <a:p>
            <a:pPr algn="ctr">
              <a:lnSpc>
                <a:spcPct val="120000"/>
              </a:lnSpc>
            </a:pPr>
            <a:r>
              <a:rPr lang="zh-CN" altLang="en-US" sz="1600" spc="150">
                <a:latin typeface="Arial" panose="020B0604020202020204" pitchFamily="34" charset="0"/>
                <a:ea typeface="微软雅黑" panose="020B0503020204020204" charset="-122"/>
                <a:sym typeface="Arial" panose="020B0604020202020204" pitchFamily="34" charset="0"/>
              </a:rPr>
              <a:t>共表达</a:t>
            </a:r>
          </a:p>
        </p:txBody>
      </p:sp>
      <p:sp>
        <p:nvSpPr>
          <p:cNvPr id="24" name="矩形 23"/>
          <p:cNvSpPr/>
          <p:nvPr>
            <p:custDataLst>
              <p:tags r:id="rId21"/>
            </p:custDataLst>
          </p:nvPr>
        </p:nvSpPr>
        <p:spPr>
          <a:xfrm>
            <a:off x="1822902" y="1198459"/>
            <a:ext cx="1860666" cy="394174"/>
          </a:xfrm>
          <a:prstGeom prst="rect">
            <a:avLst/>
          </a:prstGeom>
          <a:solidFill>
            <a:srgbClr val="3498DB"/>
          </a:solidFill>
          <a:ln>
            <a:noFill/>
          </a:ln>
        </p:spPr>
        <p:style>
          <a:lnRef idx="2">
            <a:srgbClr val="1F74AD">
              <a:shade val="50000"/>
            </a:srgbClr>
          </a:lnRef>
          <a:fillRef idx="1">
            <a:srgbClr val="1F74AD"/>
          </a:fillRef>
          <a:effectRef idx="0">
            <a:srgbClr val="1F74AD"/>
          </a:effectRef>
          <a:fontRef idx="minor">
            <a:sysClr val="window" lastClr="FFFFFF"/>
          </a:fontRef>
        </p:style>
        <p:txBody>
          <a:bodyPr lIns="36000" rIns="36000" rtlCol="0" anchor="ctr">
            <a:noAutofit/>
          </a:bodyPr>
          <a:lstStyle/>
          <a:p>
            <a:pPr algn="ctr">
              <a:lnSpc>
                <a:spcPct val="120000"/>
              </a:lnSpc>
            </a:pPr>
            <a:endParaRPr lang="en-US" altLang="zh-CN" sz="2000" dirty="0">
              <a:solidFill>
                <a:sysClr val="window" lastClr="FFFFFF"/>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25" name="文本框 53"/>
          <p:cNvSpPr txBox="1"/>
          <p:nvPr>
            <p:custDataLst>
              <p:tags r:id="rId22"/>
            </p:custDataLst>
          </p:nvPr>
        </p:nvSpPr>
        <p:spPr>
          <a:xfrm>
            <a:off x="1907478" y="1196914"/>
            <a:ext cx="1691515" cy="394174"/>
          </a:xfrm>
          <a:prstGeom prst="rect">
            <a:avLst/>
          </a:prstGeom>
          <a:noFill/>
        </p:spPr>
        <p:txBody>
          <a:bodyPr wrap="square" rtlCol="0" anchor="ctr">
            <a:normAutofit fontScale="95000" lnSpcReduction="10000"/>
          </a:bodyPr>
          <a:lstStyle/>
          <a:p>
            <a:pPr algn="ctr">
              <a:lnSpc>
                <a:spcPct val="120000"/>
              </a:lnSpc>
            </a:pPr>
            <a:r>
              <a:rPr lang="zh-CN" altLang="en-US" sz="2000" b="1" spc="300">
                <a:solidFill>
                  <a:sysClr val="window" lastClr="FFFFFF"/>
                </a:solidFill>
                <a:latin typeface="Arial" panose="020B0604020202020204" pitchFamily="34" charset="0"/>
                <a:ea typeface="微软雅黑" panose="020B0503020204020204" charset="-122"/>
                <a:sym typeface="Arial" panose="020B0604020202020204" pitchFamily="34" charset="0"/>
              </a:rPr>
              <a:t>比对和组装</a:t>
            </a:r>
          </a:p>
        </p:txBody>
      </p:sp>
      <p:sp>
        <p:nvSpPr>
          <p:cNvPr id="26" name="矩形 25"/>
          <p:cNvSpPr/>
          <p:nvPr>
            <p:custDataLst>
              <p:tags r:id="rId23"/>
            </p:custDataLst>
          </p:nvPr>
        </p:nvSpPr>
        <p:spPr>
          <a:xfrm>
            <a:off x="1819329" y="1608508"/>
            <a:ext cx="1860663" cy="636996"/>
          </a:xfrm>
          <a:prstGeom prst="rect">
            <a:avLst/>
          </a:prstGeom>
        </p:spPr>
        <p:txBody>
          <a:bodyPr wrap="square" lIns="90000" rIns="90000" anchor="t" anchorCtr="0">
            <a:normAutofit/>
          </a:bodyPr>
          <a:lstStyle/>
          <a:p>
            <a:pPr algn="ctr">
              <a:lnSpc>
                <a:spcPct val="120000"/>
              </a:lnSpc>
            </a:pPr>
            <a:r>
              <a:rPr lang="en-US" altLang="zh-CN" sz="1600" spc="150">
                <a:latin typeface="Arial" panose="020B0604020202020204" pitchFamily="34" charset="0"/>
                <a:ea typeface="微软雅黑" panose="020B0503020204020204" charset="-122"/>
                <a:sym typeface="Arial" panose="020B0604020202020204" pitchFamily="34" charset="0"/>
              </a:rPr>
              <a:t>TopHat2</a:t>
            </a:r>
          </a:p>
        </p:txBody>
      </p:sp>
      <p:sp>
        <p:nvSpPr>
          <p:cNvPr id="27" name="矩形 26"/>
          <p:cNvSpPr/>
          <p:nvPr>
            <p:custDataLst>
              <p:tags r:id="rId24"/>
            </p:custDataLst>
          </p:nvPr>
        </p:nvSpPr>
        <p:spPr>
          <a:xfrm>
            <a:off x="4554956" y="879418"/>
            <a:ext cx="2116983" cy="394317"/>
          </a:xfrm>
          <a:prstGeom prst="rect">
            <a:avLst/>
          </a:prstGeom>
          <a:solidFill>
            <a:srgbClr val="69A35B"/>
          </a:solidFill>
          <a:ln>
            <a:noFill/>
          </a:ln>
        </p:spPr>
        <p:style>
          <a:lnRef idx="2">
            <a:srgbClr val="1F74AD">
              <a:shade val="50000"/>
            </a:srgbClr>
          </a:lnRef>
          <a:fillRef idx="1">
            <a:srgbClr val="1F74AD"/>
          </a:fillRef>
          <a:effectRef idx="0">
            <a:srgbClr val="1F74AD"/>
          </a:effectRef>
          <a:fontRef idx="minor">
            <a:sysClr val="window" lastClr="FFFFFF"/>
          </a:fontRef>
        </p:style>
        <p:txBody>
          <a:bodyPr lIns="36000" rIns="36000" rtlCol="0" anchor="ctr">
            <a:noAutofit/>
          </a:bodyPr>
          <a:lstStyle/>
          <a:p>
            <a:pPr algn="ctr">
              <a:lnSpc>
                <a:spcPct val="120000"/>
              </a:lnSpc>
            </a:pPr>
            <a:endParaRPr lang="en-US" altLang="zh-CN" dirty="0">
              <a:solidFill>
                <a:sysClr val="window" lastClr="FFFFFF"/>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28" name="文本框 56"/>
          <p:cNvSpPr txBox="1"/>
          <p:nvPr>
            <p:custDataLst>
              <p:tags r:id="rId25"/>
            </p:custDataLst>
          </p:nvPr>
        </p:nvSpPr>
        <p:spPr>
          <a:xfrm>
            <a:off x="4606061" y="861970"/>
            <a:ext cx="1977486" cy="394508"/>
          </a:xfrm>
          <a:prstGeom prst="rect">
            <a:avLst/>
          </a:prstGeom>
          <a:noFill/>
        </p:spPr>
        <p:txBody>
          <a:bodyPr wrap="square" rtlCol="0" anchor="ctr"/>
          <a:lstStyle/>
          <a:p>
            <a:pPr algn="ctr">
              <a:lnSpc>
                <a:spcPct val="120000"/>
              </a:lnSpc>
            </a:pPr>
            <a:r>
              <a:rPr lang="zh-CN" altLang="en-US" b="1" spc="300" dirty="0">
                <a:solidFill>
                  <a:sysClr val="window" lastClr="FFFFFF"/>
                </a:solidFill>
                <a:latin typeface="Arial" panose="020B0604020202020204" pitchFamily="34" charset="0"/>
                <a:ea typeface="微软雅黑" panose="020B0503020204020204" charset="-122"/>
                <a:sym typeface="Arial" panose="020B0604020202020204" pitchFamily="34" charset="0"/>
              </a:rPr>
              <a:t>过滤和标准化</a:t>
            </a:r>
          </a:p>
        </p:txBody>
      </p:sp>
      <p:sp>
        <p:nvSpPr>
          <p:cNvPr id="29" name="矩形 28"/>
          <p:cNvSpPr/>
          <p:nvPr>
            <p:custDataLst>
              <p:tags r:id="rId26"/>
            </p:custDataLst>
          </p:nvPr>
        </p:nvSpPr>
        <p:spPr>
          <a:xfrm>
            <a:off x="4722041" y="1289441"/>
            <a:ext cx="1860663" cy="636996"/>
          </a:xfrm>
          <a:prstGeom prst="rect">
            <a:avLst/>
          </a:prstGeom>
        </p:spPr>
        <p:txBody>
          <a:bodyPr wrap="square" lIns="90000" rIns="90000" anchor="t" anchorCtr="0">
            <a:normAutofit/>
          </a:bodyPr>
          <a:lstStyle/>
          <a:p>
            <a:pPr algn="ctr">
              <a:lnSpc>
                <a:spcPct val="120000"/>
              </a:lnSpc>
            </a:pPr>
            <a:r>
              <a:rPr lang="en-US" altLang="zh-CN" sz="1600" spc="150">
                <a:latin typeface="Arial" panose="020B0604020202020204" pitchFamily="34" charset="0"/>
                <a:ea typeface="微软雅黑" panose="020B0503020204020204" charset="-122"/>
                <a:sym typeface="Arial" panose="020B0604020202020204" pitchFamily="34" charset="0"/>
              </a:rPr>
              <a:t>TMM</a:t>
            </a:r>
          </a:p>
        </p:txBody>
      </p:sp>
      <p:sp>
        <p:nvSpPr>
          <p:cNvPr id="31" name="标题 1"/>
          <p:cNvSpPr txBox="1">
            <a:spLocks/>
          </p:cNvSpPr>
          <p:nvPr/>
        </p:nvSpPr>
        <p:spPr>
          <a:xfrm>
            <a:off x="3598993" y="2435832"/>
            <a:ext cx="4321149" cy="421481"/>
          </a:xfrm>
          <a:prstGeom prst="rect">
            <a:avLst/>
          </a:prstGeom>
          <a:noFill/>
          <a:ln w="9525">
            <a:noFill/>
          </a:ln>
        </p:spPr>
        <p:txBody>
          <a:bodyPr anchor="ctr"/>
          <a:lstStyle>
            <a:lvl1pPr algn="r" rtl="0" eaLnBrk="0" fontAlgn="base" hangingPunct="0">
              <a:spcBef>
                <a:spcPct val="0"/>
              </a:spcBef>
              <a:spcAft>
                <a:spcPct val="0"/>
              </a:spcAft>
              <a:buClr>
                <a:srgbClr val="CC3300"/>
              </a:buClr>
              <a:buSzPct val="100000"/>
              <a:buFont typeface="Wingdings" panose="05000000000000000000" pitchFamily="2" charset="2"/>
              <a:defRPr sz="3200" b="1" kern="1200">
                <a:solidFill>
                  <a:srgbClr val="CC0000"/>
                </a:solidFill>
                <a:latin typeface="+mj-lt"/>
                <a:ea typeface="+mj-ea"/>
                <a:cs typeface="+mj-cs"/>
              </a:defRPr>
            </a:lvl1pPr>
            <a:lvl2pPr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2pPr>
            <a:lvl3pPr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3pPr>
            <a:lvl4pPr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4pPr>
            <a:lvl5pPr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5pPr>
            <a:lvl6pPr marL="457200"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6pPr>
            <a:lvl7pPr marL="914400"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7pPr>
            <a:lvl8pPr marL="1371600"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8pPr>
            <a:lvl9pPr marL="1828800"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9pPr>
          </a:lstStyle>
          <a:p>
            <a:r>
              <a:rPr lang="en-US" dirty="0"/>
              <a:t>R </a:t>
            </a:r>
            <a:r>
              <a:rPr lang="en-US" altLang="zh-CN" dirty="0"/>
              <a:t>processing</a:t>
            </a:r>
            <a:endParaRPr lang="en-GB" dirty="0"/>
          </a:p>
        </p:txBody>
      </p:sp>
      <p:sp>
        <p:nvSpPr>
          <p:cNvPr id="3" name="矩形 2">
            <a:extLst>
              <a:ext uri="{FF2B5EF4-FFF2-40B4-BE49-F238E27FC236}">
                <a16:creationId xmlns:a16="http://schemas.microsoft.com/office/drawing/2014/main" id="{ECC9B5A2-B9F9-BD65-89DA-18E5E016B90A}"/>
              </a:ext>
            </a:extLst>
          </p:cNvPr>
          <p:cNvSpPr/>
          <p:nvPr/>
        </p:nvSpPr>
        <p:spPr>
          <a:xfrm>
            <a:off x="4635955" y="771626"/>
            <a:ext cx="3673738" cy="360025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39591087"/>
      </p:ext>
    </p:extLst>
  </p:cSld>
  <p:clrMapOvr>
    <a:masterClrMapping/>
  </p:clrMapOvr>
  <p:transition>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GB"/>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780" y="1635685"/>
            <a:ext cx="6453416" cy="2742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18"/>
          <p:cNvSpPr txBox="1"/>
          <p:nvPr/>
        </p:nvSpPr>
        <p:spPr>
          <a:xfrm>
            <a:off x="3788988" y="987640"/>
            <a:ext cx="1683000" cy="307777"/>
          </a:xfrm>
          <a:prstGeom prst="rect">
            <a:avLst/>
          </a:prstGeom>
          <a:noFill/>
        </p:spPr>
        <p:txBody>
          <a:bodyPr wrap="square" rtlCol="0">
            <a:spAutoFit/>
          </a:bodyPr>
          <a:lstStyle/>
          <a:p>
            <a:pPr algn="ctr"/>
            <a:r>
              <a:rPr lang="en-US" altLang="zh-CN" sz="1400" dirty="0">
                <a:latin typeface="微软雅黑" panose="020B0503020204020204" charset="-122"/>
                <a:ea typeface="微软雅黑" panose="020B0503020204020204" charset="-122"/>
                <a:cs typeface="微软雅黑" panose="020B0503020204020204" charset="-122"/>
              </a:rPr>
              <a:t>Raw Counts data</a:t>
            </a:r>
          </a:p>
        </p:txBody>
      </p:sp>
      <p:sp>
        <p:nvSpPr>
          <p:cNvPr id="6" name="文本框 18"/>
          <p:cNvSpPr txBox="1"/>
          <p:nvPr/>
        </p:nvSpPr>
        <p:spPr>
          <a:xfrm>
            <a:off x="8028240" y="2283729"/>
            <a:ext cx="841500" cy="307777"/>
          </a:xfrm>
          <a:prstGeom prst="rect">
            <a:avLst/>
          </a:prstGeom>
          <a:noFill/>
        </p:spPr>
        <p:txBody>
          <a:bodyPr wrap="square" rtlCol="0">
            <a:spAutoFit/>
          </a:bodyPr>
          <a:lstStyle/>
          <a:p>
            <a:pPr algn="ctr"/>
            <a:r>
              <a:rPr lang="en-US" altLang="zh-CN" sz="1400" dirty="0">
                <a:latin typeface="微软雅黑" panose="020B0503020204020204" charset="-122"/>
                <a:ea typeface="微软雅黑" panose="020B0503020204020204" charset="-122"/>
                <a:cs typeface="微软雅黑" panose="020B0503020204020204" charset="-122"/>
              </a:rPr>
              <a:t>Reads</a:t>
            </a:r>
          </a:p>
        </p:txBody>
      </p:sp>
    </p:spTree>
    <p:extLst>
      <p:ext uri="{BB962C8B-B14F-4D97-AF65-F5344CB8AC3E}">
        <p14:creationId xmlns:p14="http://schemas.microsoft.com/office/powerpoint/2010/main" val="3794872450"/>
      </p:ext>
    </p:extLst>
  </p:cSld>
  <p:clrMapOvr>
    <a:masterClrMapping/>
  </p:clrMapOvr>
  <p:transition>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endParaRPr lang="en-GB" dirty="0"/>
          </a:p>
        </p:txBody>
      </p:sp>
      <p:sp>
        <p:nvSpPr>
          <p:cNvPr id="3" name="TextBox 1">
            <a:extLst>
              <a:ext uri="{FF2B5EF4-FFF2-40B4-BE49-F238E27FC236}">
                <a16:creationId xmlns:a16="http://schemas.microsoft.com/office/drawing/2014/main" id="{27C7A6C1-B19E-9320-B5D3-667EC52C864A}"/>
              </a:ext>
            </a:extLst>
          </p:cNvPr>
          <p:cNvSpPr txBox="1"/>
          <p:nvPr/>
        </p:nvSpPr>
        <p:spPr>
          <a:xfrm>
            <a:off x="2771875" y="1232922"/>
            <a:ext cx="3857778" cy="2308324"/>
          </a:xfrm>
          <a:prstGeom prst="rect">
            <a:avLst/>
          </a:prstGeom>
          <a:noFill/>
        </p:spPr>
        <p:txBody>
          <a:bodyPr wrap="square" rtlCol="0">
            <a:spAutoFit/>
          </a:bodyPr>
          <a:lstStyle/>
          <a:p>
            <a:r>
              <a:rPr lang="zh-CN" altLang="en-US" sz="2400" b="1" dirty="0"/>
              <a:t>一、转录组简介</a:t>
            </a:r>
            <a:endParaRPr lang="en-US" altLang="zh-CN" sz="2400" b="1" dirty="0"/>
          </a:p>
          <a:p>
            <a:endParaRPr lang="en-US" altLang="zh-CN" sz="2400" b="1" dirty="0"/>
          </a:p>
          <a:p>
            <a:r>
              <a:rPr lang="zh-CN" altLang="en-US" sz="2400" b="1" dirty="0"/>
              <a:t>二、</a:t>
            </a:r>
            <a:r>
              <a:rPr lang="en-US" altLang="zh-CN" sz="2400" b="1" dirty="0"/>
              <a:t>Normalization</a:t>
            </a:r>
          </a:p>
          <a:p>
            <a:endParaRPr lang="en-US" altLang="zh-CN" sz="2400" b="1" dirty="0"/>
          </a:p>
          <a:p>
            <a:r>
              <a:rPr lang="zh-CN" altLang="en-US" sz="2400" b="1" dirty="0"/>
              <a:t>三、</a:t>
            </a:r>
            <a:r>
              <a:rPr lang="en-US" altLang="zh-CN" sz="2400" b="1" dirty="0"/>
              <a:t>Pipeline</a:t>
            </a:r>
          </a:p>
          <a:p>
            <a:endParaRPr lang="en-US" sz="2400" b="1" dirty="0"/>
          </a:p>
        </p:txBody>
      </p:sp>
    </p:spTree>
    <p:extLst>
      <p:ext uri="{BB962C8B-B14F-4D97-AF65-F5344CB8AC3E}">
        <p14:creationId xmlns:p14="http://schemas.microsoft.com/office/powerpoint/2010/main" val="2771286249"/>
      </p:ext>
    </p:extLst>
  </p:cSld>
  <p:clrMapOvr>
    <a:masterClrMapping/>
  </p:clrMapOvr>
  <p:transition>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Read C</a:t>
            </a:r>
            <a:r>
              <a:rPr lang="en-US" altLang="zh-CN" dirty="0"/>
              <a:t>ounts </a:t>
            </a:r>
            <a:r>
              <a:rPr lang="zh-CN" altLang="en-US" dirty="0"/>
              <a:t>影响因素</a:t>
            </a:r>
            <a:endParaRPr lang="en-GB" dirty="0"/>
          </a:p>
        </p:txBody>
      </p:sp>
      <p:pic>
        <p:nvPicPr>
          <p:cNvPr id="8" name="内容占位符 3"/>
          <p:cNvPicPr>
            <a:picLocks noChangeAspect="1"/>
          </p:cNvPicPr>
          <p:nvPr>
            <p:custDataLst>
              <p:tags r:id="rId1"/>
            </p:custDataLst>
          </p:nvPr>
        </p:nvPicPr>
        <p:blipFill>
          <a:blip r:embed="rId5"/>
          <a:stretch>
            <a:fillRect/>
          </a:stretch>
        </p:blipFill>
        <p:spPr>
          <a:xfrm>
            <a:off x="467715" y="987640"/>
            <a:ext cx="3712585" cy="1943185"/>
          </a:xfrm>
          <a:prstGeom prst="rect">
            <a:avLst/>
          </a:prstGeom>
          <a:noFill/>
          <a:ln w="9525">
            <a:noFill/>
          </a:ln>
        </p:spPr>
      </p:pic>
      <p:pic>
        <p:nvPicPr>
          <p:cNvPr id="9" name="图片 8"/>
          <p:cNvPicPr/>
          <p:nvPr>
            <p:custDataLst>
              <p:tags r:id="rId2"/>
            </p:custDataLst>
          </p:nvPr>
        </p:nvPicPr>
        <p:blipFill>
          <a:blip r:embed="rId6"/>
          <a:stretch>
            <a:fillRect/>
          </a:stretch>
        </p:blipFill>
        <p:spPr>
          <a:xfrm>
            <a:off x="728509" y="3343405"/>
            <a:ext cx="2670712" cy="1771420"/>
          </a:xfrm>
          <a:prstGeom prst="rect">
            <a:avLst/>
          </a:prstGeom>
          <a:noFill/>
          <a:ln w="9525">
            <a:noFill/>
          </a:ln>
        </p:spPr>
      </p:pic>
      <p:pic>
        <p:nvPicPr>
          <p:cNvPr id="10" name="图片 9"/>
          <p:cNvPicPr/>
          <p:nvPr>
            <p:custDataLst>
              <p:tags r:id="rId3"/>
            </p:custDataLst>
          </p:nvPr>
        </p:nvPicPr>
        <p:blipFill>
          <a:blip r:embed="rId7"/>
          <a:stretch>
            <a:fillRect/>
          </a:stretch>
        </p:blipFill>
        <p:spPr>
          <a:xfrm>
            <a:off x="4427990" y="1151908"/>
            <a:ext cx="3707940" cy="3557834"/>
          </a:xfrm>
          <a:prstGeom prst="rect">
            <a:avLst/>
          </a:prstGeom>
          <a:noFill/>
          <a:ln w="9525">
            <a:noFill/>
          </a:ln>
        </p:spPr>
      </p:pic>
      <p:sp>
        <p:nvSpPr>
          <p:cNvPr id="11" name="文本框 7"/>
          <p:cNvSpPr txBox="1"/>
          <p:nvPr/>
        </p:nvSpPr>
        <p:spPr>
          <a:xfrm>
            <a:off x="4283980" y="736180"/>
            <a:ext cx="3271900" cy="398780"/>
          </a:xfrm>
          <a:prstGeom prst="rect">
            <a:avLst/>
          </a:prstGeom>
          <a:noFill/>
        </p:spPr>
        <p:txBody>
          <a:bodyPr wrap="square" rtlCol="0" anchor="t">
            <a:spAutoFit/>
          </a:bodyPr>
          <a:lstStyle/>
          <a:p>
            <a:r>
              <a:rPr lang="zh-CN" altLang="en-US" sz="2000" b="1" dirty="0">
                <a:solidFill>
                  <a:schemeClr val="tx1"/>
                </a:solidFill>
              </a:rPr>
              <a:t>三：转录组组成</a:t>
            </a:r>
          </a:p>
        </p:txBody>
      </p:sp>
      <p:sp>
        <p:nvSpPr>
          <p:cNvPr id="12" name="文本框 8"/>
          <p:cNvSpPr txBox="1"/>
          <p:nvPr/>
        </p:nvSpPr>
        <p:spPr>
          <a:xfrm>
            <a:off x="251700" y="3003780"/>
            <a:ext cx="2808195" cy="368300"/>
          </a:xfrm>
          <a:prstGeom prst="rect">
            <a:avLst/>
          </a:prstGeom>
          <a:noFill/>
        </p:spPr>
        <p:txBody>
          <a:bodyPr wrap="square" rtlCol="0" anchor="t">
            <a:spAutoFit/>
          </a:bodyPr>
          <a:lstStyle/>
          <a:p>
            <a:r>
              <a:rPr lang="zh-CN" altLang="en-US" b="1"/>
              <a:t>二：基因长度</a:t>
            </a:r>
          </a:p>
        </p:txBody>
      </p:sp>
      <p:sp>
        <p:nvSpPr>
          <p:cNvPr id="13" name="文本框 9"/>
          <p:cNvSpPr txBox="1"/>
          <p:nvPr/>
        </p:nvSpPr>
        <p:spPr>
          <a:xfrm>
            <a:off x="187880" y="723900"/>
            <a:ext cx="3211341" cy="368300"/>
          </a:xfrm>
          <a:prstGeom prst="rect">
            <a:avLst/>
          </a:prstGeom>
          <a:noFill/>
        </p:spPr>
        <p:txBody>
          <a:bodyPr wrap="square" rtlCol="0" anchor="t">
            <a:spAutoFit/>
          </a:bodyPr>
          <a:lstStyle/>
          <a:p>
            <a:r>
              <a:rPr lang="zh-CN" altLang="en-US" b="1" dirty="0"/>
              <a:t>一：测序深度</a:t>
            </a:r>
          </a:p>
        </p:txBody>
      </p:sp>
    </p:spTree>
    <p:extLst>
      <p:ext uri="{BB962C8B-B14F-4D97-AF65-F5344CB8AC3E}">
        <p14:creationId xmlns:p14="http://schemas.microsoft.com/office/powerpoint/2010/main" val="3920633731"/>
      </p:ext>
    </p:extLst>
  </p:cSld>
  <p:clrMapOvr>
    <a:masterClrMapping/>
  </p:clrMapOvr>
  <p:transition>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N</a:t>
            </a:r>
            <a:r>
              <a:rPr lang="en-US" altLang="zh-CN" dirty="0"/>
              <a:t>ormalization</a:t>
            </a:r>
            <a:endParaRPr lang="en-GB" dirty="0"/>
          </a:p>
        </p:txBody>
      </p:sp>
      <p:sp>
        <p:nvSpPr>
          <p:cNvPr id="14" name="内容占位符 2"/>
          <p:cNvSpPr>
            <a:spLocks noGrp="1"/>
          </p:cNvSpPr>
          <p:nvPr>
            <p:ph idx="1"/>
          </p:nvPr>
        </p:nvSpPr>
        <p:spPr>
          <a:xfrm>
            <a:off x="395710" y="1491675"/>
            <a:ext cx="8136565" cy="2888330"/>
          </a:xfrm>
        </p:spPr>
        <p:txBody>
          <a:bodyPr>
            <a:normAutofit fontScale="70000" lnSpcReduction="20000"/>
          </a:bodyPr>
          <a:lstStyle/>
          <a:p>
            <a:r>
              <a:rPr lang="zh-CN" altLang="en-US" dirty="0"/>
              <a:t>数值概念：</a:t>
            </a:r>
          </a:p>
          <a:p>
            <a:pPr marL="0" indent="0">
              <a:buNone/>
            </a:pPr>
            <a:r>
              <a:rPr lang="zh-CN" altLang="en-US" b="0" dirty="0"/>
              <a:t>CPM= A/mapped reads*1000000 </a:t>
            </a:r>
            <a:r>
              <a:rPr lang="en-US" altLang="zh-CN" b="0" dirty="0"/>
              <a:t> </a:t>
            </a:r>
            <a:r>
              <a:rPr lang="zh-CN" altLang="en-US" b="0" dirty="0"/>
              <a:t>A为比对到某基因的reads数(read count)。</a:t>
            </a:r>
            <a:endParaRPr lang="zh-CN" altLang="en-US" dirty="0"/>
          </a:p>
          <a:p>
            <a:r>
              <a:rPr lang="zh-CN" altLang="en-US" dirty="0"/>
              <a:t>用途：</a:t>
            </a:r>
            <a:r>
              <a:rPr lang="zh-CN" altLang="en-US" b="0" dirty="0"/>
              <a:t>不做基因间比较，不在意基因长度的影响。</a:t>
            </a:r>
            <a:endParaRPr lang="zh-CN" altLang="en-US" dirty="0"/>
          </a:p>
          <a:p>
            <a:r>
              <a:rPr lang="zh-CN" altLang="en-US" dirty="0"/>
              <a:t>基于以下假设：</a:t>
            </a:r>
          </a:p>
          <a:p>
            <a:pPr marL="0" indent="0">
              <a:buNone/>
            </a:pPr>
            <a:r>
              <a:rPr lang="zh-CN" altLang="en-US" dirty="0"/>
              <a:t>测序</a:t>
            </a:r>
            <a:r>
              <a:rPr lang="en-US" altLang="zh-CN" dirty="0"/>
              <a:t>Read</a:t>
            </a:r>
            <a:r>
              <a:rPr lang="zh-CN" altLang="en-US" dirty="0"/>
              <a:t>数与</a:t>
            </a:r>
            <a:r>
              <a:rPr lang="en-US" altLang="zh-CN" dirty="0"/>
              <a:t>RNA</a:t>
            </a:r>
            <a:r>
              <a:rPr lang="zh-CN" altLang="en-US" dirty="0"/>
              <a:t>上样量和测序深度相关，总</a:t>
            </a:r>
            <a:r>
              <a:rPr lang="en-US" altLang="zh-CN" dirty="0"/>
              <a:t>RNA</a:t>
            </a:r>
            <a:r>
              <a:rPr lang="zh-CN" altLang="en-US" dirty="0"/>
              <a:t>一致，总</a:t>
            </a:r>
            <a:r>
              <a:rPr lang="en-US" altLang="zh-CN" dirty="0"/>
              <a:t>reads</a:t>
            </a:r>
            <a:r>
              <a:rPr lang="zh-CN" altLang="en-US" dirty="0"/>
              <a:t>数一致</a:t>
            </a:r>
          </a:p>
          <a:p>
            <a:endParaRPr lang="zh-CN" altLang="en-US" dirty="0"/>
          </a:p>
          <a:p>
            <a:endParaRPr lang="zh-CN" altLang="en-US" dirty="0"/>
          </a:p>
        </p:txBody>
      </p:sp>
      <p:sp>
        <p:nvSpPr>
          <p:cNvPr id="15" name="标题 1"/>
          <p:cNvSpPr txBox="1">
            <a:spLocks/>
          </p:cNvSpPr>
          <p:nvPr/>
        </p:nvSpPr>
        <p:spPr>
          <a:xfrm>
            <a:off x="683730" y="555610"/>
            <a:ext cx="4539185" cy="821528"/>
          </a:xfrm>
          <a:prstGeom prst="rect">
            <a:avLst/>
          </a:prstGeom>
          <a:noFill/>
          <a:ln w="9525">
            <a:noFill/>
          </a:ln>
        </p:spPr>
        <p:txBody>
          <a:bodyPr anchor="ctr"/>
          <a:lstStyle>
            <a:lvl1pPr algn="r" rtl="0" eaLnBrk="0" fontAlgn="base" hangingPunct="0">
              <a:spcBef>
                <a:spcPct val="0"/>
              </a:spcBef>
              <a:spcAft>
                <a:spcPct val="0"/>
              </a:spcAft>
              <a:buClr>
                <a:srgbClr val="CC3300"/>
              </a:buClr>
              <a:buSzPct val="100000"/>
              <a:buFont typeface="Wingdings" panose="05000000000000000000" pitchFamily="2" charset="2"/>
              <a:defRPr sz="3200" b="1" kern="1200">
                <a:solidFill>
                  <a:srgbClr val="CC0000"/>
                </a:solidFill>
                <a:latin typeface="+mj-lt"/>
                <a:ea typeface="+mj-ea"/>
                <a:cs typeface="+mj-cs"/>
              </a:defRPr>
            </a:lvl1pPr>
            <a:lvl2pPr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2pPr>
            <a:lvl3pPr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3pPr>
            <a:lvl4pPr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4pPr>
            <a:lvl5pPr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5pPr>
            <a:lvl6pPr marL="457200"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6pPr>
            <a:lvl7pPr marL="914400"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7pPr>
            <a:lvl8pPr marL="1371600"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8pPr>
            <a:lvl9pPr marL="1828800"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9pPr>
          </a:lstStyle>
          <a:p>
            <a:pPr algn="l"/>
            <a:r>
              <a:rPr lang="zh-CN" altLang="en-US" dirty="0">
                <a:solidFill>
                  <a:schemeClr val="tx1"/>
                </a:solidFill>
                <a:latin typeface="Calibri" panose="020F0502020204030204" charset="0"/>
                <a:cs typeface="Calibri" panose="020F0502020204030204" charset="0"/>
              </a:rPr>
              <a:t>CPM:Counts per million</a:t>
            </a:r>
          </a:p>
        </p:txBody>
      </p:sp>
    </p:spTree>
    <p:extLst>
      <p:ext uri="{BB962C8B-B14F-4D97-AF65-F5344CB8AC3E}">
        <p14:creationId xmlns:p14="http://schemas.microsoft.com/office/powerpoint/2010/main" val="4195730453"/>
      </p:ext>
    </p:extLst>
  </p:cSld>
  <p:clrMapOvr>
    <a:masterClrMapping/>
  </p:clrMapOvr>
  <p:transition>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5731FAF5-0D3A-BF3C-8ACC-E9631F24AD30}"/>
              </a:ext>
            </a:extLst>
          </p:cNvPr>
          <p:cNvSpPr>
            <a:spLocks noGrp="1"/>
          </p:cNvSpPr>
          <p:nvPr>
            <p:ph type="title"/>
          </p:nvPr>
        </p:nvSpPr>
        <p:spPr>
          <a:xfrm>
            <a:off x="971550" y="144067"/>
            <a:ext cx="7848600" cy="421481"/>
          </a:xfrm>
        </p:spPr>
        <p:txBody>
          <a:bodyPr/>
          <a:lstStyle/>
          <a:p>
            <a:r>
              <a:rPr lang="en-US" dirty="0"/>
              <a:t>N</a:t>
            </a:r>
            <a:r>
              <a:rPr lang="en-US" altLang="zh-CN" dirty="0"/>
              <a:t>ormalization</a:t>
            </a:r>
            <a:endParaRPr lang="en-GB" dirty="0"/>
          </a:p>
        </p:txBody>
      </p:sp>
      <p:sp>
        <p:nvSpPr>
          <p:cNvPr id="8" name="内容占位符 2">
            <a:extLst>
              <a:ext uri="{FF2B5EF4-FFF2-40B4-BE49-F238E27FC236}">
                <a16:creationId xmlns:a16="http://schemas.microsoft.com/office/drawing/2014/main" id="{DFCD9F98-8466-081C-6546-4DE20EF9812D}"/>
              </a:ext>
            </a:extLst>
          </p:cNvPr>
          <p:cNvSpPr>
            <a:spLocks noGrp="1"/>
          </p:cNvSpPr>
          <p:nvPr>
            <p:ph idx="1"/>
          </p:nvPr>
        </p:nvSpPr>
        <p:spPr>
          <a:xfrm>
            <a:off x="107689" y="1489724"/>
            <a:ext cx="5279297" cy="3386186"/>
          </a:xfrm>
        </p:spPr>
        <p:txBody>
          <a:bodyPr>
            <a:normAutofit fontScale="47500" lnSpcReduction="20000"/>
          </a:bodyPr>
          <a:lstStyle/>
          <a:p>
            <a:r>
              <a:rPr lang="zh-CN" altLang="en-US" dirty="0"/>
              <a:t>数值概念:</a:t>
            </a:r>
          </a:p>
          <a:p>
            <a:pPr marL="0" indent="0">
              <a:buNone/>
            </a:pPr>
            <a:r>
              <a:rPr lang="zh-CN" altLang="en-US" dirty="0"/>
              <a:t>RPKM=(1000000*A)/( mapped reads *gene length/1000)</a:t>
            </a:r>
          </a:p>
          <a:p>
            <a:pPr marL="0" indent="0">
              <a:buNone/>
            </a:pPr>
            <a:r>
              <a:rPr lang="zh-CN" altLang="en-US" dirty="0"/>
              <a:t>A为比对到某基因的 reads</a:t>
            </a:r>
            <a:r>
              <a:rPr lang="en-US" altLang="zh-CN" dirty="0"/>
              <a:t>/fragment</a:t>
            </a:r>
            <a:r>
              <a:rPr lang="zh-CN" altLang="en-US" dirty="0"/>
              <a:t>数</a:t>
            </a:r>
            <a:r>
              <a:rPr lang="en-US" altLang="zh-CN" dirty="0"/>
              <a:t> </a:t>
            </a:r>
            <a:r>
              <a:rPr lang="zh-CN" altLang="en-US" dirty="0"/>
              <a:t>(read count)</a:t>
            </a:r>
          </a:p>
          <a:p>
            <a:endParaRPr lang="zh-CN" altLang="en-US" dirty="0"/>
          </a:p>
          <a:p>
            <a:r>
              <a:rPr lang="zh-CN" altLang="en-US" dirty="0"/>
              <a:t>RPKM</a:t>
            </a:r>
            <a:r>
              <a:rPr lang="en-US" altLang="zh-CN" dirty="0"/>
              <a:t>/FPKM </a:t>
            </a:r>
            <a:r>
              <a:rPr lang="zh-CN" altLang="en-US" dirty="0"/>
              <a:t>消除基因长度和测序量差异对计算基因表达的影响，基因表达量可直接用于比较不同样品间的基因表达差异和不同基因间表达高低的比较。</a:t>
            </a:r>
          </a:p>
          <a:p>
            <a:endParaRPr lang="zh-CN" altLang="en-US" dirty="0"/>
          </a:p>
          <a:p>
            <a:r>
              <a:rPr lang="zh-CN" altLang="en-US" dirty="0">
                <a:sym typeface="+mn-ea"/>
              </a:rPr>
              <a:t>Reads即是指fastq数据中的每一条Reads（针对单端测序）</a:t>
            </a:r>
          </a:p>
          <a:p>
            <a:r>
              <a:rPr lang="zh-CN" altLang="en-US" dirty="0">
                <a:sym typeface="+mn-ea"/>
              </a:rPr>
              <a:t>Fragments则是指每一段用于测序的核酸片段（针对双端测序）</a:t>
            </a:r>
          </a:p>
        </p:txBody>
      </p:sp>
      <p:sp>
        <p:nvSpPr>
          <p:cNvPr id="9" name="标题 1">
            <a:extLst>
              <a:ext uri="{FF2B5EF4-FFF2-40B4-BE49-F238E27FC236}">
                <a16:creationId xmlns:a16="http://schemas.microsoft.com/office/drawing/2014/main" id="{E55BA2BE-ABCB-3C2C-20EE-D88D70426C72}"/>
              </a:ext>
            </a:extLst>
          </p:cNvPr>
          <p:cNvSpPr txBox="1">
            <a:spLocks/>
          </p:cNvSpPr>
          <p:nvPr/>
        </p:nvSpPr>
        <p:spPr>
          <a:xfrm>
            <a:off x="539720" y="648881"/>
            <a:ext cx="8712605" cy="821528"/>
          </a:xfrm>
          <a:prstGeom prst="rect">
            <a:avLst/>
          </a:prstGeom>
          <a:noFill/>
          <a:ln w="9525">
            <a:noFill/>
          </a:ln>
        </p:spPr>
        <p:txBody>
          <a:bodyPr anchor="ctr"/>
          <a:lstStyle>
            <a:lvl1pPr algn="r" rtl="0" eaLnBrk="0" fontAlgn="base" hangingPunct="0">
              <a:spcBef>
                <a:spcPct val="0"/>
              </a:spcBef>
              <a:spcAft>
                <a:spcPct val="0"/>
              </a:spcAft>
              <a:buClr>
                <a:srgbClr val="CC3300"/>
              </a:buClr>
              <a:buSzPct val="100000"/>
              <a:buFont typeface="Wingdings" panose="05000000000000000000" pitchFamily="2" charset="2"/>
              <a:defRPr sz="3200" b="1" kern="1200">
                <a:solidFill>
                  <a:srgbClr val="CC0000"/>
                </a:solidFill>
                <a:latin typeface="+mj-lt"/>
                <a:ea typeface="+mj-ea"/>
                <a:cs typeface="+mj-cs"/>
              </a:defRPr>
            </a:lvl1pPr>
            <a:lvl2pPr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2pPr>
            <a:lvl3pPr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3pPr>
            <a:lvl4pPr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4pPr>
            <a:lvl5pPr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5pPr>
            <a:lvl6pPr marL="457200"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6pPr>
            <a:lvl7pPr marL="914400"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7pPr>
            <a:lvl8pPr marL="1371600"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8pPr>
            <a:lvl9pPr marL="1828800"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9pPr>
          </a:lstStyle>
          <a:p>
            <a:pPr algn="l"/>
            <a:r>
              <a:rPr lang="en-GB" altLang="zh-CN" sz="2400" dirty="0">
                <a:solidFill>
                  <a:schemeClr val="tx1"/>
                </a:solidFill>
                <a:latin typeface="Calibri" panose="020F0502020204030204" charset="0"/>
                <a:cs typeface="Calibri" panose="020F0502020204030204" charset="0"/>
              </a:rPr>
              <a:t>RPKM/FPKM: </a:t>
            </a:r>
            <a:br>
              <a:rPr lang="en-GB" altLang="zh-CN" sz="2400" dirty="0">
                <a:solidFill>
                  <a:schemeClr val="tx1"/>
                </a:solidFill>
                <a:latin typeface="Calibri" panose="020F0502020204030204" charset="0"/>
                <a:cs typeface="Calibri" panose="020F0502020204030204" charset="0"/>
              </a:rPr>
            </a:br>
            <a:r>
              <a:rPr lang="en-GB" altLang="zh-CN" sz="2400" dirty="0">
                <a:solidFill>
                  <a:schemeClr val="tx1"/>
                </a:solidFill>
                <a:latin typeface="Calibri" panose="020F0502020204030204" charset="0"/>
                <a:cs typeface="Calibri" panose="020F0502020204030204" charset="0"/>
              </a:rPr>
              <a:t>Reads/Fragments Per </a:t>
            </a:r>
            <a:r>
              <a:rPr lang="en-GB" altLang="zh-CN" sz="2400" dirty="0" err="1">
                <a:solidFill>
                  <a:schemeClr val="tx1"/>
                </a:solidFill>
                <a:latin typeface="Calibri" panose="020F0502020204030204" charset="0"/>
                <a:cs typeface="Calibri" panose="020F0502020204030204" charset="0"/>
              </a:rPr>
              <a:t>Kilobase</a:t>
            </a:r>
            <a:r>
              <a:rPr lang="en-GB" altLang="zh-CN" sz="2400" dirty="0">
                <a:solidFill>
                  <a:schemeClr val="tx1"/>
                </a:solidFill>
                <a:latin typeface="Calibri" panose="020F0502020204030204" charset="0"/>
                <a:cs typeface="Calibri" panose="020F0502020204030204" charset="0"/>
              </a:rPr>
              <a:t> per Million mapped reads</a:t>
            </a:r>
          </a:p>
        </p:txBody>
      </p:sp>
      <p:pic>
        <p:nvPicPr>
          <p:cNvPr id="10" name="图片 9">
            <a:extLst>
              <a:ext uri="{FF2B5EF4-FFF2-40B4-BE49-F238E27FC236}">
                <a16:creationId xmlns:a16="http://schemas.microsoft.com/office/drawing/2014/main" id="{A8A4A368-B71F-2F86-33CC-6C19BAD9CDEB}"/>
              </a:ext>
            </a:extLst>
          </p:cNvPr>
          <p:cNvPicPr/>
          <p:nvPr/>
        </p:nvPicPr>
        <p:blipFill>
          <a:blip r:embed="rId2"/>
          <a:srcRect l="4356" t="2893" r="7623" b="2191"/>
          <a:stretch>
            <a:fillRect/>
          </a:stretch>
        </p:blipFill>
        <p:spPr>
          <a:xfrm>
            <a:off x="5386987" y="2715759"/>
            <a:ext cx="3550707" cy="1859755"/>
          </a:xfrm>
          <a:prstGeom prst="rect">
            <a:avLst/>
          </a:prstGeom>
          <a:noFill/>
          <a:ln w="9525">
            <a:noFill/>
          </a:ln>
        </p:spPr>
      </p:pic>
      <p:pic>
        <p:nvPicPr>
          <p:cNvPr id="11" name="图片 10">
            <a:extLst>
              <a:ext uri="{FF2B5EF4-FFF2-40B4-BE49-F238E27FC236}">
                <a16:creationId xmlns:a16="http://schemas.microsoft.com/office/drawing/2014/main" id="{9088C037-8CF1-56BD-D816-88E67D031F47}"/>
              </a:ext>
            </a:extLst>
          </p:cNvPr>
          <p:cNvPicPr/>
          <p:nvPr/>
        </p:nvPicPr>
        <p:blipFill>
          <a:blip r:embed="rId3"/>
          <a:stretch>
            <a:fillRect/>
          </a:stretch>
        </p:blipFill>
        <p:spPr>
          <a:xfrm>
            <a:off x="4896022" y="1439866"/>
            <a:ext cx="4017225" cy="898973"/>
          </a:xfrm>
          <a:prstGeom prst="rect">
            <a:avLst/>
          </a:prstGeom>
          <a:noFill/>
          <a:ln w="9525">
            <a:noFill/>
          </a:ln>
        </p:spPr>
      </p:pic>
    </p:spTree>
    <p:extLst>
      <p:ext uri="{BB962C8B-B14F-4D97-AF65-F5344CB8AC3E}">
        <p14:creationId xmlns:p14="http://schemas.microsoft.com/office/powerpoint/2010/main" val="2322398699"/>
      </p:ext>
    </p:extLst>
  </p:cSld>
  <p:clrMapOvr>
    <a:masterClrMapping/>
  </p:clrMapOvr>
  <p:transition>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B4FDEAF3-78DD-3BD4-D8A4-1327669FFA20}"/>
              </a:ext>
            </a:extLst>
          </p:cNvPr>
          <p:cNvSpPr>
            <a:spLocks noGrp="1"/>
          </p:cNvSpPr>
          <p:nvPr>
            <p:ph type="title"/>
          </p:nvPr>
        </p:nvSpPr>
        <p:spPr>
          <a:xfrm>
            <a:off x="971550" y="144067"/>
            <a:ext cx="7848600" cy="421481"/>
          </a:xfrm>
        </p:spPr>
        <p:txBody>
          <a:bodyPr/>
          <a:lstStyle/>
          <a:p>
            <a:r>
              <a:rPr lang="en-US" dirty="0"/>
              <a:t>N</a:t>
            </a:r>
            <a:r>
              <a:rPr lang="en-US" altLang="zh-CN" dirty="0"/>
              <a:t>ormalization</a:t>
            </a:r>
            <a:endParaRPr lang="en-GB" dirty="0"/>
          </a:p>
        </p:txBody>
      </p:sp>
      <p:sp>
        <p:nvSpPr>
          <p:cNvPr id="12" name="内容占位符 2">
            <a:extLst>
              <a:ext uri="{FF2B5EF4-FFF2-40B4-BE49-F238E27FC236}">
                <a16:creationId xmlns:a16="http://schemas.microsoft.com/office/drawing/2014/main" id="{D73D08C2-17FA-3513-F73B-59D4FD0BAA5F}"/>
              </a:ext>
            </a:extLst>
          </p:cNvPr>
          <p:cNvSpPr>
            <a:spLocks noGrp="1"/>
          </p:cNvSpPr>
          <p:nvPr>
            <p:ph idx="1"/>
          </p:nvPr>
        </p:nvSpPr>
        <p:spPr>
          <a:xfrm>
            <a:off x="107690" y="915635"/>
            <a:ext cx="5688395" cy="3744260"/>
          </a:xfrm>
        </p:spPr>
        <p:txBody>
          <a:bodyPr>
            <a:normAutofit fontScale="62500" lnSpcReduction="20000"/>
          </a:bodyPr>
          <a:lstStyle/>
          <a:p>
            <a:r>
              <a:rPr lang="zh-CN" altLang="en-US" dirty="0"/>
              <a:t>数值概念:</a:t>
            </a:r>
          </a:p>
          <a:p>
            <a:pPr marL="0" indent="0">
              <a:buNone/>
            </a:pPr>
            <a:r>
              <a:rPr lang="zh-CN" altLang="en-US" dirty="0"/>
              <a:t>基因校正长度之后计算再进行对总和校正</a:t>
            </a:r>
            <a:endParaRPr lang="en-US" altLang="zh-CN" dirty="0"/>
          </a:p>
          <a:p>
            <a:pPr marL="0" indent="0">
              <a:buNone/>
            </a:pPr>
            <a:endParaRPr lang="zh-CN" altLang="en-US" dirty="0"/>
          </a:p>
          <a:p>
            <a:pPr>
              <a:lnSpc>
                <a:spcPct val="110000"/>
              </a:lnSpc>
            </a:pPr>
            <a:r>
              <a:rPr lang="zh-CN" altLang="en-US" dirty="0"/>
              <a:t>相比于RPKM使用read counts之和来作为文库校正因子，TPM使用RPK之和作为文库校正因子的好处是考虑了不同样本间的基因长度的分布。</a:t>
            </a:r>
            <a:r>
              <a:rPr lang="zh-CN" altLang="en-US" dirty="0">
                <a:solidFill>
                  <a:srgbClr val="C00000"/>
                </a:solidFill>
              </a:rPr>
              <a:t>因为RPK是一个对基因长度进行校正后的表达量单位，所以RPK之和也不会再带入基因长度的bias</a:t>
            </a:r>
            <a:r>
              <a:rPr lang="zh-CN" altLang="en-US" dirty="0"/>
              <a:t>。因此，如果需要比较的样本之间转录本分布不一致时（例如不同物种RNA-seq的比较），使用TPM是一个较佳的Normalization方案</a:t>
            </a:r>
            <a:r>
              <a:rPr lang="zh-CN" altLang="en-US" dirty="0">
                <a:sym typeface="+mn-ea"/>
              </a:rPr>
              <a:t>）</a:t>
            </a:r>
          </a:p>
        </p:txBody>
      </p:sp>
      <p:sp>
        <p:nvSpPr>
          <p:cNvPr id="13" name="标题 1">
            <a:extLst>
              <a:ext uri="{FF2B5EF4-FFF2-40B4-BE49-F238E27FC236}">
                <a16:creationId xmlns:a16="http://schemas.microsoft.com/office/drawing/2014/main" id="{E868AE52-3A0B-AB31-CC20-3856EC654A50}"/>
              </a:ext>
            </a:extLst>
          </p:cNvPr>
          <p:cNvSpPr txBox="1">
            <a:spLocks/>
          </p:cNvSpPr>
          <p:nvPr/>
        </p:nvSpPr>
        <p:spPr>
          <a:xfrm>
            <a:off x="1043755" y="339595"/>
            <a:ext cx="8712605" cy="675912"/>
          </a:xfrm>
          <a:prstGeom prst="rect">
            <a:avLst/>
          </a:prstGeom>
          <a:noFill/>
          <a:ln w="9525">
            <a:noFill/>
          </a:ln>
        </p:spPr>
        <p:txBody>
          <a:bodyPr anchor="ctr"/>
          <a:lstStyle>
            <a:lvl1pPr algn="r" rtl="0" eaLnBrk="0" fontAlgn="base" hangingPunct="0">
              <a:spcBef>
                <a:spcPct val="0"/>
              </a:spcBef>
              <a:spcAft>
                <a:spcPct val="0"/>
              </a:spcAft>
              <a:buClr>
                <a:srgbClr val="CC3300"/>
              </a:buClr>
              <a:buSzPct val="100000"/>
              <a:buFont typeface="Wingdings" panose="05000000000000000000" pitchFamily="2" charset="2"/>
              <a:defRPr sz="3200" b="1" kern="1200">
                <a:solidFill>
                  <a:srgbClr val="CC0000"/>
                </a:solidFill>
                <a:latin typeface="+mj-lt"/>
                <a:ea typeface="+mj-ea"/>
                <a:cs typeface="+mj-cs"/>
              </a:defRPr>
            </a:lvl1pPr>
            <a:lvl2pPr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2pPr>
            <a:lvl3pPr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3pPr>
            <a:lvl4pPr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4pPr>
            <a:lvl5pPr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5pPr>
            <a:lvl6pPr marL="457200"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6pPr>
            <a:lvl7pPr marL="914400"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7pPr>
            <a:lvl8pPr marL="1371600"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8pPr>
            <a:lvl9pPr marL="1828800" algn="r" rtl="0" eaLnBrk="0" fontAlgn="base" hangingPunct="0">
              <a:spcBef>
                <a:spcPct val="0"/>
              </a:spcBef>
              <a:spcAft>
                <a:spcPct val="0"/>
              </a:spcAft>
              <a:buClr>
                <a:srgbClr val="CC3300"/>
              </a:buClr>
              <a:buSzPct val="100000"/>
              <a:buFont typeface="Wingdings" panose="05000000000000000000" pitchFamily="2" charset="2"/>
              <a:defRPr sz="3200" b="1">
                <a:solidFill>
                  <a:srgbClr val="CC0000"/>
                </a:solidFill>
                <a:latin typeface="Arial" panose="020B0604020202020204" pitchFamily="34" charset="0"/>
                <a:ea typeface="华文新魏" panose="02010800040101010101" pitchFamily="2" charset="-122"/>
              </a:defRPr>
            </a:lvl9pPr>
          </a:lstStyle>
          <a:p>
            <a:pPr algn="l"/>
            <a:r>
              <a:rPr lang="en-GB" altLang="zh-CN" sz="2400" dirty="0">
                <a:solidFill>
                  <a:schemeClr val="tx1"/>
                </a:solidFill>
                <a:latin typeface="Calibri" pitchFamily="34" charset="0"/>
                <a:cs typeface="Calibri" pitchFamily="34" charset="0"/>
              </a:rPr>
              <a:t>TPM</a:t>
            </a:r>
            <a:r>
              <a:rPr lang="en-US" altLang="zh-CN" sz="2400" dirty="0">
                <a:solidFill>
                  <a:schemeClr val="tx1"/>
                </a:solidFill>
                <a:latin typeface="Calibri" pitchFamily="34" charset="0"/>
                <a:cs typeface="Calibri" pitchFamily="34" charset="0"/>
              </a:rPr>
              <a:t>: </a:t>
            </a:r>
            <a:r>
              <a:rPr lang="en-GB" altLang="zh-CN" sz="2400" dirty="0">
                <a:solidFill>
                  <a:schemeClr val="tx1"/>
                </a:solidFill>
                <a:latin typeface="Calibri" pitchFamily="34" charset="0"/>
                <a:cs typeface="Calibri" pitchFamily="34" charset="0"/>
              </a:rPr>
              <a:t>Transcripts per million</a:t>
            </a:r>
          </a:p>
        </p:txBody>
      </p:sp>
      <p:pic>
        <p:nvPicPr>
          <p:cNvPr id="14" name="图片 13">
            <a:extLst>
              <a:ext uri="{FF2B5EF4-FFF2-40B4-BE49-F238E27FC236}">
                <a16:creationId xmlns:a16="http://schemas.microsoft.com/office/drawing/2014/main" id="{965A7DB1-6B74-3ACF-29F4-ADF810A26D9C}"/>
              </a:ext>
            </a:extLst>
          </p:cNvPr>
          <p:cNvPicPr/>
          <p:nvPr/>
        </p:nvPicPr>
        <p:blipFill>
          <a:blip r:embed="rId2"/>
          <a:stretch>
            <a:fillRect/>
          </a:stretch>
        </p:blipFill>
        <p:spPr>
          <a:xfrm>
            <a:off x="5681896" y="674300"/>
            <a:ext cx="3497686" cy="2113465"/>
          </a:xfrm>
          <a:prstGeom prst="rect">
            <a:avLst/>
          </a:prstGeom>
          <a:noFill/>
          <a:ln w="9525">
            <a:noFill/>
          </a:ln>
        </p:spPr>
      </p:pic>
      <p:pic>
        <p:nvPicPr>
          <p:cNvPr id="15" name="图片 14">
            <a:extLst>
              <a:ext uri="{FF2B5EF4-FFF2-40B4-BE49-F238E27FC236}">
                <a16:creationId xmlns:a16="http://schemas.microsoft.com/office/drawing/2014/main" id="{1D047E42-8E3B-767E-9DA6-8FB5DABF2D5A}"/>
              </a:ext>
            </a:extLst>
          </p:cNvPr>
          <p:cNvPicPr/>
          <p:nvPr/>
        </p:nvPicPr>
        <p:blipFill>
          <a:blip r:embed="rId3"/>
          <a:stretch>
            <a:fillRect/>
          </a:stretch>
        </p:blipFill>
        <p:spPr>
          <a:xfrm>
            <a:off x="5641850" y="2787765"/>
            <a:ext cx="3537732" cy="2058009"/>
          </a:xfrm>
          <a:prstGeom prst="rect">
            <a:avLst/>
          </a:prstGeom>
          <a:noFill/>
          <a:ln w="9525">
            <a:noFill/>
          </a:ln>
        </p:spPr>
      </p:pic>
    </p:spTree>
    <p:extLst>
      <p:ext uri="{BB962C8B-B14F-4D97-AF65-F5344CB8AC3E}">
        <p14:creationId xmlns:p14="http://schemas.microsoft.com/office/powerpoint/2010/main" val="3104403538"/>
      </p:ext>
    </p:extLst>
  </p:cSld>
  <p:clrMapOvr>
    <a:masterClrMapping/>
  </p:clrMapOvr>
  <p:transition>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N</a:t>
            </a:r>
            <a:r>
              <a:rPr lang="en-US" altLang="zh-CN" dirty="0"/>
              <a:t>ormalization</a:t>
            </a:r>
            <a:endParaRPr lang="en-GB" dirty="0"/>
          </a:p>
        </p:txBody>
      </p:sp>
      <p:pic>
        <p:nvPicPr>
          <p:cNvPr id="4" name="图片 3"/>
          <p:cNvPicPr/>
          <p:nvPr/>
        </p:nvPicPr>
        <p:blipFill rotWithShape="1">
          <a:blip r:embed="rId2"/>
          <a:srcRect t="68354"/>
          <a:stretch/>
        </p:blipFill>
        <p:spPr>
          <a:xfrm>
            <a:off x="0" y="1275660"/>
            <a:ext cx="8863890" cy="2880200"/>
          </a:xfrm>
          <a:prstGeom prst="rect">
            <a:avLst/>
          </a:prstGeom>
          <a:noFill/>
          <a:ln w="9525">
            <a:noFill/>
          </a:ln>
        </p:spPr>
      </p:pic>
    </p:spTree>
    <p:extLst>
      <p:ext uri="{BB962C8B-B14F-4D97-AF65-F5344CB8AC3E}">
        <p14:creationId xmlns:p14="http://schemas.microsoft.com/office/powerpoint/2010/main" val="3386091257"/>
      </p:ext>
    </p:extLst>
  </p:cSld>
  <p:clrMapOvr>
    <a:masterClrMapping/>
  </p:clrMapOvr>
  <p:transition>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endParaRPr lang="en-GB" dirty="0"/>
          </a:p>
        </p:txBody>
      </p:sp>
      <p:sp>
        <p:nvSpPr>
          <p:cNvPr id="3" name="TextBox 1">
            <a:extLst>
              <a:ext uri="{FF2B5EF4-FFF2-40B4-BE49-F238E27FC236}">
                <a16:creationId xmlns:a16="http://schemas.microsoft.com/office/drawing/2014/main" id="{27C7A6C1-B19E-9320-B5D3-667EC52C864A}"/>
              </a:ext>
            </a:extLst>
          </p:cNvPr>
          <p:cNvSpPr txBox="1"/>
          <p:nvPr/>
        </p:nvSpPr>
        <p:spPr>
          <a:xfrm>
            <a:off x="2771875" y="1232922"/>
            <a:ext cx="3857778" cy="2308324"/>
          </a:xfrm>
          <a:prstGeom prst="rect">
            <a:avLst/>
          </a:prstGeom>
          <a:noFill/>
        </p:spPr>
        <p:txBody>
          <a:bodyPr wrap="square" rtlCol="0">
            <a:spAutoFit/>
          </a:bodyPr>
          <a:lstStyle/>
          <a:p>
            <a:r>
              <a:rPr lang="zh-CN" altLang="en-US" sz="2400" b="1" dirty="0"/>
              <a:t>一、转录组简介</a:t>
            </a:r>
            <a:endParaRPr lang="en-US" altLang="zh-CN" sz="2400" b="1" dirty="0"/>
          </a:p>
          <a:p>
            <a:endParaRPr lang="en-US" altLang="zh-CN" sz="2400" b="1" dirty="0"/>
          </a:p>
          <a:p>
            <a:r>
              <a:rPr lang="zh-CN" altLang="en-US" sz="2400" b="1" dirty="0"/>
              <a:t>二、</a:t>
            </a:r>
            <a:r>
              <a:rPr lang="en-US" altLang="zh-CN" sz="2400" b="1" dirty="0"/>
              <a:t>Normalization</a:t>
            </a:r>
          </a:p>
          <a:p>
            <a:endParaRPr lang="en-US" altLang="zh-CN" sz="2400" b="1" dirty="0"/>
          </a:p>
          <a:p>
            <a:r>
              <a:rPr lang="zh-CN" altLang="en-US" sz="2400" b="1" dirty="0"/>
              <a:t>三、</a:t>
            </a:r>
            <a:r>
              <a:rPr lang="en-US" altLang="zh-CN" sz="2400" b="1" dirty="0"/>
              <a:t>Pipeline</a:t>
            </a:r>
          </a:p>
          <a:p>
            <a:endParaRPr lang="en-US" sz="2400" b="1" dirty="0"/>
          </a:p>
        </p:txBody>
      </p:sp>
    </p:spTree>
    <p:extLst>
      <p:ext uri="{BB962C8B-B14F-4D97-AF65-F5344CB8AC3E}">
        <p14:creationId xmlns:p14="http://schemas.microsoft.com/office/powerpoint/2010/main" val="914995189"/>
      </p:ext>
    </p:extLst>
  </p:cSld>
  <p:clrMapOvr>
    <a:masterClrMapping/>
  </p:clrMapOvr>
  <p:transition>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a:t>
            </a:r>
            <a:r>
              <a:rPr lang="en-US" dirty="0"/>
              <a:t>P</a:t>
            </a:r>
            <a:r>
              <a:rPr lang="en-US" altLang="zh-CN" dirty="0"/>
              <a:t>ipeline</a:t>
            </a:r>
            <a:endParaRPr lang="en-GB" dirty="0"/>
          </a:p>
        </p:txBody>
      </p:sp>
      <p:sp>
        <p:nvSpPr>
          <p:cNvPr id="4" name="TextBox 3"/>
          <p:cNvSpPr txBox="1"/>
          <p:nvPr/>
        </p:nvSpPr>
        <p:spPr>
          <a:xfrm>
            <a:off x="2582356" y="833939"/>
            <a:ext cx="2027479" cy="368300"/>
          </a:xfrm>
          <a:prstGeom prst="rect">
            <a:avLst/>
          </a:prstGeom>
          <a:noFill/>
          <a:ln w="50800">
            <a:solidFill>
              <a:srgbClr val="FFC000"/>
            </a:solidFill>
          </a:ln>
        </p:spPr>
        <p:txBody>
          <a:bodyPr wrap="square" rtlCol="0">
            <a:spAutoFit/>
          </a:bodyPr>
          <a:lstStyle/>
          <a:p>
            <a:pPr algn="ctr"/>
            <a:r>
              <a:rPr lang="en-US" dirty="0">
                <a:solidFill>
                  <a:prstClr val="black"/>
                </a:solidFill>
              </a:rPr>
              <a:t>Read Quantification</a:t>
            </a:r>
          </a:p>
        </p:txBody>
      </p:sp>
      <p:sp>
        <p:nvSpPr>
          <p:cNvPr id="5" name="TextBox 4"/>
          <p:cNvSpPr txBox="1"/>
          <p:nvPr/>
        </p:nvSpPr>
        <p:spPr>
          <a:xfrm>
            <a:off x="2445834" y="1555760"/>
            <a:ext cx="2121634" cy="645160"/>
          </a:xfrm>
          <a:prstGeom prst="rect">
            <a:avLst/>
          </a:prstGeom>
          <a:noFill/>
          <a:ln w="50800">
            <a:solidFill>
              <a:srgbClr val="0070C0"/>
            </a:solidFill>
          </a:ln>
        </p:spPr>
        <p:txBody>
          <a:bodyPr wrap="square" rtlCol="0">
            <a:spAutoFit/>
          </a:bodyPr>
          <a:lstStyle/>
          <a:p>
            <a:pPr algn="ctr"/>
            <a:r>
              <a:rPr lang="en-US" dirty="0">
                <a:solidFill>
                  <a:prstClr val="black"/>
                </a:solidFill>
              </a:rPr>
              <a:t>Gene Normalization &amp; Filtering</a:t>
            </a:r>
            <a:endParaRPr lang="en-US" sz="1200" i="1" dirty="0">
              <a:solidFill>
                <a:prstClr val="black"/>
              </a:solidFill>
            </a:endParaRPr>
          </a:p>
        </p:txBody>
      </p:sp>
      <p:sp>
        <p:nvSpPr>
          <p:cNvPr id="6" name="TextBox 5"/>
          <p:cNvSpPr txBox="1"/>
          <p:nvPr/>
        </p:nvSpPr>
        <p:spPr>
          <a:xfrm>
            <a:off x="2418541" y="2418115"/>
            <a:ext cx="2181677" cy="368300"/>
          </a:xfrm>
          <a:prstGeom prst="rect">
            <a:avLst/>
          </a:prstGeom>
          <a:noFill/>
          <a:ln w="50800">
            <a:solidFill>
              <a:srgbClr val="0070C0"/>
            </a:solidFill>
          </a:ln>
        </p:spPr>
        <p:txBody>
          <a:bodyPr wrap="square" rtlCol="0">
            <a:spAutoFit/>
          </a:bodyPr>
          <a:lstStyle/>
          <a:p>
            <a:pPr algn="ctr"/>
            <a:r>
              <a:rPr lang="en-US" dirty="0">
                <a:solidFill>
                  <a:prstClr val="black"/>
                </a:solidFill>
              </a:rPr>
              <a:t>Outlier Removal</a:t>
            </a:r>
          </a:p>
        </p:txBody>
      </p:sp>
      <p:cxnSp>
        <p:nvCxnSpPr>
          <p:cNvPr id="7" name="Straight Arrow Connector 12"/>
          <p:cNvCxnSpPr/>
          <p:nvPr/>
        </p:nvCxnSpPr>
        <p:spPr>
          <a:xfrm>
            <a:off x="3658265" y="2202091"/>
            <a:ext cx="0" cy="1935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13"/>
          <p:cNvCxnSpPr/>
          <p:nvPr/>
        </p:nvCxnSpPr>
        <p:spPr>
          <a:xfrm>
            <a:off x="3658265" y="1265987"/>
            <a:ext cx="0" cy="2620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圆角矩形 8"/>
          <p:cNvSpPr/>
          <p:nvPr/>
        </p:nvSpPr>
        <p:spPr>
          <a:xfrm>
            <a:off x="2061103" y="1446757"/>
            <a:ext cx="4743052" cy="206138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p:cNvSpPr txBox="1"/>
          <p:nvPr/>
        </p:nvSpPr>
        <p:spPr>
          <a:xfrm>
            <a:off x="4938821" y="2208392"/>
            <a:ext cx="1547495" cy="368300"/>
          </a:xfrm>
          <a:prstGeom prst="rect">
            <a:avLst/>
          </a:prstGeom>
          <a:noFill/>
        </p:spPr>
        <p:txBody>
          <a:bodyPr wrap="none" rtlCol="0">
            <a:spAutoFit/>
          </a:bodyPr>
          <a:lstStyle/>
          <a:p>
            <a:r>
              <a:rPr lang="en-US" altLang="zh-CN" dirty="0"/>
              <a:t>Pre-processing</a:t>
            </a:r>
            <a:endParaRPr lang="zh-CN" altLang="en-US" dirty="0"/>
          </a:p>
        </p:txBody>
      </p:sp>
      <p:cxnSp>
        <p:nvCxnSpPr>
          <p:cNvPr id="11" name="Straight Arrow Connector 12"/>
          <p:cNvCxnSpPr/>
          <p:nvPr/>
        </p:nvCxnSpPr>
        <p:spPr>
          <a:xfrm>
            <a:off x="3658265" y="3413241"/>
            <a:ext cx="0" cy="1935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2433619" y="4299849"/>
            <a:ext cx="2121634" cy="368300"/>
          </a:xfrm>
          <a:prstGeom prst="rect">
            <a:avLst/>
          </a:prstGeom>
          <a:noFill/>
          <a:ln w="50800">
            <a:solidFill>
              <a:srgbClr val="92D050"/>
            </a:solidFill>
          </a:ln>
        </p:spPr>
        <p:txBody>
          <a:bodyPr wrap="square" rtlCol="0">
            <a:spAutoFit/>
          </a:bodyPr>
          <a:lstStyle/>
          <a:p>
            <a:pPr algn="ctr"/>
            <a:r>
              <a:rPr lang="en-US" dirty="0">
                <a:solidFill>
                  <a:prstClr val="black"/>
                </a:solidFill>
              </a:rPr>
              <a:t>Differential analysis</a:t>
            </a:r>
          </a:p>
        </p:txBody>
      </p:sp>
      <p:sp>
        <p:nvSpPr>
          <p:cNvPr id="13" name="TextBox 12"/>
          <p:cNvSpPr txBox="1"/>
          <p:nvPr/>
        </p:nvSpPr>
        <p:spPr>
          <a:xfrm>
            <a:off x="2451702" y="3837193"/>
            <a:ext cx="2121634" cy="368300"/>
          </a:xfrm>
          <a:prstGeom prst="rect">
            <a:avLst/>
          </a:prstGeom>
          <a:noFill/>
          <a:ln w="50800">
            <a:solidFill>
              <a:srgbClr val="92D050"/>
            </a:solidFill>
          </a:ln>
        </p:spPr>
        <p:txBody>
          <a:bodyPr wrap="square" rtlCol="0">
            <a:spAutoFit/>
          </a:bodyPr>
          <a:lstStyle/>
          <a:p>
            <a:pPr algn="ctr"/>
            <a:r>
              <a:rPr lang="en-US" dirty="0">
                <a:solidFill>
                  <a:prstClr val="black"/>
                </a:solidFill>
              </a:rPr>
              <a:t>network analysis</a:t>
            </a:r>
          </a:p>
        </p:txBody>
      </p:sp>
      <p:sp>
        <p:nvSpPr>
          <p:cNvPr id="14" name="圆角矩形 13"/>
          <p:cNvSpPr/>
          <p:nvPr/>
        </p:nvSpPr>
        <p:spPr>
          <a:xfrm>
            <a:off x="2082705" y="3683802"/>
            <a:ext cx="4721450" cy="1120103"/>
          </a:xfrm>
          <a:prstGeom prst="round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14"/>
          <p:cNvSpPr txBox="1"/>
          <p:nvPr/>
        </p:nvSpPr>
        <p:spPr>
          <a:xfrm>
            <a:off x="4593979" y="4059187"/>
            <a:ext cx="2210176" cy="368300"/>
          </a:xfrm>
          <a:prstGeom prst="rect">
            <a:avLst/>
          </a:prstGeom>
          <a:noFill/>
        </p:spPr>
        <p:txBody>
          <a:bodyPr wrap="square" rtlCol="0">
            <a:spAutoFit/>
          </a:bodyPr>
          <a:lstStyle/>
          <a:p>
            <a:r>
              <a:rPr lang="en-US" altLang="zh-CN" dirty="0"/>
              <a:t>Downstream analysis</a:t>
            </a:r>
            <a:endParaRPr lang="zh-CN" altLang="en-US" dirty="0"/>
          </a:p>
        </p:txBody>
      </p:sp>
      <p:cxnSp>
        <p:nvCxnSpPr>
          <p:cNvPr id="17" name="Straight Arrow Connector 12"/>
          <p:cNvCxnSpPr/>
          <p:nvPr/>
        </p:nvCxnSpPr>
        <p:spPr>
          <a:xfrm>
            <a:off x="3658265" y="2778155"/>
            <a:ext cx="0" cy="1935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Box 17"/>
          <p:cNvSpPr txBox="1"/>
          <p:nvPr/>
        </p:nvSpPr>
        <p:spPr>
          <a:xfrm>
            <a:off x="2428158" y="2984719"/>
            <a:ext cx="2181677" cy="368300"/>
          </a:xfrm>
          <a:prstGeom prst="rect">
            <a:avLst/>
          </a:prstGeom>
          <a:noFill/>
          <a:ln w="50800">
            <a:solidFill>
              <a:srgbClr val="0070C0"/>
            </a:solidFill>
          </a:ln>
        </p:spPr>
        <p:txBody>
          <a:bodyPr wrap="square" rtlCol="0">
            <a:spAutoFit/>
          </a:bodyPr>
          <a:lstStyle/>
          <a:p>
            <a:pPr algn="ctr"/>
            <a:r>
              <a:rPr lang="en-US" dirty="0">
                <a:solidFill>
                  <a:prstClr val="black"/>
                </a:solidFill>
              </a:rPr>
              <a:t>Covariate correction</a:t>
            </a:r>
          </a:p>
        </p:txBody>
      </p:sp>
      <p:sp>
        <p:nvSpPr>
          <p:cNvPr id="3" name="TextBox 17">
            <a:extLst>
              <a:ext uri="{FF2B5EF4-FFF2-40B4-BE49-F238E27FC236}">
                <a16:creationId xmlns:a16="http://schemas.microsoft.com/office/drawing/2014/main" id="{5F4DA2CE-152C-B396-3671-A565B16D032E}"/>
              </a:ext>
            </a:extLst>
          </p:cNvPr>
          <p:cNvSpPr txBox="1"/>
          <p:nvPr/>
        </p:nvSpPr>
        <p:spPr>
          <a:xfrm>
            <a:off x="4801688" y="2982368"/>
            <a:ext cx="1368095" cy="368300"/>
          </a:xfrm>
          <a:prstGeom prst="rect">
            <a:avLst/>
          </a:prstGeom>
          <a:noFill/>
          <a:ln w="12700">
            <a:solidFill>
              <a:srgbClr val="0070C0">
                <a:alpha val="50000"/>
              </a:srgbClr>
            </a:solidFill>
          </a:ln>
        </p:spPr>
        <p:txBody>
          <a:bodyPr wrap="square" rtlCol="0">
            <a:spAutoFit/>
          </a:bodyPr>
          <a:lstStyle/>
          <a:p>
            <a:pPr algn="ctr"/>
            <a:r>
              <a:rPr lang="en-US" dirty="0">
                <a:solidFill>
                  <a:prstClr val="black"/>
                </a:solidFill>
              </a:rPr>
              <a:t>B</a:t>
            </a:r>
            <a:r>
              <a:rPr lang="en-US" altLang="zh-CN" dirty="0">
                <a:solidFill>
                  <a:prstClr val="black"/>
                </a:solidFill>
              </a:rPr>
              <a:t>atch effect</a:t>
            </a:r>
            <a:endParaRPr lang="en-US" dirty="0">
              <a:solidFill>
                <a:prstClr val="black"/>
              </a:solidFill>
            </a:endParaRPr>
          </a:p>
        </p:txBody>
      </p:sp>
    </p:spTree>
    <p:extLst>
      <p:ext uri="{BB962C8B-B14F-4D97-AF65-F5344CB8AC3E}">
        <p14:creationId xmlns:p14="http://schemas.microsoft.com/office/powerpoint/2010/main" val="192245311"/>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42"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42"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1000"/>
                                        <p:tgtEl>
                                          <p:spTgt spid="12"/>
                                        </p:tgtEl>
                                      </p:cBhvr>
                                    </p:animEffect>
                                    <p:anim calcmode="lin" valueType="num">
                                      <p:cBhvr>
                                        <p:cTn id="38" dur="1000" fill="hold"/>
                                        <p:tgtEl>
                                          <p:spTgt spid="12"/>
                                        </p:tgtEl>
                                        <p:attrNameLst>
                                          <p:attrName>ppt_x</p:attrName>
                                        </p:attrNameLst>
                                      </p:cBhvr>
                                      <p:tavLst>
                                        <p:tav tm="0">
                                          <p:val>
                                            <p:strVal val="#ppt_x"/>
                                          </p:val>
                                        </p:tav>
                                        <p:tav tm="100000">
                                          <p:val>
                                            <p:strVal val="#ppt_x"/>
                                          </p:val>
                                        </p:tav>
                                      </p:tavLst>
                                    </p:anim>
                                    <p:anim calcmode="lin" valueType="num">
                                      <p:cBhvr>
                                        <p:cTn id="39" dur="1000" fill="hold"/>
                                        <p:tgtEl>
                                          <p:spTgt spid="12"/>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1000"/>
                                        <p:tgtEl>
                                          <p:spTgt spid="13"/>
                                        </p:tgtEl>
                                      </p:cBhvr>
                                    </p:animEffect>
                                    <p:anim calcmode="lin" valueType="num">
                                      <p:cBhvr>
                                        <p:cTn id="43" dur="1000" fill="hold"/>
                                        <p:tgtEl>
                                          <p:spTgt spid="13"/>
                                        </p:tgtEl>
                                        <p:attrNameLst>
                                          <p:attrName>ppt_x</p:attrName>
                                        </p:attrNameLst>
                                      </p:cBhvr>
                                      <p:tavLst>
                                        <p:tav tm="0">
                                          <p:val>
                                            <p:strVal val="#ppt_x"/>
                                          </p:val>
                                        </p:tav>
                                        <p:tav tm="100000">
                                          <p:val>
                                            <p:strVal val="#ppt_x"/>
                                          </p:val>
                                        </p:tav>
                                      </p:tavLst>
                                    </p:anim>
                                    <p:anim calcmode="lin" valueType="num">
                                      <p:cBhvr>
                                        <p:cTn id="4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42"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1000"/>
                                        <p:tgtEl>
                                          <p:spTgt spid="18"/>
                                        </p:tgtEl>
                                      </p:cBhvr>
                                    </p:animEffect>
                                    <p:anim calcmode="lin" valueType="num">
                                      <p:cBhvr>
                                        <p:cTn id="53" dur="1000" fill="hold"/>
                                        <p:tgtEl>
                                          <p:spTgt spid="18"/>
                                        </p:tgtEl>
                                        <p:attrNameLst>
                                          <p:attrName>ppt_x</p:attrName>
                                        </p:attrNameLst>
                                      </p:cBhvr>
                                      <p:tavLst>
                                        <p:tav tm="0">
                                          <p:val>
                                            <p:strVal val="#ppt_x"/>
                                          </p:val>
                                        </p:tav>
                                        <p:tav tm="100000">
                                          <p:val>
                                            <p:strVal val="#ppt_x"/>
                                          </p:val>
                                        </p:tav>
                                      </p:tavLst>
                                    </p:anim>
                                    <p:anim calcmode="lin" valueType="num">
                                      <p:cBhvr>
                                        <p:cTn id="54" dur="1000" fill="hold"/>
                                        <p:tgtEl>
                                          <p:spTgt spid="18"/>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fade">
                                      <p:cBhvr>
                                        <p:cTn id="57" dur="1000"/>
                                        <p:tgtEl>
                                          <p:spTgt spid="3"/>
                                        </p:tgtEl>
                                      </p:cBhvr>
                                    </p:animEffect>
                                    <p:anim calcmode="lin" valueType="num">
                                      <p:cBhvr>
                                        <p:cTn id="58" dur="1000" fill="hold"/>
                                        <p:tgtEl>
                                          <p:spTgt spid="3"/>
                                        </p:tgtEl>
                                        <p:attrNameLst>
                                          <p:attrName>ppt_x</p:attrName>
                                        </p:attrNameLst>
                                      </p:cBhvr>
                                      <p:tavLst>
                                        <p:tav tm="0">
                                          <p:val>
                                            <p:strVal val="#ppt_x"/>
                                          </p:val>
                                        </p:tav>
                                        <p:tav tm="100000">
                                          <p:val>
                                            <p:strVal val="#ppt_x"/>
                                          </p:val>
                                        </p:tav>
                                      </p:tavLst>
                                    </p:anim>
                                    <p:anim calcmode="lin" valueType="num">
                                      <p:cBhvr>
                                        <p:cTn id="5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12" grpId="0" bldLvl="0" animBg="1"/>
      <p:bldP spid="13" grpId="0" bldLvl="0" animBg="1"/>
      <p:bldP spid="18" grpId="0" bldLvl="0" animBg="1"/>
      <p:bldP spid="3"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ln>
        </p:spPr>
        <p:txBody>
          <a:bodyPr anchor="ctr"/>
          <a:lstStyle/>
          <a:p>
            <a:r>
              <a:rPr lang="en-US" altLang="zh-CN" dirty="0">
                <a:sym typeface="+mn-ea"/>
              </a:rPr>
              <a:t>Gene Normalization &amp; Filtering</a:t>
            </a:r>
            <a:endParaRPr lang="en-GB"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705" y="1203655"/>
            <a:ext cx="8570434" cy="30560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43195581"/>
      </p:ext>
    </p:extLst>
  </p:cSld>
  <p:clrMapOvr>
    <a:masterClrMapping/>
  </p:clrMapOvr>
  <p:transition>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ln>
        </p:spPr>
        <p:txBody>
          <a:bodyPr anchor="ctr"/>
          <a:lstStyle/>
          <a:p>
            <a:r>
              <a:rPr lang="en-US" altLang="zh-CN" dirty="0">
                <a:sym typeface="+mn-ea"/>
              </a:rPr>
              <a:t>Outlier Removal</a:t>
            </a:r>
            <a:endParaRPr lang="en-GB" dirty="0"/>
          </a:p>
        </p:txBody>
      </p:sp>
      <p:sp>
        <p:nvSpPr>
          <p:cNvPr id="3" name="矩形 2"/>
          <p:cNvSpPr/>
          <p:nvPr/>
        </p:nvSpPr>
        <p:spPr>
          <a:xfrm>
            <a:off x="179695" y="887362"/>
            <a:ext cx="8784610" cy="1938992"/>
          </a:xfrm>
          <a:prstGeom prst="rect">
            <a:avLst/>
          </a:prstGeom>
        </p:spPr>
        <p:txBody>
          <a:bodyPr wrap="square">
            <a:spAutoFit/>
          </a:bodyPr>
          <a:lstStyle/>
          <a:p>
            <a:r>
              <a:rPr lang="en-US" altLang="zh-CN" sz="2400" b="1" dirty="0"/>
              <a:t>Removing low quality samples</a:t>
            </a:r>
          </a:p>
          <a:p>
            <a:r>
              <a:rPr lang="en-US" altLang="zh-CN" sz="2400" b="1" dirty="0"/>
              <a:t>Common methods:</a:t>
            </a:r>
          </a:p>
          <a:p>
            <a:pPr lvl="1"/>
            <a:r>
              <a:rPr lang="en-US" altLang="zh-CN" sz="2400" b="1" dirty="0"/>
              <a:t>Outlier (PCA)</a:t>
            </a:r>
          </a:p>
          <a:p>
            <a:pPr lvl="1"/>
            <a:r>
              <a:rPr lang="en-US" altLang="zh-CN" sz="2400" b="1" dirty="0"/>
              <a:t>Proportion of gene expressed</a:t>
            </a:r>
          </a:p>
          <a:p>
            <a:pPr lvl="1"/>
            <a:r>
              <a:rPr lang="en-US" altLang="zh-CN" sz="2400" b="1" dirty="0"/>
              <a:t>connectivity with other samples (z score in sample network &lt;2)</a:t>
            </a:r>
          </a:p>
        </p:txBody>
      </p:sp>
      <p:pic>
        <p:nvPicPr>
          <p:cNvPr id="5" name="Picture 3"/>
          <p:cNvPicPr>
            <a:picLocks noChangeAspect="1"/>
          </p:cNvPicPr>
          <p:nvPr/>
        </p:nvPicPr>
        <p:blipFill>
          <a:blip r:embed="rId2"/>
          <a:stretch>
            <a:fillRect/>
          </a:stretch>
        </p:blipFill>
        <p:spPr>
          <a:xfrm>
            <a:off x="5004030" y="2843178"/>
            <a:ext cx="3528690" cy="2129244"/>
          </a:xfrm>
          <a:prstGeom prst="rect">
            <a:avLst/>
          </a:prstGeom>
        </p:spPr>
      </p:pic>
      <p:pic>
        <p:nvPicPr>
          <p:cNvPr id="6" name="Picture 2" descr="https://lh6.googleusercontent.com/DXdbTDhBljwquvJNiezlIGYGDiTfOnzW-6Fuu0oHJi5mQRflPVkjGt-wndkD93qkmainFuuEyqwwfINkks68HqPvLiyPQMKHoZ-eFWjIXsrp2jEfV-pifJgMHnJdAO2f1K6mMcVw"/>
          <p:cNvPicPr>
            <a:picLocks noChangeAspect="1" noChangeArrowheads="1"/>
          </p:cNvPicPr>
          <p:nvPr/>
        </p:nvPicPr>
        <p:blipFill rotWithShape="1">
          <a:blip r:embed="rId3">
            <a:extLst>
              <a:ext uri="{28A0092B-C50C-407E-A947-70E740481C1C}">
                <a14:useLocalDpi xmlns:a14="http://schemas.microsoft.com/office/drawing/2010/main" val="0"/>
              </a:ext>
            </a:extLst>
          </a:blip>
          <a:srcRect t="65369"/>
          <a:stretch>
            <a:fillRect/>
          </a:stretch>
        </p:blipFill>
        <p:spPr bwMode="auto">
          <a:xfrm>
            <a:off x="755735" y="3003780"/>
            <a:ext cx="3507156" cy="18584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245451"/>
      </p:ext>
    </p:extLst>
  </p:cSld>
  <p:clrMapOvr>
    <a:masterClrMapping/>
  </p:clrMapOvr>
  <p:transition>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ln>
        </p:spPr>
        <p:txBody>
          <a:bodyPr anchor="ctr"/>
          <a:lstStyle/>
          <a:p>
            <a:r>
              <a:rPr lang="en-US" altLang="zh-CN" dirty="0">
                <a:sym typeface="+mn-ea"/>
              </a:rPr>
              <a:t>Covariate Correction</a:t>
            </a:r>
            <a:endParaRPr lang="en-GB" dirty="0"/>
          </a:p>
        </p:txBody>
      </p:sp>
      <p:sp>
        <p:nvSpPr>
          <p:cNvPr id="3" name="矩形 2"/>
          <p:cNvSpPr/>
          <p:nvPr/>
        </p:nvSpPr>
        <p:spPr>
          <a:xfrm>
            <a:off x="179695" y="887362"/>
            <a:ext cx="8784610" cy="1938992"/>
          </a:xfrm>
          <a:prstGeom prst="rect">
            <a:avLst/>
          </a:prstGeom>
        </p:spPr>
        <p:txBody>
          <a:bodyPr wrap="square">
            <a:spAutoFit/>
          </a:bodyPr>
          <a:lstStyle/>
          <a:p>
            <a:r>
              <a:rPr lang="en-US" altLang="zh-CN" sz="2400" b="1" dirty="0"/>
              <a:t>Determining the covariates</a:t>
            </a:r>
            <a:r>
              <a:rPr lang="zh-CN" altLang="en-US" sz="2400" b="1" dirty="0"/>
              <a:t>：</a:t>
            </a:r>
            <a:r>
              <a:rPr lang="en-US" altLang="zh-CN" sz="2400" b="1" dirty="0"/>
              <a:t>PCA, MDS &amp;PVCA</a:t>
            </a:r>
          </a:p>
          <a:p>
            <a:r>
              <a:rPr lang="en-US" altLang="zh-CN" sz="2400" b="1" dirty="0"/>
              <a:t>Adjustment</a:t>
            </a:r>
          </a:p>
          <a:p>
            <a:r>
              <a:rPr lang="en-US" altLang="zh-CN" sz="2400" b="1" dirty="0"/>
              <a:t>Read level: VOOM (</a:t>
            </a:r>
            <a:r>
              <a:rPr lang="en-US" altLang="zh-CN" sz="2400" b="1" dirty="0" err="1"/>
              <a:t>limma</a:t>
            </a:r>
            <a:r>
              <a:rPr lang="en-US" altLang="zh-CN" sz="2400" b="1" dirty="0"/>
              <a:t> package)</a:t>
            </a:r>
          </a:p>
          <a:p>
            <a:r>
              <a:rPr lang="en-US" altLang="zh-CN" sz="2400" b="1" dirty="0"/>
              <a:t>Gene level: lm </a:t>
            </a:r>
          </a:p>
          <a:p>
            <a:r>
              <a:rPr lang="en-US" altLang="zh-CN" sz="2400" b="1" dirty="0"/>
              <a:t>SVA (</a:t>
            </a:r>
            <a:r>
              <a:rPr lang="en-US" altLang="zh-CN" sz="2400" b="1" dirty="0" err="1"/>
              <a:t>sva</a:t>
            </a:r>
            <a:r>
              <a:rPr lang="en-US" altLang="zh-CN" sz="2400" b="1" dirty="0"/>
              <a:t> package): keep the variation you are interested on</a:t>
            </a: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20" y="2954960"/>
            <a:ext cx="3240236" cy="20549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descr="F:\DRJ\GSE74193\rawPC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3890" y="2849623"/>
            <a:ext cx="2265594" cy="226559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5" descr="F:\DRJ\GSE74193ALL\controlpost_pvca.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6135" y="2920309"/>
            <a:ext cx="2016224" cy="2016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9741495"/>
      </p:ext>
    </p:extLst>
  </p:cSld>
  <p:clrMapOvr>
    <a:masterClrMapping/>
  </p:clrMapOvr>
  <p:transition>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差异分析</a:t>
            </a:r>
            <a:endParaRPr lang="en-GB" dirty="0"/>
          </a:p>
        </p:txBody>
      </p:sp>
      <p:sp>
        <p:nvSpPr>
          <p:cNvPr id="3" name="内容占位符 2"/>
          <p:cNvSpPr>
            <a:spLocks noGrp="1"/>
          </p:cNvSpPr>
          <p:nvPr>
            <p:ph idx="1"/>
          </p:nvPr>
        </p:nvSpPr>
        <p:spPr/>
        <p:txBody>
          <a:bodyPr/>
          <a:lstStyle/>
          <a:p>
            <a:r>
              <a:rPr lang="en-US" altLang="zh-CN" dirty="0" err="1"/>
              <a:t>limma-voom</a:t>
            </a:r>
            <a:endParaRPr lang="en-US" altLang="zh-CN" dirty="0"/>
          </a:p>
          <a:p>
            <a:pPr marL="0" indent="0">
              <a:buNone/>
            </a:pPr>
            <a:r>
              <a:rPr lang="zh-CN" altLang="en-US" sz="2400" dirty="0"/>
              <a:t>方差加权的线性模型</a:t>
            </a:r>
            <a:endParaRPr lang="en-US" altLang="zh-CN" sz="2400" dirty="0"/>
          </a:p>
          <a:p>
            <a:r>
              <a:rPr lang="en-US" altLang="zh-CN" dirty="0" err="1"/>
              <a:t>edgeR</a:t>
            </a:r>
            <a:endParaRPr lang="en-US" altLang="zh-CN" dirty="0"/>
          </a:p>
          <a:p>
            <a:pPr marL="0" indent="0">
              <a:buNone/>
            </a:pPr>
            <a:r>
              <a:rPr lang="zh-CN" altLang="en-US" sz="2400" dirty="0"/>
              <a:t>经验贝叶斯估计和负二项分布模型的精确检验</a:t>
            </a:r>
            <a:endParaRPr lang="en-US" altLang="zh-CN" sz="2400" dirty="0"/>
          </a:p>
          <a:p>
            <a:r>
              <a:rPr lang="en-US" dirty="0"/>
              <a:t>DESeq2</a:t>
            </a:r>
          </a:p>
          <a:p>
            <a:pPr marL="0" indent="0">
              <a:buNone/>
            </a:pPr>
            <a:r>
              <a:rPr lang="zh-CN" altLang="en-US" sz="2400" dirty="0"/>
              <a:t>负二项分布分布和</a:t>
            </a:r>
            <a:r>
              <a:rPr lang="en-US" altLang="zh-CN" sz="2400" dirty="0" err="1"/>
              <a:t>wald</a:t>
            </a:r>
            <a:r>
              <a:rPr lang="zh-CN" altLang="en-US" sz="2400" dirty="0"/>
              <a:t>检验</a:t>
            </a:r>
            <a:endParaRPr lang="en-GB" sz="2400" dirty="0"/>
          </a:p>
        </p:txBody>
      </p:sp>
    </p:spTree>
    <p:extLst>
      <p:ext uri="{BB962C8B-B14F-4D97-AF65-F5344CB8AC3E}">
        <p14:creationId xmlns:p14="http://schemas.microsoft.com/office/powerpoint/2010/main" val="270921489"/>
      </p:ext>
    </p:extLst>
  </p:cSld>
  <p:clrMapOvr>
    <a:masterClrMapping/>
  </p:clrMapOvr>
  <p:transition>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ln>
        </p:spPr>
        <p:txBody>
          <a:bodyPr anchor="ctr"/>
          <a:lstStyle/>
          <a:p>
            <a:r>
              <a:rPr lang="en-US" altLang="zh-CN" dirty="0">
                <a:sym typeface="+mn-ea"/>
              </a:rPr>
              <a:t>DESeq2</a:t>
            </a:r>
            <a:endParaRPr lang="en-GB" dirty="0"/>
          </a:p>
        </p:txBody>
      </p:sp>
      <p:sp>
        <p:nvSpPr>
          <p:cNvPr id="10" name="文本框 2"/>
          <p:cNvSpPr txBox="1"/>
          <p:nvPr/>
        </p:nvSpPr>
        <p:spPr>
          <a:xfrm>
            <a:off x="2627865" y="1045540"/>
            <a:ext cx="3798652" cy="1014730"/>
          </a:xfrm>
          <a:prstGeom prst="rect">
            <a:avLst/>
          </a:prstGeom>
          <a:noFill/>
        </p:spPr>
        <p:txBody>
          <a:bodyPr wrap="square" rtlCol="0" anchor="t">
            <a:spAutoFit/>
          </a:bodyPr>
          <a:lstStyle/>
          <a:p>
            <a:r>
              <a:rPr lang="zh-CN" altLang="en-US" sz="1600" dirty="0"/>
              <a:t>标准化因子（scaling factor）</a:t>
            </a:r>
          </a:p>
          <a:p>
            <a:pPr lvl="1" algn="l"/>
            <a:r>
              <a:rPr lang="zh-CN" altLang="en-US" sz="1400" dirty="0">
                <a:sym typeface="+mn-ea"/>
              </a:rPr>
              <a:t>剔除只在某个样本转录的基因（</a:t>
            </a:r>
            <a:r>
              <a:rPr lang="en-US" altLang="zh-CN" sz="1400" dirty="0">
                <a:sym typeface="+mn-ea"/>
              </a:rPr>
              <a:t>log</a:t>
            </a:r>
            <a:r>
              <a:rPr lang="zh-CN" altLang="en-US" sz="1400" dirty="0">
                <a:sym typeface="+mn-ea"/>
              </a:rPr>
              <a:t>转换）</a:t>
            </a:r>
            <a:endParaRPr lang="zh-CN" altLang="en-US" sz="1400" dirty="0"/>
          </a:p>
          <a:p>
            <a:pPr lvl="1" algn="l"/>
            <a:r>
              <a:rPr lang="zh-CN" altLang="en-US" sz="1400" dirty="0">
                <a:sym typeface="+mn-ea"/>
              </a:rPr>
              <a:t>消除reads数的异常值（中位数）</a:t>
            </a:r>
            <a:endParaRPr lang="zh-CN" altLang="en-US" sz="1600" dirty="0"/>
          </a:p>
          <a:p>
            <a:endParaRPr lang="zh-CN" altLang="en-US" sz="1600" dirty="0"/>
          </a:p>
        </p:txBody>
      </p:sp>
      <p:sp>
        <p:nvSpPr>
          <p:cNvPr id="11" name="文本框 7"/>
          <p:cNvSpPr txBox="1"/>
          <p:nvPr/>
        </p:nvSpPr>
        <p:spPr>
          <a:xfrm>
            <a:off x="3203906" y="1995710"/>
            <a:ext cx="3222612" cy="769441"/>
          </a:xfrm>
          <a:prstGeom prst="rect">
            <a:avLst/>
          </a:prstGeom>
          <a:noFill/>
        </p:spPr>
        <p:txBody>
          <a:bodyPr wrap="square" rtlCol="0" anchor="t">
            <a:spAutoFit/>
          </a:bodyPr>
          <a:lstStyle/>
          <a:p>
            <a:r>
              <a:rPr lang="zh-CN" altLang="en-US" sz="1600" dirty="0"/>
              <a:t>评估数据离散程度</a:t>
            </a:r>
          </a:p>
          <a:p>
            <a:pPr lvl="1"/>
            <a:r>
              <a:rPr lang="zh-CN" altLang="en-US" sz="1400" dirty="0">
                <a:sym typeface="+mn-ea"/>
              </a:rPr>
              <a:t>组内方差确定在组间显著差异</a:t>
            </a:r>
            <a:endParaRPr lang="zh-CN" altLang="en-US" sz="1400" dirty="0"/>
          </a:p>
          <a:p>
            <a:pPr lvl="1"/>
            <a:r>
              <a:rPr lang="zh-CN" altLang="en-US" sz="1400" dirty="0">
                <a:sym typeface="+mn-ea"/>
              </a:rPr>
              <a:t>组内考虑方差随表达量均值增加</a:t>
            </a:r>
            <a:endParaRPr lang="zh-CN" altLang="en-US" sz="1400" dirty="0"/>
          </a:p>
        </p:txBody>
      </p:sp>
      <p:pic>
        <p:nvPicPr>
          <p:cNvPr id="12" name="图片 11"/>
          <p:cNvPicPr/>
          <p:nvPr/>
        </p:nvPicPr>
        <p:blipFill>
          <a:blip r:embed="rId2"/>
          <a:stretch>
            <a:fillRect/>
          </a:stretch>
        </p:blipFill>
        <p:spPr>
          <a:xfrm>
            <a:off x="6732150" y="1879732"/>
            <a:ext cx="1880870" cy="1001395"/>
          </a:xfrm>
          <a:prstGeom prst="rect">
            <a:avLst/>
          </a:prstGeom>
          <a:noFill/>
          <a:ln w="9525">
            <a:noFill/>
          </a:ln>
        </p:spPr>
      </p:pic>
      <p:sp>
        <p:nvSpPr>
          <p:cNvPr id="13" name="文本框 10"/>
          <p:cNvSpPr txBox="1"/>
          <p:nvPr/>
        </p:nvSpPr>
        <p:spPr>
          <a:xfrm>
            <a:off x="3150242" y="2765151"/>
            <a:ext cx="3329940" cy="768350"/>
          </a:xfrm>
          <a:prstGeom prst="rect">
            <a:avLst/>
          </a:prstGeom>
          <a:noFill/>
        </p:spPr>
        <p:txBody>
          <a:bodyPr wrap="square" rtlCol="0" anchor="t">
            <a:spAutoFit/>
          </a:bodyPr>
          <a:lstStyle/>
          <a:p>
            <a:r>
              <a:rPr lang="zh-CN" altLang="en-US" sz="1600" dirty="0"/>
              <a:t>拟合基因离散度曲线并矫正</a:t>
            </a:r>
          </a:p>
          <a:p>
            <a:pPr lvl="1"/>
            <a:r>
              <a:rPr lang="zh-CN" altLang="en-US" sz="1400" dirty="0"/>
              <a:t>基因的离散度距离红色曲线的距离</a:t>
            </a:r>
          </a:p>
          <a:p>
            <a:pPr lvl="1"/>
            <a:r>
              <a:rPr lang="zh-CN" altLang="en-US" sz="1400" dirty="0"/>
              <a:t>样本量越大，则收缩的越少</a:t>
            </a:r>
          </a:p>
        </p:txBody>
      </p:sp>
      <p:pic>
        <p:nvPicPr>
          <p:cNvPr id="14" name="图片 13"/>
          <p:cNvPicPr/>
          <p:nvPr/>
        </p:nvPicPr>
        <p:blipFill>
          <a:blip r:embed="rId3"/>
          <a:stretch>
            <a:fillRect/>
          </a:stretch>
        </p:blipFill>
        <p:spPr>
          <a:xfrm>
            <a:off x="6073167" y="3451526"/>
            <a:ext cx="2877863" cy="1424048"/>
          </a:xfrm>
          <a:prstGeom prst="rect">
            <a:avLst/>
          </a:prstGeom>
          <a:noFill/>
          <a:ln w="9525">
            <a:noFill/>
          </a:ln>
        </p:spPr>
      </p:pic>
      <p:pic>
        <p:nvPicPr>
          <p:cNvPr id="15" name="图片 14"/>
          <p:cNvPicPr/>
          <p:nvPr/>
        </p:nvPicPr>
        <p:blipFill>
          <a:blip r:embed="rId4"/>
          <a:srcRect t="-2222" r="45816"/>
          <a:stretch>
            <a:fillRect/>
          </a:stretch>
        </p:blipFill>
        <p:spPr>
          <a:xfrm>
            <a:off x="611725" y="398475"/>
            <a:ext cx="2894230" cy="4447540"/>
          </a:xfrm>
          <a:prstGeom prst="rect">
            <a:avLst/>
          </a:prstGeom>
          <a:noFill/>
          <a:ln w="9525">
            <a:noFill/>
          </a:ln>
        </p:spPr>
      </p:pic>
      <p:sp>
        <p:nvSpPr>
          <p:cNvPr id="16" name="文本框 12"/>
          <p:cNvSpPr txBox="1"/>
          <p:nvPr/>
        </p:nvSpPr>
        <p:spPr>
          <a:xfrm>
            <a:off x="3378518" y="3651825"/>
            <a:ext cx="2417567" cy="337185"/>
          </a:xfrm>
          <a:prstGeom prst="rect">
            <a:avLst/>
          </a:prstGeom>
          <a:noFill/>
        </p:spPr>
        <p:txBody>
          <a:bodyPr wrap="square" rtlCol="0" anchor="t">
            <a:spAutoFit/>
          </a:bodyPr>
          <a:lstStyle/>
          <a:p>
            <a:r>
              <a:rPr lang="zh-CN" altLang="en-US" sz="1600" dirty="0"/>
              <a:t>广义线性模型进行拟合</a:t>
            </a:r>
          </a:p>
        </p:txBody>
      </p:sp>
      <p:pic>
        <p:nvPicPr>
          <p:cNvPr id="19" name="图片 18"/>
          <p:cNvPicPr/>
          <p:nvPr/>
        </p:nvPicPr>
        <p:blipFill>
          <a:blip r:embed="rId5"/>
          <a:srcRect t="16088"/>
          <a:stretch>
            <a:fillRect/>
          </a:stretch>
        </p:blipFill>
        <p:spPr>
          <a:xfrm>
            <a:off x="6588140" y="830202"/>
            <a:ext cx="2362890" cy="876685"/>
          </a:xfrm>
          <a:prstGeom prst="rect">
            <a:avLst/>
          </a:prstGeom>
          <a:noFill/>
          <a:ln w="9525">
            <a:noFill/>
          </a:ln>
        </p:spPr>
      </p:pic>
    </p:spTree>
    <p:extLst>
      <p:ext uri="{BB962C8B-B14F-4D97-AF65-F5344CB8AC3E}">
        <p14:creationId xmlns:p14="http://schemas.microsoft.com/office/powerpoint/2010/main" val="2711098501"/>
      </p:ext>
    </p:extLst>
  </p:cSld>
  <p:clrMapOvr>
    <a:masterClrMapping/>
  </p:clrMapOvr>
  <p:transition>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DESeq2</a:t>
            </a:r>
            <a:endParaRPr lang="en-GB" dirty="0"/>
          </a:p>
        </p:txBody>
      </p:sp>
      <p:sp>
        <p:nvSpPr>
          <p:cNvPr id="3" name="内容占位符 2"/>
          <p:cNvSpPr>
            <a:spLocks noGrp="1"/>
          </p:cNvSpPr>
          <p:nvPr>
            <p:ph idx="1"/>
          </p:nvPr>
        </p:nvSpPr>
        <p:spPr>
          <a:xfrm>
            <a:off x="250825" y="844154"/>
            <a:ext cx="8642350" cy="3959751"/>
          </a:xfrm>
        </p:spPr>
        <p:txBody>
          <a:bodyPr/>
          <a:lstStyle/>
          <a:p>
            <a:pPr marL="0" indent="0">
              <a:lnSpc>
                <a:spcPct val="100000"/>
              </a:lnSpc>
              <a:spcBef>
                <a:spcPts val="0"/>
              </a:spcBef>
              <a:buNone/>
            </a:pPr>
            <a:r>
              <a:rPr lang="en-GB" sz="2400" dirty="0"/>
              <a:t>#1.</a:t>
            </a:r>
            <a:r>
              <a:rPr lang="zh-CN" altLang="en-US" sz="2400" dirty="0"/>
              <a:t>构建数据（表达数据，样本分组信息，模型）</a:t>
            </a:r>
            <a:endParaRPr lang="en-GB" sz="2400" dirty="0"/>
          </a:p>
          <a:p>
            <a:pPr marL="0" indent="0">
              <a:lnSpc>
                <a:spcPct val="100000"/>
              </a:lnSpc>
              <a:spcBef>
                <a:spcPts val="0"/>
              </a:spcBef>
              <a:buNone/>
            </a:pPr>
            <a:r>
              <a:rPr lang="en-GB" sz="2400" dirty="0" err="1"/>
              <a:t>DESeqDataSetFromMatrix</a:t>
            </a:r>
            <a:r>
              <a:rPr lang="en-GB" sz="2400" dirty="0"/>
              <a:t>(</a:t>
            </a:r>
            <a:r>
              <a:rPr lang="en-GB" sz="2400" dirty="0" err="1"/>
              <a:t>countData</a:t>
            </a:r>
            <a:r>
              <a:rPr lang="en-GB" sz="2400" dirty="0"/>
              <a:t> =  ,</a:t>
            </a:r>
          </a:p>
          <a:p>
            <a:pPr marL="0" indent="0">
              <a:lnSpc>
                <a:spcPct val="100000"/>
              </a:lnSpc>
              <a:spcBef>
                <a:spcPts val="0"/>
              </a:spcBef>
              <a:buNone/>
            </a:pPr>
            <a:r>
              <a:rPr lang="en-GB" sz="2400" dirty="0"/>
              <a:t>                                             </a:t>
            </a:r>
            <a:r>
              <a:rPr lang="en-GB" sz="2400" dirty="0" err="1"/>
              <a:t>colData</a:t>
            </a:r>
            <a:r>
              <a:rPr lang="en-GB" sz="2400" dirty="0"/>
              <a:t> =    , </a:t>
            </a:r>
          </a:p>
          <a:p>
            <a:pPr marL="0" indent="0">
              <a:lnSpc>
                <a:spcPct val="100000"/>
              </a:lnSpc>
              <a:spcBef>
                <a:spcPts val="0"/>
              </a:spcBef>
              <a:buNone/>
            </a:pPr>
            <a:r>
              <a:rPr lang="en-GB" sz="2400" dirty="0"/>
              <a:t>                                             design =        )</a:t>
            </a:r>
          </a:p>
          <a:p>
            <a:pPr marL="0" indent="0">
              <a:lnSpc>
                <a:spcPct val="100000"/>
              </a:lnSpc>
              <a:spcBef>
                <a:spcPts val="0"/>
              </a:spcBef>
              <a:buNone/>
            </a:pPr>
            <a:r>
              <a:rPr lang="en-US" sz="2400" dirty="0"/>
              <a:t>#2. DEseq2</a:t>
            </a:r>
            <a:r>
              <a:rPr lang="zh-CN" altLang="en-US" sz="2400" dirty="0"/>
              <a:t>差异分析</a:t>
            </a:r>
            <a:endParaRPr lang="en-US" sz="2400" dirty="0"/>
          </a:p>
          <a:p>
            <a:pPr marL="0" indent="0">
              <a:lnSpc>
                <a:spcPct val="100000"/>
              </a:lnSpc>
              <a:spcBef>
                <a:spcPts val="0"/>
              </a:spcBef>
              <a:buNone/>
            </a:pPr>
            <a:r>
              <a:rPr lang="en-US" altLang="zh-CN" sz="2400" dirty="0"/>
              <a:t>dds2 &lt;- </a:t>
            </a:r>
            <a:r>
              <a:rPr lang="en-GB" sz="2400" dirty="0" err="1"/>
              <a:t>DESeq</a:t>
            </a:r>
            <a:r>
              <a:rPr lang="en-US" sz="2400" dirty="0"/>
              <a:t>(</a:t>
            </a:r>
            <a:r>
              <a:rPr lang="en-US" sz="2400" dirty="0" err="1"/>
              <a:t>dds</a:t>
            </a:r>
            <a:r>
              <a:rPr lang="en-US" sz="2400" dirty="0"/>
              <a:t>)</a:t>
            </a:r>
          </a:p>
          <a:p>
            <a:pPr marL="0" indent="0">
              <a:lnSpc>
                <a:spcPct val="100000"/>
              </a:lnSpc>
              <a:spcBef>
                <a:spcPts val="0"/>
              </a:spcBef>
              <a:buNone/>
            </a:pPr>
            <a:r>
              <a:rPr lang="en-US" sz="2400" dirty="0"/>
              <a:t>#3.</a:t>
            </a:r>
            <a:r>
              <a:rPr lang="zh-CN" altLang="en-US" sz="2400" dirty="0"/>
              <a:t>提取结果</a:t>
            </a:r>
            <a:endParaRPr lang="en-US" altLang="zh-CN" sz="2400" dirty="0"/>
          </a:p>
          <a:p>
            <a:pPr marL="0" indent="0">
              <a:lnSpc>
                <a:spcPct val="100000"/>
              </a:lnSpc>
              <a:spcBef>
                <a:spcPts val="0"/>
              </a:spcBef>
              <a:buNone/>
            </a:pPr>
            <a:r>
              <a:rPr lang="en-GB" sz="2400" dirty="0"/>
              <a:t>res &lt;- results(dds2)</a:t>
            </a:r>
          </a:p>
          <a:p>
            <a:pPr marL="0" indent="0">
              <a:lnSpc>
                <a:spcPct val="100000"/>
              </a:lnSpc>
              <a:spcBef>
                <a:spcPts val="0"/>
              </a:spcBef>
              <a:buNone/>
            </a:pPr>
            <a:endParaRPr lang="en-GB" sz="2400" dirty="0"/>
          </a:p>
        </p:txBody>
      </p:sp>
    </p:spTree>
    <p:extLst>
      <p:ext uri="{BB962C8B-B14F-4D97-AF65-F5344CB8AC3E}">
        <p14:creationId xmlns:p14="http://schemas.microsoft.com/office/powerpoint/2010/main" val="886365658"/>
      </p:ext>
    </p:extLst>
  </p:cSld>
  <p:clrMapOvr>
    <a:masterClrMapping/>
  </p:clrMapOvr>
  <p:transition>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GB"/>
          </a:p>
        </p:txBody>
      </p:sp>
      <p:sp>
        <p:nvSpPr>
          <p:cNvPr id="4" name="TextBox 3"/>
          <p:cNvSpPr txBox="1"/>
          <p:nvPr/>
        </p:nvSpPr>
        <p:spPr>
          <a:xfrm>
            <a:off x="3275910" y="2051368"/>
            <a:ext cx="2561214" cy="707886"/>
          </a:xfrm>
          <a:prstGeom prst="rect">
            <a:avLst/>
          </a:prstGeom>
          <a:noFill/>
        </p:spPr>
        <p:txBody>
          <a:bodyPr wrap="none" rtlCol="0">
            <a:spAutoFit/>
          </a:bodyPr>
          <a:lstStyle/>
          <a:p>
            <a:r>
              <a:rPr lang="en-US" sz="4000" b="1" dirty="0">
                <a:solidFill>
                  <a:srgbClr val="FF0000"/>
                </a:solidFill>
              </a:rPr>
              <a:t>T</a:t>
            </a:r>
            <a:r>
              <a:rPr lang="en-US" altLang="zh-CN" sz="4000" b="1" dirty="0">
                <a:solidFill>
                  <a:srgbClr val="FF0000"/>
                </a:solidFill>
              </a:rPr>
              <a:t>hank you!</a:t>
            </a:r>
            <a:endParaRPr lang="en-GB" sz="4000" b="1" dirty="0">
              <a:solidFill>
                <a:srgbClr val="FF0000"/>
              </a:solidFill>
            </a:endParaRPr>
          </a:p>
        </p:txBody>
      </p:sp>
    </p:spTree>
    <p:extLst>
      <p:ext uri="{BB962C8B-B14F-4D97-AF65-F5344CB8AC3E}">
        <p14:creationId xmlns:p14="http://schemas.microsoft.com/office/powerpoint/2010/main" val="384919942"/>
      </p:ext>
    </p:extLst>
  </p:cSld>
  <p:clrMapOvr>
    <a:masterClrMapping/>
  </p:clrMapOvr>
  <p:transition>
    <p:wipe/>
  </p:transition>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1_1"/>
  <p:tag name="KSO_WM_UNIT_ID" val="diagram160108_4*m_i*1_1"/>
  <p:tag name="KSO_WM_TEMPLATE_CATEGORY" val="diagram"/>
  <p:tag name="KSO_WM_TEMPLATE_INDEX" val="160108"/>
  <p:tag name="KSO_WM_UNIT_LAYERLEVEL" val="1_1"/>
  <p:tag name="KSO_WM_TAG_VERSION" val="1.0"/>
  <p:tag name="KSO_WM_BEAUTIFY_FLAG" val="#wm#"/>
  <p:tag name="KSO_WM_UNIT_LINE_FORE_SCHEMECOLOR_INDEX" val="14"/>
  <p:tag name="KSO_WM_UNIT_LINE_FILL_TYPE" val="2"/>
  <p:tag name="KSO_WM_UNIT_TEXT_FILL_FORE_SCHEMECOLOR_INDEX" val="2"/>
  <p:tag name="KSO_WM_UNIT_TEXT_FILL_TYPE" val="1"/>
  <p:tag name="KSO_WM_UNIT_USESOURCEFORMAT_APPLY"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160108_4*m_h_i*1_1_2"/>
  <p:tag name="KSO_WM_TEMPLATE_CATEGORY" val="diagram"/>
  <p:tag name="KSO_WM_TEMPLATE_INDEX" val="160108"/>
  <p:tag name="KSO_WM_UNIT_LAYERLEVEL" val="1_1_1"/>
  <p:tag name="KSO_WM_TAG_VERSION" val="1.0"/>
  <p:tag name="KSO_WM_BEAUTIFY_FLAG" val="#wm#"/>
  <p:tag name="KSO_WM_UNIT_FILL_FORE_SCHEMECOLOR_INDEX" val="14"/>
  <p:tag name="KSO_WM_UNIT_FILL_TYPE" val="1"/>
  <p:tag name="KSO_WM_UNIT_LINE_FORE_SCHEMECOLOR_INDEX" val="14"/>
  <p:tag name="KSO_WM_UNIT_LINE_FILL_TYPE" val="2"/>
  <p:tag name="KSO_WM_UNIT_USESOURCEFORMAT_APPLY"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160108_4*m_h_i*1_1_1"/>
  <p:tag name="KSO_WM_TEMPLATE_CATEGORY" val="diagram"/>
  <p:tag name="KSO_WM_TEMPLATE_INDEX" val="160108"/>
  <p:tag name="KSO_WM_UNIT_LAYERLEVEL" val="1_1_1"/>
  <p:tag name="KSO_WM_TAG_VERSION" val="1.0"/>
  <p:tag name="KSO_WM_BEAUTIFY_FLAG" val="#wm#"/>
  <p:tag name="KSO_WM_UNIT_FILL_FORE_SCHEMECOLOR_INDEX" val="5"/>
  <p:tag name="KSO_WM_UNIT_FILL_TYPE" val="1"/>
  <p:tag name="KSO_WM_UNIT_USESOURCEFORMAT_APPLY" val="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160108_4*m_h_i*1_2_2"/>
  <p:tag name="KSO_WM_TEMPLATE_CATEGORY" val="diagram"/>
  <p:tag name="KSO_WM_TEMPLATE_INDEX" val="160108"/>
  <p:tag name="KSO_WM_UNIT_LAYERLEVEL" val="1_1_1"/>
  <p:tag name="KSO_WM_TAG_VERSION" val="1.0"/>
  <p:tag name="KSO_WM_BEAUTIFY_FLAG" val="#wm#"/>
  <p:tag name="KSO_WM_UNIT_FILL_FORE_SCHEMECOLOR_INDEX" val="14"/>
  <p:tag name="KSO_WM_UNIT_FILL_TYPE" val="1"/>
  <p:tag name="KSO_WM_UNIT_LINE_FORE_SCHEMECOLOR_INDEX" val="14"/>
  <p:tag name="KSO_WM_UNIT_LINE_FILL_TYPE" val="2"/>
  <p:tag name="KSO_WM_UNIT_USESOURCEFORMAT_APPLY"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160108_4*m_h_i*1_2_1"/>
  <p:tag name="KSO_WM_TEMPLATE_CATEGORY" val="diagram"/>
  <p:tag name="KSO_WM_TEMPLATE_INDEX" val="160108"/>
  <p:tag name="KSO_WM_UNIT_LAYERLEVEL" val="1_1_1"/>
  <p:tag name="KSO_WM_TAG_VERSION" val="1.0"/>
  <p:tag name="KSO_WM_BEAUTIFY_FLAG" val="#wm#"/>
  <p:tag name="KSO_WM_UNIT_FILL_FORE_SCHEMECOLOR_INDEX" val="6"/>
  <p:tag name="KSO_WM_UNIT_FILL_TYPE" val="1"/>
  <p:tag name="KSO_WM_UNIT_USESOURCEFORMAT_APPLY" val="1"/>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160108_4*m_h_i*1_3_2"/>
  <p:tag name="KSO_WM_TEMPLATE_CATEGORY" val="diagram"/>
  <p:tag name="KSO_WM_TEMPLATE_INDEX" val="160108"/>
  <p:tag name="KSO_WM_UNIT_LAYERLEVEL" val="1_1_1"/>
  <p:tag name="KSO_WM_TAG_VERSION" val="1.0"/>
  <p:tag name="KSO_WM_BEAUTIFY_FLAG" val="#wm#"/>
  <p:tag name="KSO_WM_UNIT_FILL_FORE_SCHEMECOLOR_INDEX" val="14"/>
  <p:tag name="KSO_WM_UNIT_FILL_TYPE" val="1"/>
  <p:tag name="KSO_WM_UNIT_LINE_FORE_SCHEMECOLOR_INDEX" val="14"/>
  <p:tag name="KSO_WM_UNIT_LINE_FILL_TYPE" val="2"/>
  <p:tag name="KSO_WM_UNIT_USESOURCEFORMAT_APPLY"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160108_4*m_h_i*1_3_3"/>
  <p:tag name="KSO_WM_TEMPLATE_CATEGORY" val="diagram"/>
  <p:tag name="KSO_WM_TEMPLATE_INDEX" val="160108"/>
  <p:tag name="KSO_WM_UNIT_LAYERLEVEL" val="1_1_1"/>
  <p:tag name="KSO_WM_TAG_VERSION" val="1.0"/>
  <p:tag name="KSO_WM_BEAUTIFY_FLAG" val="#wm#"/>
  <p:tag name="KSO_WM_UNIT_FILL_FORE_SCHEMECOLOR_INDEX" val="7"/>
  <p:tag name="KSO_WM_UNIT_FILL_TYPE" val="1"/>
  <p:tag name="KSO_WM_UNIT_USESOURCEFORMAT_APPLY"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2"/>
  <p:tag name="KSO_WM_UNIT_ID" val="diagram160108_4*m_h_i*1_4_2"/>
  <p:tag name="KSO_WM_TEMPLATE_CATEGORY" val="diagram"/>
  <p:tag name="KSO_WM_TEMPLATE_INDEX" val="160108"/>
  <p:tag name="KSO_WM_UNIT_LAYERLEVEL" val="1_1_1"/>
  <p:tag name="KSO_WM_TAG_VERSION" val="1.0"/>
  <p:tag name="KSO_WM_BEAUTIFY_FLAG" val="#wm#"/>
  <p:tag name="KSO_WM_UNIT_FILL_FORE_SCHEMECOLOR_INDEX" val="14"/>
  <p:tag name="KSO_WM_UNIT_FILL_TYPE" val="1"/>
  <p:tag name="KSO_WM_UNIT_LINE_FORE_SCHEMECOLOR_INDEX" val="14"/>
  <p:tag name="KSO_WM_UNIT_LINE_FILL_TYPE" val="2"/>
  <p:tag name="KSO_WM_UNIT_USESOURCEFORMAT_APPLY"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1"/>
  <p:tag name="KSO_WM_UNIT_ID" val="diagram160108_4*m_h_i*1_4_1"/>
  <p:tag name="KSO_WM_TEMPLATE_CATEGORY" val="diagram"/>
  <p:tag name="KSO_WM_TEMPLATE_INDEX" val="160108"/>
  <p:tag name="KSO_WM_UNIT_LAYERLEVEL" val="1_1_1"/>
  <p:tag name="KSO_WM_TAG_VERSION" val="1.0"/>
  <p:tag name="KSO_WM_BEAUTIFY_FLAG" val="#wm#"/>
  <p:tag name="KSO_WM_UNIT_FILL_FORE_SCHEMECOLOR_INDEX" val="8"/>
  <p:tag name="KSO_WM_UNIT_FILL_TYPE" val="1"/>
  <p:tag name="KSO_WM_UNIT_USESOURCEFORMAT_APPLY"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5_2"/>
  <p:tag name="KSO_WM_UNIT_ID" val="diagram160108_4*m_h_i*1_5_2"/>
  <p:tag name="KSO_WM_TEMPLATE_CATEGORY" val="diagram"/>
  <p:tag name="KSO_WM_TEMPLATE_INDEX" val="160108"/>
  <p:tag name="KSO_WM_UNIT_LAYERLEVEL" val="1_1_1"/>
  <p:tag name="KSO_WM_TAG_VERSION" val="1.0"/>
  <p:tag name="KSO_WM_BEAUTIFY_FLAG" val="#wm#"/>
  <p:tag name="KSO_WM_UNIT_FILL_FORE_SCHEMECOLOR_INDEX" val="14"/>
  <p:tag name="KSO_WM_UNIT_FILL_TYPE" val="1"/>
  <p:tag name="KSO_WM_UNIT_LINE_FORE_SCHEMECOLOR_INDEX" val="14"/>
  <p:tag name="KSO_WM_UNIT_LINE_FILL_TYPE" val="2"/>
  <p:tag name="KSO_WM_UNIT_USESOURCEFORMAT_APPLY"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5_1"/>
  <p:tag name="KSO_WM_UNIT_ID" val="diagram160108_4*m_h_i*1_5_1"/>
  <p:tag name="KSO_WM_TEMPLATE_CATEGORY" val="diagram"/>
  <p:tag name="KSO_WM_TEMPLATE_INDEX" val="160108"/>
  <p:tag name="KSO_WM_UNIT_LAYERLEVEL" val="1_1_1"/>
  <p:tag name="KSO_WM_TAG_VERSION" val="1.0"/>
  <p:tag name="KSO_WM_BEAUTIFY_FLAG" val="#wm#"/>
  <p:tag name="KSO_WM_UNIT_FILL_FORE_SCHEMECOLOR_INDEX" val="9"/>
  <p:tag name="KSO_WM_UNIT_FILL_TYPE" val="1"/>
  <p:tag name="KSO_WM_UNIT_USESOURCEFORMAT_APPLY" val="1"/>
</p:tagLst>
</file>

<file path=ppt/tags/tag12.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BIND_DECORATION_IDS" val="diagram160108_4*m_i*1_2;diagram160108_4*m_i*1_3"/>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160108_4*m_h_i*1_1_3"/>
  <p:tag name="KSO_WM_TEMPLATE_CATEGORY" val="diagram"/>
  <p:tag name="KSO_WM_TEMPLATE_INDEX" val="160108"/>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ags/tag1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18"/>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160108_4*m_h_f*1_1_1"/>
  <p:tag name="KSO_WM_TEMPLATE_CATEGORY" val="diagram"/>
  <p:tag name="KSO_WM_TEMPLATE_INDEX" val="160108"/>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 name="KSO_WM_UNIT_USESOURCEFORMAT_APPLY" val="1"/>
</p:tagLst>
</file>

<file path=ppt/tags/tag1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7"/>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160108_4*m_h_a*1_1_1"/>
  <p:tag name="KSO_WM_TEMPLATE_CATEGORY" val="diagram"/>
  <p:tag name="KSO_WM_TEMPLATE_INDEX" val="160108"/>
  <p:tag name="KSO_WM_UNIT_LAYERLEVEL" val="1_1_1"/>
  <p:tag name="KSO_WM_TAG_VERSION" val="1.0"/>
  <p:tag name="KSO_WM_BEAUTIFY_FLAG" val="#wm#"/>
  <p:tag name="KSO_WM_UNIT_PRESET_TEXT" val="添加标题"/>
  <p:tag name="KSO_WM_UNIT_TEXT_FILL_FORE_SCHEMECOLOR_INDEX" val="14"/>
  <p:tag name="KSO_WM_UNIT_TEXT_FILL_TYPE" val="1"/>
  <p:tag name="KSO_WM_UNIT_USESOURCEFORMAT_APPLY" val="1"/>
</p:tagLst>
</file>

<file path=ppt/tags/tag15.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BIND_DECORATION_IDS" val="diagram160108_4*m_i*1_6;diagram160108_4*m_i*1_7"/>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160108_4*m_h_i*1_3_1"/>
  <p:tag name="KSO_WM_TEMPLATE_CATEGORY" val="diagram"/>
  <p:tag name="KSO_WM_TEMPLATE_INDEX" val="160108"/>
  <p:tag name="KSO_WM_UNIT_LAYERLEVEL" val="1_1_1"/>
  <p:tag name="KSO_WM_TAG_VERSION" val="1.0"/>
  <p:tag name="KSO_WM_BEAUTIFY_FLAG" val="#wm#"/>
  <p:tag name="KSO_WM_UNIT_FILL_FORE_SCHEMECOLOR_INDEX" val="7"/>
  <p:tag name="KSO_WM_UNIT_FILL_TYPE" val="1"/>
  <p:tag name="KSO_WM_UNIT_TEXT_FILL_FORE_SCHEMECOLOR_INDEX" val="14"/>
  <p:tag name="KSO_WM_UNIT_TEXT_FILL_TYPE" val="1"/>
  <p:tag name="KSO_WM_UNIT_USESOURCEFORMAT_APPLY" val="1"/>
</p:tagLst>
</file>

<file path=ppt/tags/tag1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7"/>
  <p:tag name="KSO_WM_UNIT_HIGHLIGHT" val="0"/>
  <p:tag name="KSO_WM_UNIT_COMPATIBLE" val="0"/>
  <p:tag name="KSO_WM_UNIT_DIAGRAM_ISNUMVISUAL" val="0"/>
  <p:tag name="KSO_WM_UNIT_DIAGRAM_ISREFERUNIT" val="0"/>
  <p:tag name="KSO_WM_DIAGRAM_GROUP_CODE" val="m1-1"/>
  <p:tag name="KSO_WM_UNIT_TYPE" val="m_h_a"/>
  <p:tag name="KSO_WM_UNIT_INDEX" val="1_3_1"/>
  <p:tag name="KSO_WM_UNIT_ID" val="diagram160108_4*m_h_a*1_3_1"/>
  <p:tag name="KSO_WM_TEMPLATE_CATEGORY" val="diagram"/>
  <p:tag name="KSO_WM_TEMPLATE_INDEX" val="160108"/>
  <p:tag name="KSO_WM_UNIT_LAYERLEVEL" val="1_1_1"/>
  <p:tag name="KSO_WM_TAG_VERSION" val="1.0"/>
  <p:tag name="KSO_WM_BEAUTIFY_FLAG" val="#wm#"/>
  <p:tag name="KSO_WM_UNIT_PRESET_TEXT" val="添加标题"/>
  <p:tag name="KSO_WM_UNIT_TEXT_FILL_FORE_SCHEMECOLOR_INDEX" val="14"/>
  <p:tag name="KSO_WM_UNIT_TEXT_FILL_TYPE" val="1"/>
  <p:tag name="KSO_WM_UNIT_USESOURCEFORMAT_APPLY" val="1"/>
</p:tagLst>
</file>

<file path=ppt/tags/tag1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18"/>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160108_4*m_h_f*1_3_1"/>
  <p:tag name="KSO_WM_TEMPLATE_CATEGORY" val="diagram"/>
  <p:tag name="KSO_WM_TEMPLATE_INDEX" val="160108"/>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 name="KSO_WM_UNIT_USESOURCEFORMAT_APPLY" val="1"/>
</p:tagLst>
</file>

<file path=ppt/tags/tag18.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BIND_DECORATION_IDS" val="diagram160108_4*m_i*1_10;diagram160108_4*m_i*1_11"/>
  <p:tag name="KSO_WM_UNIT_HIGHLIGHT" val="0"/>
  <p:tag name="KSO_WM_UNIT_COMPATIBLE" val="0"/>
  <p:tag name="KSO_WM_UNIT_DIAGRAM_ISNUMVISUAL" val="0"/>
  <p:tag name="KSO_WM_UNIT_DIAGRAM_ISREFERUNIT" val="0"/>
  <p:tag name="KSO_WM_DIAGRAM_GROUP_CODE" val="m1-1"/>
  <p:tag name="KSO_WM_UNIT_TYPE" val="m_h_i"/>
  <p:tag name="KSO_WM_UNIT_INDEX" val="1_5_3"/>
  <p:tag name="KSO_WM_UNIT_ID" val="diagram160108_4*m_h_i*1_5_3"/>
  <p:tag name="KSO_WM_TEMPLATE_CATEGORY" val="diagram"/>
  <p:tag name="KSO_WM_TEMPLATE_INDEX" val="160108"/>
  <p:tag name="KSO_WM_UNIT_LAYERLEVEL" val="1_1_1"/>
  <p:tag name="KSO_WM_TAG_VERSION" val="1.0"/>
  <p:tag name="KSO_WM_BEAUTIFY_FLAG" val="#wm#"/>
  <p:tag name="KSO_WM_UNIT_FILL_FORE_SCHEMECOLOR_INDEX" val="9"/>
  <p:tag name="KSO_WM_UNIT_FILL_TYPE" val="1"/>
  <p:tag name="KSO_WM_UNIT_TEXT_FILL_FORE_SCHEMECOLOR_INDEX" val="14"/>
  <p:tag name="KSO_WM_UNIT_TEXT_FILL_TYPE" val="1"/>
  <p:tag name="KSO_WM_UNIT_USESOURCEFORMAT_APPLY" val="1"/>
</p:tagLst>
</file>

<file path=ppt/tags/tag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7"/>
  <p:tag name="KSO_WM_UNIT_HIGHLIGHT" val="0"/>
  <p:tag name="KSO_WM_UNIT_COMPATIBLE" val="0"/>
  <p:tag name="KSO_WM_UNIT_DIAGRAM_ISNUMVISUAL" val="0"/>
  <p:tag name="KSO_WM_UNIT_DIAGRAM_ISREFERUNIT" val="0"/>
  <p:tag name="KSO_WM_DIAGRAM_GROUP_CODE" val="m1-1"/>
  <p:tag name="KSO_WM_UNIT_TYPE" val="m_h_a"/>
  <p:tag name="KSO_WM_UNIT_INDEX" val="1_5_1"/>
  <p:tag name="KSO_WM_UNIT_ID" val="diagram160108_4*m_h_a*1_5_1"/>
  <p:tag name="KSO_WM_TEMPLATE_CATEGORY" val="diagram"/>
  <p:tag name="KSO_WM_TEMPLATE_INDEX" val="160108"/>
  <p:tag name="KSO_WM_UNIT_LAYERLEVEL" val="1_1_1"/>
  <p:tag name="KSO_WM_TAG_VERSION" val="1.0"/>
  <p:tag name="KSO_WM_BEAUTIFY_FLAG" val="#wm#"/>
  <p:tag name="KSO_WM_UNIT_PRESET_TEXT" val="添加标题"/>
  <p:tag name="KSO_WM_UNIT_TEXT_FILL_FORE_SCHEMECOLOR_INDEX" val="14"/>
  <p:tag name="KSO_WM_UNIT_TEXT_FILL_TYPE" val="1"/>
  <p:tag name="KSO_WM_UNIT_USESOURCEFORMAT_APPLY" val="1"/>
</p:tagLst>
</file>

<file path=ppt/tags/tag20.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18"/>
  <p:tag name="KSO_WM_UNIT_HIGHLIGHT" val="0"/>
  <p:tag name="KSO_WM_UNIT_COMPATIBLE" val="0"/>
  <p:tag name="KSO_WM_UNIT_DIAGRAM_ISNUMVISUAL" val="0"/>
  <p:tag name="KSO_WM_UNIT_DIAGRAM_ISREFERUNIT" val="0"/>
  <p:tag name="KSO_WM_DIAGRAM_GROUP_CODE" val="m1-1"/>
  <p:tag name="KSO_WM_UNIT_TYPE" val="m_h_f"/>
  <p:tag name="KSO_WM_UNIT_INDEX" val="1_5_1"/>
  <p:tag name="KSO_WM_UNIT_ID" val="diagram160108_4*m_h_f*1_5_1"/>
  <p:tag name="KSO_WM_TEMPLATE_CATEGORY" val="diagram"/>
  <p:tag name="KSO_WM_TEMPLATE_INDEX" val="160108"/>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 name="KSO_WM_UNIT_USESOURCEFORMAT_APPLY" val="1"/>
</p:tagLst>
</file>

<file path=ppt/tags/tag21.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BIND_DECORATION_IDS" val="diagram160108_4*m_i*1_4;diagram160108_4*m_i*1_5"/>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160108_4*m_h_i*1_2_3"/>
  <p:tag name="KSO_WM_TEMPLATE_CATEGORY" val="diagram"/>
  <p:tag name="KSO_WM_TEMPLATE_INDEX" val="160108"/>
  <p:tag name="KSO_WM_UNIT_LAYERLEVEL" val="1_1_1"/>
  <p:tag name="KSO_WM_TAG_VERSION" val="1.0"/>
  <p:tag name="KSO_WM_BEAUTIFY_FLAG" val="#wm#"/>
  <p:tag name="KSO_WM_UNIT_FILL_FORE_SCHEMECOLOR_INDEX" val="6"/>
  <p:tag name="KSO_WM_UNIT_FILL_TYPE" val="1"/>
  <p:tag name="KSO_WM_UNIT_TEXT_FILL_FORE_SCHEMECOLOR_INDEX" val="14"/>
  <p:tag name="KSO_WM_UNIT_TEXT_FILL_TYPE" val="1"/>
  <p:tag name="KSO_WM_UNIT_USESOURCEFORMAT_APPLY" val="1"/>
</p:tagLst>
</file>

<file path=ppt/tags/tag2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7"/>
  <p:tag name="KSO_WM_UNIT_HIGHLIGHT" val="0"/>
  <p:tag name="KSO_WM_UNIT_COMPATIBLE" val="0"/>
  <p:tag name="KSO_WM_UNIT_DIAGRAM_ISNUMVISUAL" val="0"/>
  <p:tag name="KSO_WM_UNIT_DIAGRAM_ISREFERUNIT" val="0"/>
  <p:tag name="KSO_WM_DIAGRAM_GROUP_CODE" val="m1-1"/>
  <p:tag name="KSO_WM_UNIT_TYPE" val="m_h_a"/>
  <p:tag name="KSO_WM_UNIT_INDEX" val="1_2_1"/>
  <p:tag name="KSO_WM_UNIT_ID" val="diagram160108_4*m_h_a*1_2_1"/>
  <p:tag name="KSO_WM_TEMPLATE_CATEGORY" val="diagram"/>
  <p:tag name="KSO_WM_TEMPLATE_INDEX" val="160108"/>
  <p:tag name="KSO_WM_UNIT_LAYERLEVEL" val="1_1_1"/>
  <p:tag name="KSO_WM_TAG_VERSION" val="1.0"/>
  <p:tag name="KSO_WM_BEAUTIFY_FLAG" val="#wm#"/>
  <p:tag name="KSO_WM_UNIT_PRESET_TEXT" val="添加标题"/>
  <p:tag name="KSO_WM_UNIT_TEXT_FILL_FORE_SCHEMECOLOR_INDEX" val="14"/>
  <p:tag name="KSO_WM_UNIT_TEXT_FILL_TYPE" val="1"/>
  <p:tag name="KSO_WM_UNIT_USESOURCEFORMAT_APPLY" val="1"/>
</p:tagLst>
</file>

<file path=ppt/tags/tag2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18"/>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160108_4*m_h_f*1_2_1"/>
  <p:tag name="KSO_WM_TEMPLATE_CATEGORY" val="diagram"/>
  <p:tag name="KSO_WM_TEMPLATE_INDEX" val="160108"/>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 name="KSO_WM_UNIT_USESOURCEFORMAT_APPLY" val="1"/>
</p:tagLst>
</file>

<file path=ppt/tags/tag24.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BIND_DECORATION_IDS" val="diagram160108_4*m_i*1_8;diagram160108_4*m_i*1_9"/>
  <p:tag name="KSO_WM_UNIT_HIGHLIGHT" val="0"/>
  <p:tag name="KSO_WM_UNIT_COMPATIBLE" val="0"/>
  <p:tag name="KSO_WM_UNIT_DIAGRAM_ISNUMVISUAL" val="0"/>
  <p:tag name="KSO_WM_UNIT_DIAGRAM_ISREFERUNIT" val="0"/>
  <p:tag name="KSO_WM_DIAGRAM_GROUP_CODE" val="m1-1"/>
  <p:tag name="KSO_WM_UNIT_TYPE" val="m_h_i"/>
  <p:tag name="KSO_WM_UNIT_INDEX" val="1_4_3"/>
  <p:tag name="KSO_WM_UNIT_ID" val="diagram160108_4*m_h_i*1_4_3"/>
  <p:tag name="KSO_WM_TEMPLATE_CATEGORY" val="diagram"/>
  <p:tag name="KSO_WM_TEMPLATE_INDEX" val="160108"/>
  <p:tag name="KSO_WM_UNIT_LAYERLEVEL" val="1_1_1"/>
  <p:tag name="KSO_WM_TAG_VERSION" val="1.0"/>
  <p:tag name="KSO_WM_BEAUTIFY_FLAG" val="#wm#"/>
  <p:tag name="KSO_WM_UNIT_FILL_FORE_SCHEMECOLOR_INDEX" val="8"/>
  <p:tag name="KSO_WM_UNIT_FILL_TYPE" val="1"/>
  <p:tag name="KSO_WM_UNIT_TEXT_FILL_FORE_SCHEMECOLOR_INDEX" val="14"/>
  <p:tag name="KSO_WM_UNIT_TEXT_FILL_TYPE" val="1"/>
  <p:tag name="KSO_WM_UNIT_USESOURCEFORMAT_APPLY" val="1"/>
</p:tagLst>
</file>

<file path=ppt/tags/tag2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7"/>
  <p:tag name="KSO_WM_UNIT_HIGHLIGHT" val="0"/>
  <p:tag name="KSO_WM_UNIT_COMPATIBLE" val="0"/>
  <p:tag name="KSO_WM_UNIT_DIAGRAM_ISNUMVISUAL" val="0"/>
  <p:tag name="KSO_WM_UNIT_DIAGRAM_ISREFERUNIT" val="0"/>
  <p:tag name="KSO_WM_DIAGRAM_GROUP_CODE" val="m1-1"/>
  <p:tag name="KSO_WM_UNIT_TYPE" val="m_h_a"/>
  <p:tag name="KSO_WM_UNIT_INDEX" val="1_4_1"/>
  <p:tag name="KSO_WM_UNIT_ID" val="diagram160108_4*m_h_a*1_4_1"/>
  <p:tag name="KSO_WM_TEMPLATE_CATEGORY" val="diagram"/>
  <p:tag name="KSO_WM_TEMPLATE_INDEX" val="160108"/>
  <p:tag name="KSO_WM_UNIT_LAYERLEVEL" val="1_1_1"/>
  <p:tag name="KSO_WM_TAG_VERSION" val="1.0"/>
  <p:tag name="KSO_WM_BEAUTIFY_FLAG" val="#wm#"/>
  <p:tag name="KSO_WM_UNIT_PRESET_TEXT" val="添加标题"/>
  <p:tag name="KSO_WM_UNIT_TEXT_FILL_FORE_SCHEMECOLOR_INDEX" val="14"/>
  <p:tag name="KSO_WM_UNIT_TEXT_FILL_TYPE" val="1"/>
  <p:tag name="KSO_WM_UNIT_USESOURCEFORMAT_APPLY" val="1"/>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18"/>
  <p:tag name="KSO_WM_UNIT_HIGHLIGHT" val="0"/>
  <p:tag name="KSO_WM_UNIT_COMPATIBLE" val="0"/>
  <p:tag name="KSO_WM_UNIT_DIAGRAM_ISNUMVISUAL" val="0"/>
  <p:tag name="KSO_WM_UNIT_DIAGRAM_ISREFERUNIT" val="0"/>
  <p:tag name="KSO_WM_DIAGRAM_GROUP_CODE" val="m1-1"/>
  <p:tag name="KSO_WM_UNIT_TYPE" val="m_h_f"/>
  <p:tag name="KSO_WM_UNIT_INDEX" val="1_4_1"/>
  <p:tag name="KSO_WM_UNIT_ID" val="diagram160108_4*m_h_f*1_4_1"/>
  <p:tag name="KSO_WM_TEMPLATE_CATEGORY" val="diagram"/>
  <p:tag name="KSO_WM_TEMPLATE_INDEX" val="160108"/>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 name="KSO_WM_UNIT_USESOURCEFORMAT_APPLY" val="1"/>
</p:tagLst>
</file>

<file path=ppt/tags/tag2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003,&quot;width&quot;:7648}"/>
</p:tagLst>
</file>

<file path=ppt/tags/tag2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065,&quot;width&quot;:4621}"/>
</p:tagLst>
</file>

<file path=ppt/tags/tag2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7798,&quot;width&quot;:8127}"/>
</p:tagLst>
</file>

<file path=ppt/theme/theme1.xml><?xml version="1.0" encoding="utf-8"?>
<a:theme xmlns:a="http://schemas.openxmlformats.org/drawingml/2006/main" name="默认设计模板_2">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华文新魏"/>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540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默认设计模板_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_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_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_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_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_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_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_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_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_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_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_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A000120140530A75PPBG</Template>
  <TotalTime>12624</TotalTime>
  <Words>1070</Words>
  <Application>Microsoft Office PowerPoint</Application>
  <PresentationFormat>全屏显示(16:9)</PresentationFormat>
  <Paragraphs>188</Paragraphs>
  <Slides>30</Slides>
  <Notes>7</Notes>
  <HiddenSlides>1</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30</vt:i4>
      </vt:variant>
    </vt:vector>
  </HeadingPairs>
  <TitlesOfParts>
    <vt:vector size="37" baseType="lpstr">
      <vt:lpstr>黑体</vt:lpstr>
      <vt:lpstr>楷体</vt:lpstr>
      <vt:lpstr>微软雅黑</vt:lpstr>
      <vt:lpstr>Arial</vt:lpstr>
      <vt:lpstr>Calibri</vt:lpstr>
      <vt:lpstr>Wingdings</vt:lpstr>
      <vt:lpstr>默认设计模板_2</vt:lpstr>
      <vt:lpstr>PowerPoint 演示文稿</vt:lpstr>
      <vt:lpstr>目录</vt:lpstr>
      <vt:lpstr>一、转录组简介</vt:lpstr>
      <vt:lpstr>SAGE</vt:lpstr>
      <vt:lpstr>Microarray</vt:lpstr>
      <vt:lpstr>RNAseq</vt:lpstr>
      <vt:lpstr>RNA-seq步骤</vt:lpstr>
      <vt:lpstr>PowerPoint 演示文稿</vt:lpstr>
      <vt:lpstr>PowerPoint 演示文稿</vt:lpstr>
      <vt:lpstr>PowerPoint 演示文稿</vt:lpstr>
      <vt:lpstr>PowerPoint 演示文稿</vt:lpstr>
      <vt:lpstr>PowerPoint 演示文稿</vt:lpstr>
      <vt:lpstr>RNA-seq pipeline</vt:lpstr>
      <vt:lpstr>RNA-seq pipeline</vt:lpstr>
      <vt:lpstr>PowerPoint 演示文稿</vt:lpstr>
      <vt:lpstr>目录</vt:lpstr>
      <vt:lpstr>Read Counts 影响因素</vt:lpstr>
      <vt:lpstr>Normalization</vt:lpstr>
      <vt:lpstr>Normalization</vt:lpstr>
      <vt:lpstr>Normalization</vt:lpstr>
      <vt:lpstr>Normalization</vt:lpstr>
      <vt:lpstr>目录</vt:lpstr>
      <vt:lpstr>三、Pipeline</vt:lpstr>
      <vt:lpstr>Gene Normalization &amp; Filtering</vt:lpstr>
      <vt:lpstr>Outlier Removal</vt:lpstr>
      <vt:lpstr>Covariate Correction</vt:lpstr>
      <vt:lpstr>差异分析</vt:lpstr>
      <vt:lpstr>DESeq2</vt:lpstr>
      <vt:lpstr>DESeq2</vt:lpstr>
      <vt:lpstr>PowerPoint 演示文稿</vt:lpstr>
    </vt:vector>
  </TitlesOfParts>
  <Company>Central South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WFMED</dc:creator>
  <cp:lastModifiedBy>kefu liu</cp:lastModifiedBy>
  <cp:revision>2063</cp:revision>
  <dcterms:created xsi:type="dcterms:W3CDTF">2014-09-26T13:48:00Z</dcterms:created>
  <dcterms:modified xsi:type="dcterms:W3CDTF">2025-05-05T15:54:44Z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